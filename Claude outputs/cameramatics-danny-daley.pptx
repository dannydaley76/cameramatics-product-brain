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is something every vendor has. Deciding which events deserve a person is the part nobody has 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reader stops here they still have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brain is core to how I work. I want them to actually go and look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dannydaley76/cameramatics-product-brain/blob/main/storymap/index.html" TargetMode="External"/><Relationship Id="rId4" Type="http://schemas.openxmlformats.org/officeDocument/2006/relationships/hyperlink" Target="https://github.com/dannydaley76/cameramatics-product-brain/blob/main/brain/decisions/ADR-0012-forward-facing-detection-and-all-signals.md" TargetMode="External"/><Relationship Id="rId6" Type="http://schemas.openxmlformats.org/officeDocument/2006/relationships/hyperlink" Target="https://github.com/dannydaley76/cameramatics-product-brain/blob/main/brain/decisions/ADR-0002-severity-gated-video-upload.md" TargetMode="External"/><Relationship Id="rId8" Type="http://schemas.openxmlformats.org/officeDocument/2006/relationships/hyperlink" Target="https://github.com/dannydaley76/cameramatics-product-brain/blob/main/brain/decisions/ADR-0007-severity-bands-and-actions.md" TargetMode="External"/><Relationship Id="rId10" Type="http://schemas.openxmlformats.org/officeDocument/2006/relationships/hyperlink" Target="https://github.com/dannydaley76/cameramatics-product-brain/blob/main/brain/decisions/ADR-0010-classification-is-orthogonal-to-severity.md" TargetMode="External"/><Relationship Id="rId12" Type="http://schemas.openxmlformats.org/officeDocument/2006/relationships/hyperlink" Target="https://github.com/dannydaley76/cameramatics-product-brain/blob/main/brain/requirements/US-001-weekly-review-set.md" TargetMode="External"/><Relationship Id="rId14" Type="http://schemas.openxmlformats.org/officeDocument/2006/relationships/hyperlink" Target="https://github.com/dannydaley76/cameramatics-product-brain/blob/main/brain/requirements/US-002-critical-events-bypass.md" TargetMode="External"/><Relationship Id="rId16" Type="http://schemas.openxmlformats.org/officeDocument/2006/relationships/hyperlink" Target="https://github.com/dannydaley76/cameramatics-product-brain/blob/main/brain/requirements/US-003-set-closes.md" TargetMode="External"/><Relationship Id="rId18" Type="http://schemas.openxmlformats.org/officeDocument/2006/relationships/hyperlink" Target="https://github.com/dannydaley76/cameramatics-product-brain/blob/main/brain/requirements/US-004-bulk-dismiss.md" TargetMode="External"/><Relationship Id="rId20" Type="http://schemas.openxmlformats.org/officeDocument/2006/relationships/hyperlink" Target="https://github.com/dannydaley76/cameramatics-product-brain/blob/main/brain/requirements/US-009-dismiss-with-reason.md" TargetMode="External"/><Relationship Id="rId22" Type="http://schemas.openxmlformats.org/officeDocument/2006/relationships/hyperlink" Target="https://github.com/dannydaley76/cameramatics-product-brain/blob/main/brain/requirements/US-005-watch-the-clip.md" TargetMode="External"/><Relationship Id="rId24" Type="http://schemas.openxmlformats.org/officeDocument/2006/relationships/hyperlink" Target="https://github.com/dannydaley76/cameramatics-product-brain/blob/main/brain/requirements/US-006-why-it-was-graded.md" TargetMode="External"/><Relationship Id="rId26" Type="http://schemas.openxmlformats.org/officeDocument/2006/relationships/hyperlink" Target="https://github.com/dannydaley76/cameramatics-product-brain/blob/main/brain/requirements/US-007-footage-states.md" TargetMode="External"/><Relationship Id="rId28" Type="http://schemas.openxmlformats.org/officeDocument/2006/relationships/hyperlink" Target="https://github.com/dannydaley76/cameramatics-product-brain/blob/main/brain/requirements/US-008-resolve-driver.md" TargetMode="External"/><Relationship Id="rId30" Type="http://schemas.openxmlformats.org/officeDocument/2006/relationships/hyperlink" Target="https://github.com/dannydaley76/cameramatics-product-brain/blob/main/brain/requirements/US-010-log-coaching.md" TargetMode="External"/><Relationship Id="rId32" Type="http://schemas.openxmlformats.org/officeDocument/2006/relationships/hyperlink" Target="https://github.com/dannydaley76/cameramatics-product-brain/blob/main/brain/requirements/US-011-driver-response.md" TargetMode="External"/><Relationship Id="rId34" Type="http://schemas.openxmlformats.org/officeDocument/2006/relationships/hyperlink" Target="https://github.com/dannydaley76/cameramatics-product-brain/blob/main/brain/requirements/US-012-confirm-recognition.md" TargetMode="External"/><Relationship Id="rId36" Type="http://schemas.openxmlformats.org/officeDocument/2006/relationships/hyperlink" Target="https://github.com/dannydaley76/cameramatics-product-brain/blob/main/brain/requirements/US-013-send-to-driver.md" TargetMode="External"/><Relationship Id="rId38" Type="http://schemas.openxmlformats.org/officeDocument/2006/relationships/hyperlink" Target="https://github.com/dannydaley76/cameramatics-product-brain/blob/main/brain/requirements/US-014-driver-record.md" TargetMode="External"/><Relationship Id="rId40" Type="http://schemas.openxmlformats.org/officeDocument/2006/relationships/hyperlink" Target="https://github.com/dannydaley76/cameramatics-product-brain/blob/main/brain/requirements/US-015-fleet-view.md" TargetMode="External"/><Relationship Id="rId42" Type="http://schemas.openxmlformats.org/officeDocument/2006/relationships/hyperlink" Target="https://github.com/dannydaley76/cameramatics-product-brain/blob/main/brain/decisions/ADR-0012-forward-facing-detection-and-all-signals.md" TargetMode="External"/><Relationship Id="rId44" Type="http://schemas.openxmlformats.org/officeDocument/2006/relationships/hyperlink" Target="https://github.com/dannydaley76/cameramatics-product-brain/blob/main/brain/decisions/ADR-0009-weekly-review-sets.md" TargetMode="External"/><Relationship Id="rId46" Type="http://schemas.openxmlformats.org/officeDocument/2006/relationships/hyperlink" Target="https://github.com/dannydaley76/cameramatics-product-brain/blob/main/brain/decisions/ADR-0013-downgrade-audit-practice-before-tooling.md" TargetMode="External"/><Relationship Id="rId48" Type="http://schemas.openxmlformats.org/officeDocument/2006/relationships/hyperlink" Target="https://github.com/dannydaley76/cameramatics-product-brain/blob/main/brain/decisions/ADR-0004-no-driver-surface-in-v1.md" TargetMode="External"/><Relationship Id="rId50" Type="http://schemas.openxmlformats.org/officeDocument/2006/relationships/hyperlink" Target="https://github.com/dannydaley76/cameramatics-product-brain/blob/main/brain/decisions/ADR-0006-primary-user-fleet-manager.md" TargetMode="External"/><Relationship Id="rId2" Type="http://schemas.openxmlformats.org/officeDocument/2006/relationships/image" Target="../media/image-7-1.png"/><Relationship Id="rId3" Type="http://schemas.openxmlformats.org/officeDocument/2006/relationships/image" Target="../media/image-7-2.png"/><Relationship Id="rId5" Type="http://schemas.openxmlformats.org/officeDocument/2006/relationships/image" Target="../media/image-7-2.png"/><Relationship Id="rId7" Type="http://schemas.openxmlformats.org/officeDocument/2006/relationships/image" Target="../media/image-7-2.png"/><Relationship Id="rId9" Type="http://schemas.openxmlformats.org/officeDocument/2006/relationships/image" Target="../media/image-7-2.png"/><Relationship Id="rId11" Type="http://schemas.openxmlformats.org/officeDocument/2006/relationships/image" Target="../media/image-7-2.png"/><Relationship Id="rId13" Type="http://schemas.openxmlformats.org/officeDocument/2006/relationships/image" Target="../media/image-7-2.png"/><Relationship Id="rId15" Type="http://schemas.openxmlformats.org/officeDocument/2006/relationships/image" Target="../media/image-7-2.png"/><Relationship Id="rId17" Type="http://schemas.openxmlformats.org/officeDocument/2006/relationships/image" Target="../media/image-7-2.png"/><Relationship Id="rId19" Type="http://schemas.openxmlformats.org/officeDocument/2006/relationships/image" Target="../media/image-7-2.png"/><Relationship Id="rId21" Type="http://schemas.openxmlformats.org/officeDocument/2006/relationships/image" Target="../media/image-7-2.png"/><Relationship Id="rId23" Type="http://schemas.openxmlformats.org/officeDocument/2006/relationships/image" Target="../media/image-7-2.png"/><Relationship Id="rId25" Type="http://schemas.openxmlformats.org/officeDocument/2006/relationships/image" Target="../media/image-7-2.png"/><Relationship Id="rId27" Type="http://schemas.openxmlformats.org/officeDocument/2006/relationships/image" Target="../media/image-7-2.png"/><Relationship Id="rId29" Type="http://schemas.openxmlformats.org/officeDocument/2006/relationships/image" Target="../media/image-7-2.png"/><Relationship Id="rId31" Type="http://schemas.openxmlformats.org/officeDocument/2006/relationships/image" Target="../media/image-7-2.png"/><Relationship Id="rId33" Type="http://schemas.openxmlformats.org/officeDocument/2006/relationships/image" Target="../media/image-7-2.png"/><Relationship Id="rId35" Type="http://schemas.openxmlformats.org/officeDocument/2006/relationships/image" Target="../media/image-7-2.png"/><Relationship Id="rId37" Type="http://schemas.openxmlformats.org/officeDocument/2006/relationships/image" Target="../media/image-7-2.png"/><Relationship Id="rId39" Type="http://schemas.openxmlformats.org/officeDocument/2006/relationships/image" Target="../media/image-7-2.png"/><Relationship Id="rId41" Type="http://schemas.openxmlformats.org/officeDocument/2006/relationships/image" Target="../media/image-7-2.png"/><Relationship Id="rId43" Type="http://schemas.openxmlformats.org/officeDocument/2006/relationships/image" Target="../media/image-7-2.png"/><Relationship Id="rId45" Type="http://schemas.openxmlformats.org/officeDocument/2006/relationships/image" Target="../media/image-7-2.png"/><Relationship Id="rId47" Type="http://schemas.openxmlformats.org/officeDocument/2006/relationships/image" Target="../media/image-7-2.png"/><Relationship Id="rId49" Type="http://schemas.openxmlformats.org/officeDocument/2006/relationships/image" Target="../media/image-7-2.png"/><Relationship Id="rId51" Type="http://schemas.openxmlformats.org/officeDocument/2006/relationships/slideLayout" Target="../slideLayouts/slideLayout1.xml"/><Relationship Id="rId5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dannydaley76/cameramatics-product-brain/blob/main/brain/requirements/US-010-log-coaching.md"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github.com/dannydaley76/cameramatics-product-brain" TargetMode="External"/><Relationship Id="rId2" Type="http://schemas.openxmlformats.org/officeDocument/2006/relationships/hyperlink" Target="https://github.com/dannydaley76/cameramatics-product-brain/blob/main/prototype/index.html" TargetMode="External"/><Relationship Id="rId3" Type="http://schemas.openxmlformats.org/officeDocument/2006/relationships/hyperlink" Target="https://github.com/dannydaley76/cameramatics-product-brain/blob/main/storymap/index.html" TargetMode="External"/><Relationship Id="rId4" Type="http://schemas.openxmlformats.org/officeDocument/2006/relationships/hyperlink" Target="https://github.com/dannydaley76/cameramatics-product-brain/blob/main/scripts/validate.py" TargetMode="External"/><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github.com/dannydaley76/cameramatics-product-brain/blob/main/brain/business-case.md" TargetMode="External"/><Relationship Id="rId2" Type="http://schemas.openxmlformats.org/officeDocument/2006/relationships/hyperlink" Target="https://github.com/dannydaley76/cameramatics-product-brain/blob/main/brain/stack-outline.md" TargetMode="External"/><Relationship Id="rId3" Type="http://schemas.openxmlformats.org/officeDocument/2006/relationships/hyperlink" Target="https://github.com/dannydaley76/cameramatics-product-brain/blob/main/brain/requirements/" TargetMode="External"/><Relationship Id="rId4" Type="http://schemas.openxmlformats.org/officeDocument/2006/relationships/hyperlink" Target="https://github.com/dannydaley76/cameramatics-product-brain/blob/main/brain/phasing.md" TargetMode="External"/><Relationship Id="rId5" Type="http://schemas.openxmlformats.org/officeDocument/2006/relationships/hyperlink" Target="https://github.com/dannydaley76/cameramatics-product-brain/blob/main/brain/risks-narrative.md" TargetMode="External"/><Relationship Id="rId6" Type="http://schemas.openxmlformats.org/officeDocument/2006/relationships/hyperlink" Target="https://github.com/dannydaley76/cameramatics-product-brain/blob/main/brain/judgement-log.md" TargetMode="External"/><Relationship Id="rId7" Type="http://schemas.openxmlformats.org/officeDocument/2006/relationships/hyperlink" Target="https://github.com/dannydaley76/cameramatics-product-brain" TargetMode="External"/><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32A"/>
        </a:solidFill>
      </p:bgPr>
    </p:bg>
    <p:spTree>
      <p:nvGrpSpPr>
        <p:cNvPr id="1" name=""/>
        <p:cNvGrpSpPr/>
        <p:nvPr/>
      </p:nvGrpSpPr>
      <p:grpSpPr>
        <a:xfrm>
          <a:off x="0" y="0"/>
          <a:ext cx="0" cy="0"/>
          <a:chOff x="0" y="0"/>
          <a:chExt cx="0" cy="0"/>
        </a:xfrm>
      </p:grpSpPr>
      <p:sp>
        <p:nvSpPr>
          <p:cNvPr id="2" name="Text 0"/>
          <p:cNvSpPr txBox="1"/>
          <p:nvPr/>
        </p:nvSpPr>
        <p:spPr>
          <a:xfrm>
            <a:off x="658368" y="1600200"/>
            <a:ext cx="7863840" cy="1920240"/>
          </a:xfrm>
          <a:prstGeom prst="rect">
            <a:avLst/>
          </a:prstGeom>
          <a:noFill/>
          <a:ln/>
        </p:spPr>
        <p:txBody>
          <a:bodyPr wrap="square" lIns="0" tIns="0" rIns="0" bIns="0" rtlCol="0" anchor="t"/>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Detection is solved.</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Attention is not.</a:t>
            </a:r>
            <a:endParaRPr lang="en-US" sz="4400" dirty="0"/>
          </a:p>
        </p:txBody>
      </p:sp>
      <p:sp>
        <p:nvSpPr>
          <p:cNvPr id="3" name="Text 1"/>
          <p:cNvSpPr txBox="1"/>
          <p:nvPr/>
        </p:nvSpPr>
        <p:spPr>
          <a:xfrm>
            <a:off x="658368" y="3703320"/>
            <a:ext cx="8046720" cy="365760"/>
          </a:xfrm>
          <a:prstGeom prst="rect">
            <a:avLst/>
          </a:prstGeom>
          <a:noFill/>
          <a:ln/>
        </p:spPr>
        <p:txBody>
          <a:bodyPr wrap="square" lIns="0" tIns="0" rIns="0" bIns="0" rtlCol="0" anchor="t"/>
          <a:lstStyle/>
          <a:p>
            <a:pPr indent="0" marL="0">
              <a:buNone/>
            </a:pPr>
            <a:r>
              <a:rPr lang="en-US" sz="1600" dirty="0">
                <a:solidFill>
                  <a:srgbClr val="C9CFD5"/>
                </a:solidFill>
                <a:latin typeface="Calibri" pitchFamily="34" charset="0"/>
                <a:ea typeface="Calibri" pitchFamily="34" charset="-122"/>
                <a:cs typeface="Calibri" pitchFamily="34" charset="-120"/>
              </a:rPr>
              <a:t>Event triage and coaching loop. A product design exercise for CameraMatics.</a:t>
            </a:r>
            <a:endParaRPr lang="en-US" sz="1600" dirty="0"/>
          </a:p>
        </p:txBody>
      </p:sp>
      <p:sp>
        <p:nvSpPr>
          <p:cNvPr id="4" name="Shape 2"/>
          <p:cNvSpPr/>
          <p:nvPr/>
        </p:nvSpPr>
        <p:spPr>
          <a:xfrm>
            <a:off x="658368" y="4315968"/>
            <a:ext cx="822960" cy="32004"/>
          </a:xfrm>
          <a:prstGeom prst="rect">
            <a:avLst/>
          </a:prstGeom>
          <a:solidFill>
            <a:srgbClr val="C8621E"/>
          </a:solidFill>
          <a:ln w="12700">
            <a:solidFill>
              <a:srgbClr val="333333"/>
            </a:solidFill>
            <a:prstDash val="solid"/>
          </a:ln>
        </p:spPr>
      </p:sp>
      <p:sp>
        <p:nvSpPr>
          <p:cNvPr id="5" name="Text 3"/>
          <p:cNvSpPr txBox="1"/>
          <p:nvPr/>
        </p:nvSpPr>
        <p:spPr>
          <a:xfrm>
            <a:off x="658368" y="4572000"/>
            <a:ext cx="5486400" cy="2743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Danny Daley</a:t>
            </a:r>
            <a:endParaRPr lang="en-US" sz="1500" dirty="0"/>
          </a:p>
        </p:txBody>
      </p:sp>
      <p:sp>
        <p:nvSpPr>
          <p:cNvPr id="6" name="Text 4"/>
          <p:cNvSpPr txBox="1"/>
          <p:nvPr/>
        </p:nvSpPr>
        <p:spPr>
          <a:xfrm>
            <a:off x="658368" y="4882896"/>
            <a:ext cx="5486400" cy="274320"/>
          </a:xfrm>
          <a:prstGeom prst="rect">
            <a:avLst/>
          </a:prstGeom>
          <a:noFill/>
          <a:ln/>
        </p:spPr>
        <p:txBody>
          <a:bodyPr wrap="square" lIns="0" tIns="0" rIns="0" bIns="0" rtlCol="0" anchor="t"/>
          <a:lstStyle/>
          <a:p>
            <a:pPr indent="0" marL="0">
              <a:buNone/>
            </a:pPr>
            <a:r>
              <a:rPr lang="en-US" sz="1300" dirty="0">
                <a:solidFill>
                  <a:srgbClr val="B6BEC6"/>
                </a:solidFill>
                <a:latin typeface="Calibri" pitchFamily="34" charset="0"/>
                <a:ea typeface="Calibri" pitchFamily="34" charset="-122"/>
                <a:cs typeface="Calibri" pitchFamily="34" charset="-120"/>
              </a:rPr>
              <a:t>September 2026</a:t>
            </a:r>
            <a:endParaRPr lang="en-US" sz="1300" dirty="0"/>
          </a:p>
        </p:txBody>
      </p:sp>
      <p:sp>
        <p:nvSpPr>
          <p:cNvPr id="7" name="Text 5"/>
          <p:cNvSpPr txBox="1"/>
          <p:nvPr/>
        </p:nvSpPr>
        <p:spPr>
          <a:xfrm>
            <a:off x="9052560" y="3703320"/>
            <a:ext cx="2487168" cy="1463040"/>
          </a:xfrm>
          <a:prstGeom prst="rect">
            <a:avLst/>
          </a:prstGeom>
          <a:noFill/>
          <a:ln/>
        </p:spPr>
        <p:txBody>
          <a:bodyPr wrap="square" lIns="0" tIns="0" rIns="0" bIns="0" rtlCol="0" anchor="t"/>
          <a:lstStyle/>
          <a:p>
            <a:pPr indent="0" marL="0">
              <a:lnSpc>
                <a:spcPts val="1600"/>
              </a:lnSpc>
              <a:buNone/>
            </a:pPr>
            <a:r>
              <a:rPr lang="en-US" sz="1100" dirty="0">
                <a:solidFill>
                  <a:srgbClr val="B6BEC6"/>
                </a:solidFill>
                <a:latin typeface="Calibri" pitchFamily="34" charset="0"/>
                <a:ea typeface="Calibri" pitchFamily="34" charset="-122"/>
                <a:cs typeface="Calibri" pitchFamily="34" charset="-120"/>
              </a:rPr>
              <a:t>Every number in here is either measured, with a named source, or written down as an assumption with a confidence rating and a way to check it. There is nothing in between.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THE ANSWER, UP FRONT</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A triage and coaching loop, not an event detector</a:t>
            </a:r>
            <a:endParaRPr lang="en-US" sz="3000" dirty="0"/>
          </a:p>
        </p:txBody>
      </p:sp>
      <p:sp>
        <p:nvSpPr>
          <p:cNvPr id="4" name="Shape 2"/>
          <p:cNvSpPr/>
          <p:nvPr/>
        </p:nvSpPr>
        <p:spPr>
          <a:xfrm>
            <a:off x="658368" y="1828800"/>
            <a:ext cx="3419856" cy="2706624"/>
          </a:xfrm>
          <a:prstGeom prst="rect">
            <a:avLst/>
          </a:prstGeom>
          <a:solidFill>
            <a:srgbClr val="F2F3F4"/>
          </a:solidFill>
          <a:ln w="9525">
            <a:solidFill>
              <a:srgbClr val="DDE0E3"/>
            </a:solidFill>
            <a:prstDash val="solid"/>
          </a:ln>
        </p:spPr>
      </p:sp>
      <p:sp>
        <p:nvSpPr>
          <p:cNvPr id="5" name="Text 3"/>
          <p:cNvSpPr txBox="1"/>
          <p:nvPr/>
        </p:nvSpPr>
        <p:spPr>
          <a:xfrm>
            <a:off x="896112" y="2066544"/>
            <a:ext cx="2944368" cy="603504"/>
          </a:xfrm>
          <a:prstGeom prst="rect">
            <a:avLst/>
          </a:prstGeom>
          <a:noFill/>
          <a:ln/>
        </p:spPr>
        <p:txBody>
          <a:bodyPr wrap="square" lIns="0" tIns="0" rIns="0" bIns="0" rtlCol="0" anchor="t"/>
          <a:lstStyle/>
          <a:p>
            <a:pPr indent="0" marL="0">
              <a:buNone/>
            </a:pPr>
            <a:r>
              <a:rPr lang="en-US" sz="1550" b="1" dirty="0">
                <a:solidFill>
                  <a:srgbClr val="2B3038"/>
                </a:solidFill>
                <a:latin typeface="Cambria" pitchFamily="34" charset="0"/>
                <a:ea typeface="Cambria" pitchFamily="34" charset="-122"/>
                <a:cs typeface="Cambria" pitchFamily="34" charset="-120"/>
              </a:rPr>
              <a:t>What it does</a:t>
            </a:r>
            <a:endParaRPr lang="en-US" sz="1550" dirty="0"/>
          </a:p>
        </p:txBody>
      </p:sp>
      <p:sp>
        <p:nvSpPr>
          <p:cNvPr id="6" name="Text 4"/>
          <p:cNvSpPr txBox="1"/>
          <p:nvPr/>
        </p:nvSpPr>
        <p:spPr>
          <a:xfrm>
            <a:off x="896112" y="2743200"/>
            <a:ext cx="2944368" cy="1700784"/>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Every event the device spots is graded into one of four bands, and each band has its own action. Separately, each event is labelled as risk, not the driver's fault, or something they got right. The portal shows a weekly set that starts full and can be emptied.</a:t>
            </a:r>
            <a:endParaRPr lang="en-US" sz="1250" dirty="0"/>
          </a:p>
        </p:txBody>
      </p:sp>
      <p:sp>
        <p:nvSpPr>
          <p:cNvPr id="7" name="Shape 5"/>
          <p:cNvSpPr/>
          <p:nvPr/>
        </p:nvSpPr>
        <p:spPr>
          <a:xfrm>
            <a:off x="4334256" y="1828800"/>
            <a:ext cx="3419856" cy="2706624"/>
          </a:xfrm>
          <a:prstGeom prst="rect">
            <a:avLst/>
          </a:prstGeom>
          <a:solidFill>
            <a:srgbClr val="F2F3F4"/>
          </a:solidFill>
          <a:ln w="9525">
            <a:solidFill>
              <a:srgbClr val="DDE0E3"/>
            </a:solidFill>
            <a:prstDash val="solid"/>
          </a:ln>
        </p:spPr>
      </p:sp>
      <p:sp>
        <p:nvSpPr>
          <p:cNvPr id="8" name="Text 6"/>
          <p:cNvSpPr txBox="1"/>
          <p:nvPr/>
        </p:nvSpPr>
        <p:spPr>
          <a:xfrm>
            <a:off x="4572000" y="2066544"/>
            <a:ext cx="2944368" cy="603504"/>
          </a:xfrm>
          <a:prstGeom prst="rect">
            <a:avLst/>
          </a:prstGeom>
          <a:noFill/>
          <a:ln/>
        </p:spPr>
        <p:txBody>
          <a:bodyPr wrap="square" lIns="0" tIns="0" rIns="0" bIns="0" rtlCol="0" anchor="t"/>
          <a:lstStyle/>
          <a:p>
            <a:pPr indent="0" marL="0">
              <a:buNone/>
            </a:pPr>
            <a:r>
              <a:rPr lang="en-US" sz="1550" b="1" dirty="0">
                <a:solidFill>
                  <a:srgbClr val="2B3038"/>
                </a:solidFill>
                <a:latin typeface="Cambria" pitchFamily="34" charset="0"/>
                <a:ea typeface="Cambria" pitchFamily="34" charset="-122"/>
                <a:cs typeface="Cambria" pitchFamily="34" charset="-120"/>
              </a:rPr>
              <a:t>Why this is the thing to build</a:t>
            </a:r>
            <a:endParaRPr lang="en-US" sz="1550" dirty="0"/>
          </a:p>
        </p:txBody>
      </p:sp>
      <p:sp>
        <p:nvSpPr>
          <p:cNvPr id="9" name="Text 7"/>
          <p:cNvSpPr txBox="1"/>
          <p:nvPr/>
        </p:nvSpPr>
        <p:spPr>
          <a:xfrm>
            <a:off x="4572000" y="2743200"/>
            <a:ext cx="2944368" cy="1700784"/>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A 100-vehicle fleet produces 50 to 450 events a day. Most are technically correct and practically irrelevant. The manager works through a handful, gets no signal that it mattered, and stops logging in. That is where I would expect a camera rollout to die, and it is the failure this is designed against.</a:t>
            </a:r>
            <a:endParaRPr lang="en-US" sz="1250" dirty="0"/>
          </a:p>
        </p:txBody>
      </p:sp>
      <p:sp>
        <p:nvSpPr>
          <p:cNvPr id="10" name="Shape 8"/>
          <p:cNvSpPr/>
          <p:nvPr/>
        </p:nvSpPr>
        <p:spPr>
          <a:xfrm>
            <a:off x="8010144" y="1828800"/>
            <a:ext cx="3419856" cy="2706624"/>
          </a:xfrm>
          <a:prstGeom prst="rect">
            <a:avLst/>
          </a:prstGeom>
          <a:solidFill>
            <a:srgbClr val="FAEFE7"/>
          </a:solidFill>
          <a:ln w="9525">
            <a:solidFill>
              <a:srgbClr val="FAEFE7"/>
            </a:solidFill>
            <a:prstDash val="solid"/>
          </a:ln>
        </p:spPr>
      </p:sp>
      <p:sp>
        <p:nvSpPr>
          <p:cNvPr id="11" name="Text 9"/>
          <p:cNvSpPr txBox="1"/>
          <p:nvPr/>
        </p:nvSpPr>
        <p:spPr>
          <a:xfrm>
            <a:off x="8247888" y="2066544"/>
            <a:ext cx="2944368" cy="603504"/>
          </a:xfrm>
          <a:prstGeom prst="rect">
            <a:avLst/>
          </a:prstGeom>
          <a:noFill/>
          <a:ln/>
        </p:spPr>
        <p:txBody>
          <a:bodyPr wrap="square" lIns="0" tIns="0" rIns="0" bIns="0" rtlCol="0" anchor="t"/>
          <a:lstStyle/>
          <a:p>
            <a:pPr indent="0" marL="0">
              <a:buNone/>
            </a:pPr>
            <a:r>
              <a:rPr lang="en-US" sz="1550" b="1" dirty="0">
                <a:solidFill>
                  <a:srgbClr val="C8621E"/>
                </a:solidFill>
                <a:latin typeface="Cambria" pitchFamily="34" charset="0"/>
                <a:ea typeface="Cambria" pitchFamily="34" charset="-122"/>
                <a:cs typeface="Cambria" pitchFamily="34" charset="-120"/>
              </a:rPr>
              <a:t>The line the design turns on</a:t>
            </a:r>
            <a:endParaRPr lang="en-US" sz="1550" dirty="0"/>
          </a:p>
        </p:txBody>
      </p:sp>
      <p:sp>
        <p:nvSpPr>
          <p:cNvPr id="12" name="Text 10"/>
          <p:cNvSpPr txBox="1"/>
          <p:nvPr/>
        </p:nvSpPr>
        <p:spPr>
          <a:xfrm>
            <a:off x="8247888" y="2743200"/>
            <a:ext cx="2944368" cy="1700784"/>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Praise the good, coach the bad. A system that only ever spots failure makes being invisible the best a driver can hope for. That is how a safety tool becomes the thing the cab resents.</a:t>
            </a:r>
            <a:endParaRPr lang="en-US" sz="1250" dirty="0"/>
          </a:p>
        </p:txBody>
      </p:sp>
      <p:sp>
        <p:nvSpPr>
          <p:cNvPr id="13" name="Text 11"/>
          <p:cNvSpPr txBox="1"/>
          <p:nvPr/>
        </p:nvSpPr>
        <p:spPr>
          <a:xfrm>
            <a:off x="658368" y="4882896"/>
            <a:ext cx="10881360" cy="731520"/>
          </a:xfrm>
          <a:prstGeom prst="rect">
            <a:avLst/>
          </a:prstGeom>
          <a:noFill/>
          <a:ln/>
        </p:spPr>
        <p:txBody>
          <a:bodyPr wrap="square" lIns="0" tIns="0" rIns="0" bIns="0" rtlCol="0" anchor="t"/>
          <a:lstStyle/>
          <a:p>
            <a:pPr indent="0" marL="0">
              <a:buNone/>
            </a:pPr>
            <a:r>
              <a:rPr lang="en-US" sz="3800" b="1" dirty="0">
                <a:solidFill>
                  <a:srgbClr val="C8621E"/>
                </a:solidFill>
                <a:latin typeface="Cambria" pitchFamily="34" charset="0"/>
                <a:ea typeface="Cambria" pitchFamily="34" charset="-122"/>
                <a:cs typeface="Cambria" pitchFamily="34" charset="-120"/>
              </a:rPr>
              <a:t>50 to 450</a:t>
            </a:r>
            <a:pPr indent="0" marL="0">
              <a:buNone/>
            </a:pPr>
            <a:r>
              <a:rPr lang="en-US" sz="1400" dirty="0">
                <a:solidFill>
                  <a:srgbClr val="5E666F"/>
                </a:solidFill>
                <a:latin typeface="Calibri" pitchFamily="34" charset="0"/>
                <a:ea typeface="Calibri" pitchFamily="34" charset="-122"/>
                <a:cs typeface="Calibri" pitchFamily="34" charset="-120"/>
              </a:rPr>
              <a:t>  events a day, one fleet, one manager, and no way to tell which six matter.</a:t>
            </a:r>
            <a:endParaRPr lang="en-US" sz="3800" dirty="0"/>
          </a:p>
        </p:txBody>
      </p:sp>
      <p:sp>
        <p:nvSpPr>
          <p:cNvPr id="14" name="Text 12"/>
          <p:cNvSpPr txBox="1"/>
          <p:nvPr/>
        </p:nvSpPr>
        <p:spPr>
          <a:xfrm>
            <a:off x="658368" y="5669280"/>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A range, not a single figure. It is assumption A-02, held at low confidence, and it is the one that would end this if it turned out to be wrong.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THE PROBLEM</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The firehose, and the six events</a:t>
            </a:r>
            <a:endParaRPr lang="en-US" sz="3000" dirty="0"/>
          </a:p>
        </p:txBody>
      </p:sp>
      <p:sp>
        <p:nvSpPr>
          <p:cNvPr id="4" name="Text 2"/>
          <p:cNvSpPr txBox="1"/>
          <p:nvPr/>
        </p:nvSpPr>
        <p:spPr>
          <a:xfrm>
            <a:off x="658368" y="1682496"/>
            <a:ext cx="6858000" cy="1005840"/>
          </a:xfrm>
          <a:prstGeom prst="rect">
            <a:avLst/>
          </a:prstGeom>
          <a:noFill/>
          <a:ln/>
        </p:spPr>
        <p:txBody>
          <a:bodyPr wrap="square" lIns="0" tIns="0" rIns="0" bIns="0" rtlCol="0" anchor="t"/>
          <a:lstStyle/>
          <a:p>
            <a:pPr indent="0" marL="0">
              <a:lnSpc>
                <a:spcPts val="1900"/>
              </a:lnSpc>
              <a:buNone/>
            </a:pPr>
            <a:r>
              <a:rPr lang="en-US" sz="1400" dirty="0">
                <a:solidFill>
                  <a:srgbClr val="5E666F"/>
                </a:solidFill>
                <a:latin typeface="Calibri" pitchFamily="34" charset="0"/>
                <a:ea typeface="Calibri" pitchFamily="34" charset="-122"/>
                <a:cs typeface="Calibri" pitchFamily="34" charset="-120"/>
              </a:rPr>
              <a:t>Detection is table stakes now, and getting cheaper. CameraMatics already spots fatigue, distraction, phone use, tailgating and vulnerable road users. What is missing is deciding which of those deserves a person, and proving the conversation changed anything.</a:t>
            </a:r>
            <a:endParaRPr lang="en-US" sz="1400" dirty="0"/>
          </a:p>
        </p:txBody>
      </p:sp>
      <p:sp>
        <p:nvSpPr>
          <p:cNvPr id="5" name="Text 3"/>
          <p:cNvSpPr txBox="1"/>
          <p:nvPr/>
        </p:nvSpPr>
        <p:spPr>
          <a:xfrm>
            <a:off x="658368" y="2798064"/>
            <a:ext cx="6858000" cy="731520"/>
          </a:xfrm>
          <a:prstGeom prst="rect">
            <a:avLst/>
          </a:prstGeom>
          <a:noFill/>
          <a:ln/>
        </p:spPr>
        <p:txBody>
          <a:bodyPr wrap="square" lIns="0" tIns="0" rIns="0" bIns="0" rtlCol="0" anchor="t"/>
          <a:lstStyle/>
          <a:p>
            <a:pPr indent="0" marL="0">
              <a:lnSpc>
                <a:spcPts val="2300"/>
              </a:lnSpc>
              <a:buNone/>
            </a:pPr>
            <a:r>
              <a:rPr lang="en-US" sz="1600" b="1" dirty="0">
                <a:solidFill>
                  <a:srgbClr val="2B3038"/>
                </a:solidFill>
                <a:latin typeface="Cambria" pitchFamily="34" charset="0"/>
                <a:ea typeface="Cambria" pitchFamily="34" charset="-122"/>
                <a:cs typeface="Cambria" pitchFamily="34" charset="-120"/>
              </a:rPr>
              <a:t>The manager logs in, sees hundreds, works through a few, and stops logging in. The product is working exactly as built. That is the problem.</a:t>
            </a:r>
            <a:endParaRPr lang="en-US" sz="1600" dirty="0"/>
          </a:p>
        </p:txBody>
      </p:sp>
      <p:sp>
        <p:nvSpPr>
          <p:cNvPr id="6" name="Text 4"/>
          <p:cNvSpPr txBox="1"/>
          <p:nvPr/>
        </p:nvSpPr>
        <p:spPr>
          <a:xfrm>
            <a:off x="658368" y="3785616"/>
            <a:ext cx="6858000" cy="548640"/>
          </a:xfrm>
          <a:prstGeom prst="rect">
            <a:avLst/>
          </a:prstGeom>
          <a:noFill/>
          <a:ln/>
        </p:spPr>
        <p:txBody>
          <a:bodyPr wrap="square" lIns="0" tIns="0" rIns="0" bIns="0" rtlCol="0" anchor="t"/>
          <a:lstStyle/>
          <a:p>
            <a:pPr indent="0" marL="0">
              <a:lnSpc>
                <a:spcPts val="2000"/>
              </a:lnSpc>
              <a:buNone/>
            </a:pPr>
            <a:r>
              <a:rPr lang="en-US" sz="1450" dirty="0">
                <a:solidFill>
                  <a:srgbClr val="C8621E"/>
                </a:solidFill>
                <a:latin typeface="Calibri" pitchFamily="34" charset="0"/>
                <a:ea typeface="Calibri" pitchFamily="34" charset="-122"/>
                <a:cs typeface="Calibri" pitchFamily="34" charset="-120"/>
              </a:rPr>
              <a:t>So the thing to design is the manager's week, not the individual event.</a:t>
            </a:r>
            <a:endParaRPr lang="en-US" sz="1450" dirty="0"/>
          </a:p>
        </p:txBody>
      </p:sp>
      <p:sp>
        <p:nvSpPr>
          <p:cNvPr id="7" name="Shape 5"/>
          <p:cNvSpPr/>
          <p:nvPr/>
        </p:nvSpPr>
        <p:spPr>
          <a:xfrm>
            <a:off x="658368" y="4572000"/>
            <a:ext cx="6858000" cy="1572768"/>
          </a:xfrm>
          <a:prstGeom prst="rect">
            <a:avLst/>
          </a:prstGeom>
          <a:solidFill>
            <a:srgbClr val="F2F3F4"/>
          </a:solidFill>
          <a:ln w="9525">
            <a:solidFill>
              <a:srgbClr val="DDE0E3"/>
            </a:solidFill>
            <a:prstDash val="solid"/>
          </a:ln>
        </p:spPr>
      </p:sp>
      <p:sp>
        <p:nvSpPr>
          <p:cNvPr id="8" name="Text 6"/>
          <p:cNvSpPr txBox="1"/>
          <p:nvPr/>
        </p:nvSpPr>
        <p:spPr>
          <a:xfrm>
            <a:off x="932688" y="4754880"/>
            <a:ext cx="6309360" cy="274320"/>
          </a:xfrm>
          <a:prstGeom prst="rect">
            <a:avLst/>
          </a:prstGeom>
          <a:noFill/>
          <a:ln/>
        </p:spPr>
        <p:txBody>
          <a:bodyPr wrap="square" lIns="0" tIns="0" rIns="0" bIns="0" rtlCol="0" anchor="t"/>
          <a:lstStyle/>
          <a:p>
            <a:pPr indent="0" marL="0">
              <a:buNone/>
            </a:pPr>
            <a:r>
              <a:rPr lang="en-US" sz="1300" b="1" dirty="0">
                <a:solidFill>
                  <a:srgbClr val="2B3038"/>
                </a:solidFill>
                <a:latin typeface="Cambria" pitchFamily="34" charset="0"/>
                <a:ea typeface="Cambria" pitchFamily="34" charset="-122"/>
                <a:cs typeface="Cambria" pitchFamily="34" charset="-120"/>
              </a:rPr>
              <a:t>The question I would open the next conversation with</a:t>
            </a:r>
            <a:endParaRPr lang="en-US" sz="1300" dirty="0"/>
          </a:p>
        </p:txBody>
      </p:sp>
      <p:sp>
        <p:nvSpPr>
          <p:cNvPr id="9" name="Text 7"/>
          <p:cNvSpPr txBox="1"/>
          <p:nvPr/>
        </p:nvSpPr>
        <p:spPr>
          <a:xfrm>
            <a:off x="932688" y="5084064"/>
            <a:ext cx="6309360" cy="914400"/>
          </a:xfrm>
          <a:prstGeom prst="rect">
            <a:avLst/>
          </a:prstGeom>
          <a:noFill/>
          <a:ln/>
        </p:spPr>
        <p:txBody>
          <a:bodyPr wrap="square" lIns="0" tIns="0" rIns="0" bIns="0" rtlCol="0" anchor="t"/>
          <a:lstStyle/>
          <a:p>
            <a:pPr indent="0" marL="0">
              <a:lnSpc>
                <a:spcPts val="1600"/>
              </a:lnSpc>
              <a:buNone/>
            </a:pPr>
            <a:r>
              <a:rPr lang="en-US" sz="1200" dirty="0">
                <a:solidFill>
                  <a:srgbClr val="5E666F"/>
                </a:solidFill>
                <a:latin typeface="Calibri" pitchFamily="34" charset="0"/>
                <a:ea typeface="Calibri" pitchFamily="34" charset="-122"/>
                <a:cs typeface="Calibri" pitchFamily="34" charset="-120"/>
              </a:rPr>
              <a:t>Does the portal already rank events? I built this from 120 words of brief and your public pages, so I could not tell. If you do rank them and never marketed it, the requirements survive and this framing does not. I would rather put that on the table than find out in the room.</a:t>
            </a:r>
            <a:endParaRPr lang="en-US" sz="1200" dirty="0"/>
          </a:p>
        </p:txBody>
      </p:sp>
      <p:sp>
        <p:nvSpPr>
          <p:cNvPr id="10" name="Shape 8"/>
          <p:cNvSpPr/>
          <p:nvPr/>
        </p:nvSpPr>
        <p:spPr>
          <a:xfrm>
            <a:off x="7863840" y="1682496"/>
            <a:ext cx="3639312" cy="4590288"/>
          </a:xfrm>
          <a:prstGeom prst="rect">
            <a:avLst/>
          </a:prstGeom>
          <a:solidFill>
            <a:srgbClr val="FAEFE7"/>
          </a:solidFill>
          <a:ln w="9525">
            <a:solidFill>
              <a:srgbClr val="FAEFE7"/>
            </a:solidFill>
            <a:prstDash val="solid"/>
          </a:ln>
        </p:spPr>
      </p:sp>
      <p:sp>
        <p:nvSpPr>
          <p:cNvPr id="11" name="Text 9"/>
          <p:cNvSpPr txBox="1"/>
          <p:nvPr/>
        </p:nvSpPr>
        <p:spPr>
          <a:xfrm>
            <a:off x="8138160" y="1883664"/>
            <a:ext cx="3108960" cy="274320"/>
          </a:xfrm>
          <a:prstGeom prst="rect">
            <a:avLst/>
          </a:prstGeom>
          <a:noFill/>
          <a:ln/>
        </p:spPr>
        <p:txBody>
          <a:bodyPr wrap="square" lIns="0" tIns="0" rIns="0" bIns="0" rtlCol="0" anchor="t"/>
          <a:lstStyle/>
          <a:p>
            <a:pPr indent="0" marL="0">
              <a:buNone/>
            </a:pPr>
            <a:r>
              <a:rPr lang="en-US" sz="1350" b="1" dirty="0">
                <a:solidFill>
                  <a:srgbClr val="C8621E"/>
                </a:solidFill>
                <a:latin typeface="Cambria" pitchFamily="34" charset="0"/>
                <a:ea typeface="Cambria" pitchFamily="34" charset="-122"/>
                <a:cs typeface="Cambria" pitchFamily="34" charset="-120"/>
              </a:rPr>
              <a:t>What this rests on</a:t>
            </a:r>
            <a:endParaRPr lang="en-US" sz="1350" dirty="0"/>
          </a:p>
        </p:txBody>
      </p:sp>
      <p:sp>
        <p:nvSpPr>
          <p:cNvPr id="12" name="Text 10"/>
          <p:cNvSpPr txBox="1"/>
          <p:nvPr/>
        </p:nvSpPr>
        <p:spPr>
          <a:xfrm>
            <a:off x="8138160" y="2212848"/>
            <a:ext cx="3108960" cy="45720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Worked out from 120 words of brief and their public product pages. No inside knowledge.</a:t>
            </a:r>
            <a:endParaRPr lang="en-US" sz="1150" dirty="0"/>
          </a:p>
        </p:txBody>
      </p:sp>
      <p:sp>
        <p:nvSpPr>
          <p:cNvPr id="13" name="Text 11"/>
          <p:cNvSpPr txBox="1"/>
          <p:nvPr/>
        </p:nvSpPr>
        <p:spPr>
          <a:xfrm>
            <a:off x="8138160" y="2743200"/>
            <a:ext cx="914400" cy="219456"/>
          </a:xfrm>
          <a:prstGeom prst="rect">
            <a:avLst/>
          </a:prstGeom>
          <a:noFill/>
          <a:ln/>
        </p:spPr>
        <p:txBody>
          <a:bodyPr wrap="square" lIns="0" tIns="0" rIns="0" bIns="0" rtlCol="0" anchor="t"/>
          <a:lstStyle/>
          <a:p>
            <a:pPr indent="0" marL="0">
              <a:buNone/>
            </a:pPr>
            <a:r>
              <a:rPr lang="en-US" sz="1100" b="1" dirty="0">
                <a:solidFill>
                  <a:srgbClr val="C8621E"/>
                </a:solidFill>
                <a:latin typeface="Calibri" pitchFamily="34" charset="0"/>
                <a:ea typeface="Calibri" pitchFamily="34" charset="-122"/>
                <a:cs typeface="Calibri" pitchFamily="34" charset="-120"/>
              </a:rPr>
              <a:t>A-02</a:t>
            </a:r>
            <a:endParaRPr lang="en-US" sz="1100" dirty="0"/>
          </a:p>
        </p:txBody>
      </p:sp>
      <p:sp>
        <p:nvSpPr>
          <p:cNvPr id="14" name="Text 12"/>
          <p:cNvSpPr txBox="1"/>
          <p:nvPr/>
        </p:nvSpPr>
        <p:spPr>
          <a:xfrm>
            <a:off x="8138160" y="2962656"/>
            <a:ext cx="3108960" cy="621792"/>
          </a:xfrm>
          <a:prstGeom prst="rect">
            <a:avLst/>
          </a:prstGeom>
          <a:noFill/>
          <a:ln/>
        </p:spPr>
        <p:txBody>
          <a:bodyPr wrap="square" lIns="0" tIns="0" rIns="0" bIns="0" rtlCol="0" anchor="t"/>
          <a:lstStyle/>
          <a:p>
            <a:pPr indent="0" marL="0">
              <a:lnSpc>
                <a:spcPts val="1300"/>
              </a:lnSpc>
              <a:buNone/>
            </a:pPr>
            <a:r>
              <a:rPr lang="en-US" sz="1050" dirty="0">
                <a:solidFill>
                  <a:srgbClr val="5E666F"/>
                </a:solidFill>
                <a:latin typeface="Calibri" pitchFamily="34" charset="0"/>
                <a:ea typeface="Calibri" pitchFamily="34" charset="-122"/>
                <a:cs typeface="Calibri" pitchFamily="34" charset="-120"/>
              </a:rPr>
              <a:t>How many events a vehicle produces a day. Ten times lower and attention is not the scarce thing. Thirty days of data settles it.</a:t>
            </a:r>
            <a:endParaRPr lang="en-US" sz="1050" dirty="0"/>
          </a:p>
        </p:txBody>
      </p:sp>
      <p:sp>
        <p:nvSpPr>
          <p:cNvPr id="15" name="Text 13"/>
          <p:cNvSpPr txBox="1"/>
          <p:nvPr/>
        </p:nvSpPr>
        <p:spPr>
          <a:xfrm>
            <a:off x="8138160" y="3657600"/>
            <a:ext cx="914400" cy="219456"/>
          </a:xfrm>
          <a:prstGeom prst="rect">
            <a:avLst/>
          </a:prstGeom>
          <a:noFill/>
          <a:ln/>
        </p:spPr>
        <p:txBody>
          <a:bodyPr wrap="square" lIns="0" tIns="0" rIns="0" bIns="0" rtlCol="0" anchor="t"/>
          <a:lstStyle/>
          <a:p>
            <a:pPr indent="0" marL="0">
              <a:buNone/>
            </a:pPr>
            <a:r>
              <a:rPr lang="en-US" sz="1100" b="1" dirty="0">
                <a:solidFill>
                  <a:srgbClr val="C8621E"/>
                </a:solidFill>
                <a:latin typeface="Calibri" pitchFamily="34" charset="0"/>
                <a:ea typeface="Calibri" pitchFamily="34" charset="-122"/>
                <a:cs typeface="Calibri" pitchFamily="34" charset="-120"/>
              </a:rPr>
              <a:t>A-13</a:t>
            </a:r>
            <a:endParaRPr lang="en-US" sz="1100" dirty="0"/>
          </a:p>
        </p:txBody>
      </p:sp>
      <p:sp>
        <p:nvSpPr>
          <p:cNvPr id="16" name="Text 14"/>
          <p:cNvSpPr txBox="1"/>
          <p:nvPr/>
        </p:nvSpPr>
        <p:spPr>
          <a:xfrm>
            <a:off x="8138160" y="3877056"/>
            <a:ext cx="3108960" cy="621792"/>
          </a:xfrm>
          <a:prstGeom prst="rect">
            <a:avLst/>
          </a:prstGeom>
          <a:noFill/>
          <a:ln/>
        </p:spPr>
        <p:txBody>
          <a:bodyPr wrap="square" lIns="0" tIns="0" rIns="0" bIns="0" rtlCol="0" anchor="t"/>
          <a:lstStyle/>
          <a:p>
            <a:pPr indent="0" marL="0">
              <a:lnSpc>
                <a:spcPts val="1300"/>
              </a:lnSpc>
              <a:buNone/>
            </a:pPr>
            <a:r>
              <a:rPr lang="en-US" sz="1050" dirty="0">
                <a:solidFill>
                  <a:srgbClr val="5E666F"/>
                </a:solidFill>
                <a:latin typeface="Calibri" pitchFamily="34" charset="0"/>
                <a:ea typeface="Calibri" pitchFamily="34" charset="-122"/>
                <a:cs typeface="Calibri" pitchFamily="34" charset="-120"/>
              </a:rPr>
              <a:t>That CameraMatics does not already triage events. If they do, the requirements survive and the story collapses.</a:t>
            </a:r>
            <a:endParaRPr lang="en-US" sz="1050" dirty="0"/>
          </a:p>
        </p:txBody>
      </p:sp>
      <p:sp>
        <p:nvSpPr>
          <p:cNvPr id="17" name="Text 15"/>
          <p:cNvSpPr txBox="1"/>
          <p:nvPr/>
        </p:nvSpPr>
        <p:spPr>
          <a:xfrm>
            <a:off x="8138160" y="4572000"/>
            <a:ext cx="914400" cy="219456"/>
          </a:xfrm>
          <a:prstGeom prst="rect">
            <a:avLst/>
          </a:prstGeom>
          <a:noFill/>
          <a:ln/>
        </p:spPr>
        <p:txBody>
          <a:bodyPr wrap="square" lIns="0" tIns="0" rIns="0" bIns="0" rtlCol="0" anchor="t"/>
          <a:lstStyle/>
          <a:p>
            <a:pPr indent="0" marL="0">
              <a:buNone/>
            </a:pPr>
            <a:r>
              <a:rPr lang="en-US" sz="1100" b="1" dirty="0">
                <a:solidFill>
                  <a:srgbClr val="C8621E"/>
                </a:solidFill>
                <a:latin typeface="Calibri" pitchFamily="34" charset="0"/>
                <a:ea typeface="Calibri" pitchFamily="34" charset="-122"/>
                <a:cs typeface="Calibri" pitchFamily="34" charset="-120"/>
              </a:rPr>
              <a:t>A-20</a:t>
            </a:r>
            <a:endParaRPr lang="en-US" sz="1100" dirty="0"/>
          </a:p>
        </p:txBody>
      </p:sp>
      <p:sp>
        <p:nvSpPr>
          <p:cNvPr id="18" name="Text 16"/>
          <p:cNvSpPr txBox="1"/>
          <p:nvPr/>
        </p:nvSpPr>
        <p:spPr>
          <a:xfrm>
            <a:off x="8138160" y="4791456"/>
            <a:ext cx="3108960" cy="621792"/>
          </a:xfrm>
          <a:prstGeom prst="rect">
            <a:avLst/>
          </a:prstGeom>
          <a:noFill/>
          <a:ln/>
        </p:spPr>
        <p:txBody>
          <a:bodyPr wrap="square" lIns="0" tIns="0" rIns="0" bIns="0" rtlCol="0" anchor="t"/>
          <a:lstStyle/>
          <a:p>
            <a:pPr indent="0" marL="0">
              <a:lnSpc>
                <a:spcPts val="1300"/>
              </a:lnSpc>
              <a:buNone/>
            </a:pPr>
            <a:r>
              <a:rPr lang="en-US" sz="1050" dirty="0">
                <a:solidFill>
                  <a:srgbClr val="5E666F"/>
                </a:solidFill>
                <a:latin typeface="Calibri" pitchFamily="34" charset="0"/>
                <a:ea typeface="Calibri" pitchFamily="34" charset="-122"/>
                <a:cs typeface="Calibri" pitchFamily="34" charset="-120"/>
              </a:rPr>
              <a:t>That collision cost sits with a minority of drivers. The premise of the commercial case.</a:t>
            </a:r>
            <a:endParaRPr lang="en-US" sz="1050" dirty="0"/>
          </a:p>
        </p:txBody>
      </p:sp>
      <p:sp>
        <p:nvSpPr>
          <p:cNvPr id="19" name="Text 17"/>
          <p:cNvSpPr txBox="1"/>
          <p:nvPr/>
        </p:nvSpPr>
        <p:spPr>
          <a:xfrm>
            <a:off x="8138160" y="5486400"/>
            <a:ext cx="914400" cy="219456"/>
          </a:xfrm>
          <a:prstGeom prst="rect">
            <a:avLst/>
          </a:prstGeom>
          <a:noFill/>
          <a:ln/>
        </p:spPr>
        <p:txBody>
          <a:bodyPr wrap="square" lIns="0" tIns="0" rIns="0" bIns="0" rtlCol="0" anchor="t"/>
          <a:lstStyle/>
          <a:p>
            <a:pPr indent="0" marL="0">
              <a:buNone/>
            </a:pPr>
            <a:r>
              <a:rPr lang="en-US" sz="1100" b="1" dirty="0">
                <a:solidFill>
                  <a:srgbClr val="C8621E"/>
                </a:solidFill>
                <a:latin typeface="Calibri" pitchFamily="34" charset="0"/>
                <a:ea typeface="Calibri" pitchFamily="34" charset="-122"/>
                <a:cs typeface="Calibri" pitchFamily="34" charset="-120"/>
              </a:rPr>
              <a:t>A-01</a:t>
            </a:r>
            <a:endParaRPr lang="en-US" sz="1100" dirty="0"/>
          </a:p>
        </p:txBody>
      </p:sp>
      <p:sp>
        <p:nvSpPr>
          <p:cNvPr id="20" name="Text 18"/>
          <p:cNvSpPr txBox="1"/>
          <p:nvPr/>
        </p:nvSpPr>
        <p:spPr>
          <a:xfrm>
            <a:off x="8138160" y="5705856"/>
            <a:ext cx="3108960" cy="621792"/>
          </a:xfrm>
          <a:prstGeom prst="rect">
            <a:avLst/>
          </a:prstGeom>
          <a:noFill/>
          <a:ln/>
        </p:spPr>
        <p:txBody>
          <a:bodyPr wrap="square" lIns="0" tIns="0" rIns="0" bIns="0" rtlCol="0" anchor="t"/>
          <a:lstStyle/>
          <a:p>
            <a:pPr indent="0" marL="0">
              <a:lnSpc>
                <a:spcPts val="1300"/>
              </a:lnSpc>
              <a:buNone/>
            </a:pPr>
            <a:r>
              <a:rPr lang="en-US" sz="1050" dirty="0">
                <a:solidFill>
                  <a:srgbClr val="5E666F"/>
                </a:solidFill>
                <a:latin typeface="Calibri" pitchFamily="34" charset="0"/>
                <a:ea typeface="Calibri" pitchFamily="34" charset="-122"/>
                <a:cs typeface="Calibri" pitchFamily="34" charset="-120"/>
              </a:rPr>
              <a:t>That the buyer is a 20 to 150 vehicle fleet with no dedicated safety manager. One with a safety manager is a different product.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THE COMMERCIAL CASE</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Lower cost of risk for them. New revenue for us.</a:t>
            </a:r>
            <a:endParaRPr lang="en-US" sz="3000" dirty="0"/>
          </a:p>
        </p:txBody>
      </p:sp>
      <p:sp>
        <p:nvSpPr>
          <p:cNvPr id="4" name="Text 2"/>
          <p:cNvSpPr txBox="1"/>
          <p:nvPr/>
        </p:nvSpPr>
        <p:spPr>
          <a:xfrm>
            <a:off x="658368" y="1737360"/>
            <a:ext cx="10844784" cy="457200"/>
          </a:xfrm>
          <a:prstGeom prst="rect">
            <a:avLst/>
          </a:prstGeom>
          <a:noFill/>
          <a:ln/>
        </p:spPr>
        <p:txBody>
          <a:bodyPr wrap="square" lIns="0" tIns="0" rIns="0" bIns="0" rtlCol="0" anchor="t"/>
          <a:lstStyle/>
          <a:p>
            <a:pPr indent="0" marL="0">
              <a:lnSpc>
                <a:spcPts val="1800"/>
              </a:lnSpc>
              <a:buNone/>
            </a:pPr>
            <a:r>
              <a:rPr lang="en-US" sz="1300" dirty="0">
                <a:solidFill>
                  <a:srgbClr val="5E666F"/>
                </a:solidFill>
                <a:latin typeface="Calibri" pitchFamily="34" charset="0"/>
                <a:ea typeface="Calibri" pitchFamily="34" charset="-122"/>
                <a:cs typeface="Calibri" pitchFamily="34" charset="-120"/>
              </a:rPr>
              <a:t>A business case that only argues the customer's side is a marketing claim, so here are both. The buyer is the fleet operator, who carries the claims bill and signs the renewal. The user is the fleet manager, who does the work.</a:t>
            </a:r>
            <a:endParaRPr lang="en-US" sz="1300" dirty="0"/>
          </a:p>
        </p:txBody>
      </p:sp>
      <p:sp>
        <p:nvSpPr>
          <p:cNvPr id="5" name="Shape 3"/>
          <p:cNvSpPr/>
          <p:nvPr/>
        </p:nvSpPr>
        <p:spPr>
          <a:xfrm>
            <a:off x="658368" y="2377440"/>
            <a:ext cx="3419856" cy="2889504"/>
          </a:xfrm>
          <a:prstGeom prst="rect">
            <a:avLst/>
          </a:prstGeom>
          <a:solidFill>
            <a:srgbClr val="F2F3F4"/>
          </a:solidFill>
          <a:ln w="9525">
            <a:solidFill>
              <a:srgbClr val="DDE0E3"/>
            </a:solidFill>
            <a:prstDash val="solid"/>
          </a:ln>
        </p:spPr>
      </p:sp>
      <p:sp>
        <p:nvSpPr>
          <p:cNvPr id="6" name="Text 4"/>
          <p:cNvSpPr txBox="1"/>
          <p:nvPr/>
        </p:nvSpPr>
        <p:spPr>
          <a:xfrm>
            <a:off x="914400" y="2578608"/>
            <a:ext cx="2926080" cy="219456"/>
          </a:xfrm>
          <a:prstGeom prst="rect">
            <a:avLst/>
          </a:prstGeom>
          <a:noFill/>
          <a:ln/>
        </p:spPr>
        <p:txBody>
          <a:bodyPr wrap="square" lIns="0" tIns="0" rIns="0" bIns="0" rtlCol="0" anchor="t"/>
          <a:lstStyle/>
          <a:p>
            <a:pPr indent="0" marL="0">
              <a:buNone/>
            </a:pPr>
            <a:r>
              <a:rPr lang="en-US" sz="900" b="1" spc="110" kern="0" dirty="0">
                <a:solidFill>
                  <a:srgbClr val="C8621E"/>
                </a:solidFill>
                <a:latin typeface="Calibri" pitchFamily="34" charset="0"/>
                <a:ea typeface="Calibri" pitchFamily="34" charset="-122"/>
                <a:cs typeface="Calibri" pitchFamily="34" charset="-120"/>
              </a:rPr>
              <a:t>FOR THE CUSTOMER</a:t>
            </a:r>
            <a:endParaRPr lang="en-US" sz="900" dirty="0"/>
          </a:p>
        </p:txBody>
      </p:sp>
      <p:sp>
        <p:nvSpPr>
          <p:cNvPr id="7" name="Text 5"/>
          <p:cNvSpPr txBox="1"/>
          <p:nvPr/>
        </p:nvSpPr>
        <p:spPr>
          <a:xfrm>
            <a:off x="914400" y="2834640"/>
            <a:ext cx="2926080" cy="566928"/>
          </a:xfrm>
          <a:prstGeom prst="rect">
            <a:avLst/>
          </a:prstGeom>
          <a:noFill/>
          <a:ln/>
        </p:spPr>
        <p:txBody>
          <a:bodyPr wrap="square" lIns="0" tIns="0" rIns="0" bIns="0" rtlCol="0" anchor="t"/>
          <a:lstStyle/>
          <a:p>
            <a:pPr indent="0" marL="0">
              <a:lnSpc>
                <a:spcPts val="1900"/>
              </a:lnSpc>
              <a:buNone/>
            </a:pPr>
            <a:r>
              <a:rPr lang="en-US" sz="1450" b="1" dirty="0">
                <a:solidFill>
                  <a:srgbClr val="2B3038"/>
                </a:solidFill>
                <a:latin typeface="Cambria" pitchFamily="34" charset="0"/>
                <a:ea typeface="Cambria" pitchFamily="34" charset="-122"/>
                <a:cs typeface="Cambria" pitchFamily="34" charset="-120"/>
              </a:rPr>
              <a:t>Total cost of risk</a:t>
            </a:r>
            <a:endParaRPr lang="en-US" sz="1450" dirty="0"/>
          </a:p>
        </p:txBody>
      </p:sp>
      <p:sp>
        <p:nvSpPr>
          <p:cNvPr id="8" name="Text 6"/>
          <p:cNvSpPr txBox="1"/>
          <p:nvPr/>
        </p:nvSpPr>
        <p:spPr>
          <a:xfrm>
            <a:off x="914400" y="3493008"/>
            <a:ext cx="2926080" cy="155448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At-fault collisions are the expensive line: repair, third-party liability, vehicle off the road, admin, and the premium consequences. The value is in finding the small number of drivers assumed to carry most of that cost, before the incident rather than after it.</a:t>
            </a:r>
            <a:endParaRPr lang="en-US" sz="1150" dirty="0"/>
          </a:p>
        </p:txBody>
      </p:sp>
      <p:sp>
        <p:nvSpPr>
          <p:cNvPr id="9" name="Text 7"/>
          <p:cNvSpPr txBox="1"/>
          <p:nvPr/>
        </p:nvSpPr>
        <p:spPr>
          <a:xfrm>
            <a:off x="914400" y="5029200"/>
            <a:ext cx="2926080" cy="219456"/>
          </a:xfrm>
          <a:prstGeom prst="rect">
            <a:avLst/>
          </a:prstGeom>
          <a:noFill/>
          <a:ln/>
        </p:spPr>
        <p:txBody>
          <a:bodyPr wrap="square" lIns="0" tIns="0" rIns="0" bIns="0" rtlCol="0" anchor="t"/>
          <a:lstStyle/>
          <a:p>
            <a:pPr indent="0" marL="0">
              <a:buNone/>
            </a:pPr>
            <a:r>
              <a:rPr lang="en-US" sz="1000" b="1" dirty="0">
                <a:solidFill>
                  <a:srgbClr val="C8621E"/>
                </a:solidFill>
                <a:latin typeface="Calibri" pitchFamily="34" charset="0"/>
                <a:ea typeface="Calibri" pitchFamily="34" charset="-122"/>
                <a:cs typeface="Calibri" pitchFamily="34" charset="-120"/>
              </a:rPr>
              <a:t>A-20</a:t>
            </a:r>
            <a:endParaRPr lang="en-US" sz="1000" dirty="0"/>
          </a:p>
        </p:txBody>
      </p:sp>
      <p:sp>
        <p:nvSpPr>
          <p:cNvPr id="10" name="Shape 8"/>
          <p:cNvSpPr/>
          <p:nvPr/>
        </p:nvSpPr>
        <p:spPr>
          <a:xfrm>
            <a:off x="4334256" y="2377440"/>
            <a:ext cx="3419856" cy="2889504"/>
          </a:xfrm>
          <a:prstGeom prst="rect">
            <a:avLst/>
          </a:prstGeom>
          <a:solidFill>
            <a:srgbClr val="F2F3F4"/>
          </a:solidFill>
          <a:ln w="9525">
            <a:solidFill>
              <a:srgbClr val="DDE0E3"/>
            </a:solidFill>
            <a:prstDash val="solid"/>
          </a:ln>
        </p:spPr>
      </p:sp>
      <p:sp>
        <p:nvSpPr>
          <p:cNvPr id="11" name="Text 9"/>
          <p:cNvSpPr txBox="1"/>
          <p:nvPr/>
        </p:nvSpPr>
        <p:spPr>
          <a:xfrm>
            <a:off x="4590288" y="2578608"/>
            <a:ext cx="2926080" cy="219456"/>
          </a:xfrm>
          <a:prstGeom prst="rect">
            <a:avLst/>
          </a:prstGeom>
          <a:noFill/>
          <a:ln/>
        </p:spPr>
        <p:txBody>
          <a:bodyPr wrap="square" lIns="0" tIns="0" rIns="0" bIns="0" rtlCol="0" anchor="t"/>
          <a:lstStyle/>
          <a:p>
            <a:pPr indent="0" marL="0">
              <a:buNone/>
            </a:pPr>
            <a:r>
              <a:rPr lang="en-US" sz="900" b="1" spc="110" kern="0" dirty="0">
                <a:solidFill>
                  <a:srgbClr val="C8621E"/>
                </a:solidFill>
                <a:latin typeface="Calibri" pitchFamily="34" charset="0"/>
                <a:ea typeface="Calibri" pitchFamily="34" charset="-122"/>
                <a:cs typeface="Calibri" pitchFamily="34" charset="-120"/>
              </a:rPr>
              <a:t>FOR CAMERAMATICS</a:t>
            </a:r>
            <a:endParaRPr lang="en-US" sz="900" dirty="0"/>
          </a:p>
        </p:txBody>
      </p:sp>
      <p:sp>
        <p:nvSpPr>
          <p:cNvPr id="12" name="Text 10"/>
          <p:cNvSpPr txBox="1"/>
          <p:nvPr/>
        </p:nvSpPr>
        <p:spPr>
          <a:xfrm>
            <a:off x="4590288" y="2834640"/>
            <a:ext cx="2926080" cy="566928"/>
          </a:xfrm>
          <a:prstGeom prst="rect">
            <a:avLst/>
          </a:prstGeom>
          <a:noFill/>
          <a:ln/>
        </p:spPr>
        <p:txBody>
          <a:bodyPr wrap="square" lIns="0" tIns="0" rIns="0" bIns="0" rtlCol="0" anchor="t"/>
          <a:lstStyle/>
          <a:p>
            <a:pPr indent="0" marL="0">
              <a:lnSpc>
                <a:spcPts val="1900"/>
              </a:lnSpc>
              <a:buNone/>
            </a:pPr>
            <a:r>
              <a:rPr lang="en-US" sz="1450" b="1" dirty="0">
                <a:solidFill>
                  <a:srgbClr val="2B3038"/>
                </a:solidFill>
                <a:latin typeface="Cambria" pitchFamily="34" charset="0"/>
                <a:ea typeface="Cambria" pitchFamily="34" charset="-122"/>
                <a:cs typeface="Cambria" pitchFamily="34" charset="-120"/>
              </a:rPr>
              <a:t>Revenue on an installed base we have already paid for</a:t>
            </a:r>
            <a:endParaRPr lang="en-US" sz="1450" dirty="0"/>
          </a:p>
        </p:txBody>
      </p:sp>
      <p:sp>
        <p:nvSpPr>
          <p:cNvPr id="13" name="Text 11"/>
          <p:cNvSpPr txBox="1"/>
          <p:nvPr/>
        </p:nvSpPr>
        <p:spPr>
          <a:xfrm>
            <a:off x="4590288" y="3493008"/>
            <a:ext cx="2926080" cy="155448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cameras are fitted, the vehicles connected, the relationship exists. A safety module priced per vehicle per month is uplift at close to zero acquisition cost. More quietly it is retention: contracts churn when the software goes unused, and a weekly habit is the strongest renewal signal we could build.</a:t>
            </a:r>
            <a:endParaRPr lang="en-US" sz="1150" dirty="0"/>
          </a:p>
        </p:txBody>
      </p:sp>
      <p:sp>
        <p:nvSpPr>
          <p:cNvPr id="14" name="Text 12"/>
          <p:cNvSpPr txBox="1"/>
          <p:nvPr/>
        </p:nvSpPr>
        <p:spPr>
          <a:xfrm>
            <a:off x="4590288" y="5029200"/>
            <a:ext cx="2926080" cy="219456"/>
          </a:xfrm>
          <a:prstGeom prst="rect">
            <a:avLst/>
          </a:prstGeom>
          <a:noFill/>
          <a:ln/>
        </p:spPr>
        <p:txBody>
          <a:bodyPr wrap="square" lIns="0" tIns="0" rIns="0" bIns="0" rtlCol="0" anchor="t"/>
          <a:lstStyle/>
          <a:p>
            <a:pPr indent="0" marL="0">
              <a:buNone/>
            </a:pPr>
            <a:r>
              <a:rPr lang="en-US" sz="1000" b="1" dirty="0">
                <a:solidFill>
                  <a:srgbClr val="C8621E"/>
                </a:solidFill>
                <a:latin typeface="Calibri" pitchFamily="34" charset="0"/>
                <a:ea typeface="Calibri" pitchFamily="34" charset="-122"/>
                <a:cs typeface="Calibri" pitchFamily="34" charset="-120"/>
              </a:rPr>
              <a:t>A-08</a:t>
            </a:r>
            <a:endParaRPr lang="en-US" sz="1000" dirty="0"/>
          </a:p>
        </p:txBody>
      </p:sp>
      <p:sp>
        <p:nvSpPr>
          <p:cNvPr id="15" name="Shape 13"/>
          <p:cNvSpPr/>
          <p:nvPr/>
        </p:nvSpPr>
        <p:spPr>
          <a:xfrm>
            <a:off x="8010144" y="2377440"/>
            <a:ext cx="3419856" cy="2889504"/>
          </a:xfrm>
          <a:prstGeom prst="rect">
            <a:avLst/>
          </a:prstGeom>
          <a:solidFill>
            <a:srgbClr val="FAEFE7"/>
          </a:solidFill>
          <a:ln w="9525">
            <a:solidFill>
              <a:srgbClr val="FAEFE7"/>
            </a:solidFill>
            <a:prstDash val="solid"/>
          </a:ln>
        </p:spPr>
      </p:sp>
      <p:sp>
        <p:nvSpPr>
          <p:cNvPr id="16" name="Text 14"/>
          <p:cNvSpPr txBox="1"/>
          <p:nvPr/>
        </p:nvSpPr>
        <p:spPr>
          <a:xfrm>
            <a:off x="8266176" y="2578608"/>
            <a:ext cx="2926080" cy="219456"/>
          </a:xfrm>
          <a:prstGeom prst="rect">
            <a:avLst/>
          </a:prstGeom>
          <a:noFill/>
          <a:ln/>
        </p:spPr>
        <p:txBody>
          <a:bodyPr wrap="square" lIns="0" tIns="0" rIns="0" bIns="0" rtlCol="0" anchor="t"/>
          <a:lstStyle/>
          <a:p>
            <a:pPr indent="0" marL="0">
              <a:buNone/>
            </a:pPr>
            <a:r>
              <a:rPr lang="en-US" sz="900" b="1" spc="110" kern="0" dirty="0">
                <a:solidFill>
                  <a:srgbClr val="C8621E"/>
                </a:solidFill>
                <a:latin typeface="Calibri" pitchFamily="34" charset="0"/>
                <a:ea typeface="Calibri" pitchFamily="34" charset="-122"/>
                <a:cs typeface="Calibri" pitchFamily="34" charset="-120"/>
              </a:rPr>
              <a:t>THE UPSIDE, NOT THE HEADLINE</a:t>
            </a:r>
            <a:endParaRPr lang="en-US" sz="900" dirty="0"/>
          </a:p>
        </p:txBody>
      </p:sp>
      <p:sp>
        <p:nvSpPr>
          <p:cNvPr id="17" name="Text 15"/>
          <p:cNvSpPr txBox="1"/>
          <p:nvPr/>
        </p:nvSpPr>
        <p:spPr>
          <a:xfrm>
            <a:off x="8266176" y="2834640"/>
            <a:ext cx="2926080" cy="566928"/>
          </a:xfrm>
          <a:prstGeom prst="rect">
            <a:avLst/>
          </a:prstGeom>
          <a:noFill/>
          <a:ln/>
        </p:spPr>
        <p:txBody>
          <a:bodyPr wrap="square" lIns="0" tIns="0" rIns="0" bIns="0" rtlCol="0" anchor="t"/>
          <a:lstStyle/>
          <a:p>
            <a:pPr indent="0" marL="0">
              <a:lnSpc>
                <a:spcPts val="1900"/>
              </a:lnSpc>
              <a:buNone/>
            </a:pPr>
            <a:r>
              <a:rPr lang="en-US" sz="1450" b="1" dirty="0">
                <a:solidFill>
                  <a:srgbClr val="2B3038"/>
                </a:solidFill>
                <a:latin typeface="Cambria" pitchFamily="34" charset="0"/>
                <a:ea typeface="Cambria" pitchFamily="34" charset="-122"/>
                <a:cs typeface="Cambria" pitchFamily="34" charset="-120"/>
              </a:rPr>
              <a:t>Insurance</a:t>
            </a:r>
            <a:endParaRPr lang="en-US" sz="1450" dirty="0"/>
          </a:p>
        </p:txBody>
      </p:sp>
      <p:sp>
        <p:nvSpPr>
          <p:cNvPr id="18" name="Text 16"/>
          <p:cNvSpPr txBox="1"/>
          <p:nvPr/>
        </p:nvSpPr>
        <p:spPr>
          <a:xfrm>
            <a:off x="8266176" y="3493008"/>
            <a:ext cx="2926080" cy="155448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Premium influence depends on an insurer partnership and an agreed evidence standard, and neither is ours to grant. I would carry it as an explicit upside with a named validation step rather than lead with a number I cannot source.</a:t>
            </a:r>
            <a:endParaRPr lang="en-US" sz="1150" dirty="0"/>
          </a:p>
        </p:txBody>
      </p:sp>
      <p:sp>
        <p:nvSpPr>
          <p:cNvPr id="19" name="Text 17"/>
          <p:cNvSpPr txBox="1"/>
          <p:nvPr/>
        </p:nvSpPr>
        <p:spPr>
          <a:xfrm>
            <a:off x="8266176" y="5029200"/>
            <a:ext cx="2926080" cy="219456"/>
          </a:xfrm>
          <a:prstGeom prst="rect">
            <a:avLst/>
          </a:prstGeom>
          <a:noFill/>
          <a:ln/>
        </p:spPr>
        <p:txBody>
          <a:bodyPr wrap="square" lIns="0" tIns="0" rIns="0" bIns="0" rtlCol="0" anchor="t"/>
          <a:lstStyle/>
          <a:p>
            <a:pPr indent="0" marL="0">
              <a:buNone/>
            </a:pPr>
            <a:r>
              <a:rPr lang="en-US" sz="1000" b="1" dirty="0">
                <a:solidFill>
                  <a:srgbClr val="C8621E"/>
                </a:solidFill>
                <a:latin typeface="Calibri" pitchFamily="34" charset="0"/>
                <a:ea typeface="Calibri" pitchFamily="34" charset="-122"/>
                <a:cs typeface="Calibri" pitchFamily="34" charset="-120"/>
              </a:rPr>
              <a:t>A-06, Q-06</a:t>
            </a:r>
            <a:endParaRPr lang="en-US" sz="1000" dirty="0"/>
          </a:p>
        </p:txBody>
      </p:sp>
      <p:sp>
        <p:nvSpPr>
          <p:cNvPr id="20" name="Text 18"/>
          <p:cNvSpPr txBox="1"/>
          <p:nvPr/>
        </p:nvSpPr>
        <p:spPr>
          <a:xfrm>
            <a:off x="658368" y="5486400"/>
            <a:ext cx="10844784" cy="822960"/>
          </a:xfrm>
          <a:prstGeom prst="rect">
            <a:avLst/>
          </a:prstGeom>
          <a:noFill/>
          <a:ln/>
        </p:spPr>
        <p:txBody>
          <a:bodyPr wrap="square" lIns="0" tIns="0" rIns="0" bIns="0" rtlCol="0" anchor="t"/>
          <a:lstStyle/>
          <a:p>
            <a:pPr indent="0" marL="0">
              <a:lnSpc>
                <a:spcPts val="1600"/>
              </a:lnSpc>
              <a:buNone/>
            </a:pPr>
            <a:r>
              <a:rPr lang="en-US" sz="1200" b="1" dirty="0">
                <a:solidFill>
                  <a:srgbClr val="5E666F"/>
                </a:solidFill>
                <a:latin typeface="Calibri" pitchFamily="34" charset="0"/>
                <a:ea typeface="Calibri" pitchFamily="34" charset="-122"/>
                <a:cs typeface="Calibri" pitchFamily="34" charset="-120"/>
              </a:rPr>
              <a:t>How I would size it, and why there is no number here yet. </a:t>
            </a:r>
            <a:pPr indent="0" marL="0">
              <a:lnSpc>
                <a:spcPts val="1600"/>
              </a:lnSpc>
              <a:buNone/>
            </a:pPr>
            <a:r>
              <a:rPr lang="en-US" sz="1200" dirty="0">
                <a:solidFill>
                  <a:srgbClr val="5E666F"/>
                </a:solidFill>
                <a:latin typeface="Calibri" pitchFamily="34" charset="0"/>
                <a:ea typeface="Calibri" pitchFamily="34" charset="-122"/>
                <a:cs typeface="Calibri" pitchFamily="34" charset="-120"/>
              </a:rPr>
              <a:t>Revenue is fitted vehicles times price per vehicle per month times attach rate. Payback is one avoided at-fault collision set against the annual cost of the vehicles it took to find it. Not one of those five inputs is knowable from outside the company. I would have all five in week one, and I would rather show the arithmetic with the gaps marked than fill them in with numbers I made up.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THE SPINE</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Grade and route. Nothing gets thrown away.</a:t>
            </a:r>
            <a:endParaRPr lang="en-US" sz="3000" dirty="0"/>
          </a:p>
        </p:txBody>
      </p:sp>
      <p:sp>
        <p:nvSpPr>
          <p:cNvPr id="4" name="Shape 2"/>
          <p:cNvSpPr/>
          <p:nvPr/>
        </p:nvSpPr>
        <p:spPr>
          <a:xfrm>
            <a:off x="658368" y="1783080"/>
            <a:ext cx="1371600" cy="768096"/>
          </a:xfrm>
          <a:prstGeom prst="rect">
            <a:avLst/>
          </a:prstGeom>
          <a:solidFill>
            <a:srgbClr val="2B3038"/>
          </a:solidFill>
          <a:ln w="12700">
            <a:solidFill>
              <a:srgbClr val="2B3038"/>
            </a:solidFill>
            <a:prstDash val="solid"/>
          </a:ln>
        </p:spPr>
      </p:sp>
      <p:sp>
        <p:nvSpPr>
          <p:cNvPr id="5" name="Text 3"/>
          <p:cNvSpPr txBox="1"/>
          <p:nvPr/>
        </p:nvSpPr>
        <p:spPr>
          <a:xfrm>
            <a:off x="658368" y="2020824"/>
            <a:ext cx="1371600" cy="292608"/>
          </a:xfrm>
          <a:prstGeom prst="rect">
            <a:avLst/>
          </a:prstGeom>
          <a:noFill/>
          <a:ln/>
        </p:spPr>
        <p:txBody>
          <a:bodyPr wrap="square" lIns="0" tIns="0" rIns="0" bIns="0"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Critical</a:t>
            </a:r>
            <a:endParaRPr lang="en-US" sz="1400" dirty="0"/>
          </a:p>
        </p:txBody>
      </p:sp>
      <p:sp>
        <p:nvSpPr>
          <p:cNvPr id="6" name="Text 4"/>
          <p:cNvSpPr txBox="1"/>
          <p:nvPr/>
        </p:nvSpPr>
        <p:spPr>
          <a:xfrm>
            <a:off x="2286000" y="1965960"/>
            <a:ext cx="4846320" cy="566928"/>
          </a:xfrm>
          <a:prstGeom prst="rect">
            <a:avLst/>
          </a:prstGeom>
          <a:noFill/>
          <a:ln/>
        </p:spPr>
        <p:txBody>
          <a:bodyPr wrap="square" lIns="0" tIns="0" rIns="0" bIns="0" rtlCol="0" anchor="t"/>
          <a:lstStyle/>
          <a:p>
            <a:pPr indent="0" marL="0">
              <a:lnSpc>
                <a:spcPts val="1700"/>
              </a:lnSpc>
              <a:buNone/>
            </a:pPr>
            <a:r>
              <a:rPr lang="en-US" sz="1300" dirty="0">
                <a:solidFill>
                  <a:srgbClr val="5E666F"/>
                </a:solidFill>
                <a:latin typeface="Calibri" pitchFamily="34" charset="0"/>
                <a:ea typeface="Calibri" pitchFamily="34" charset="-122"/>
                <a:cs typeface="Calibri" pitchFamily="34" charset="-120"/>
              </a:rPr>
              <a:t>Interrupt. The clip uploads without being asked for, and an email goes out carrying almost nothing.</a:t>
            </a:r>
            <a:endParaRPr lang="en-US" sz="1300" dirty="0"/>
          </a:p>
        </p:txBody>
      </p:sp>
      <p:sp>
        <p:nvSpPr>
          <p:cNvPr id="7" name="Shape 5"/>
          <p:cNvSpPr/>
          <p:nvPr/>
        </p:nvSpPr>
        <p:spPr>
          <a:xfrm>
            <a:off x="658368" y="2788920"/>
            <a:ext cx="1371600" cy="768096"/>
          </a:xfrm>
          <a:prstGeom prst="rect">
            <a:avLst/>
          </a:prstGeom>
          <a:solidFill>
            <a:srgbClr val="6C757D"/>
          </a:solidFill>
          <a:ln w="12700">
            <a:solidFill>
              <a:srgbClr val="6C757D"/>
            </a:solidFill>
            <a:prstDash val="solid"/>
          </a:ln>
        </p:spPr>
      </p:sp>
      <p:sp>
        <p:nvSpPr>
          <p:cNvPr id="8" name="Text 6"/>
          <p:cNvSpPr txBox="1"/>
          <p:nvPr/>
        </p:nvSpPr>
        <p:spPr>
          <a:xfrm>
            <a:off x="658368" y="3026664"/>
            <a:ext cx="1371600" cy="292608"/>
          </a:xfrm>
          <a:prstGeom prst="rect">
            <a:avLst/>
          </a:prstGeom>
          <a:noFill/>
          <a:ln/>
        </p:spPr>
        <p:txBody>
          <a:bodyPr wrap="square" lIns="0" tIns="0" rIns="0" bIns="0"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High</a:t>
            </a:r>
            <a:endParaRPr lang="en-US" sz="1400" dirty="0"/>
          </a:p>
        </p:txBody>
      </p:sp>
      <p:sp>
        <p:nvSpPr>
          <p:cNvPr id="9" name="Text 7"/>
          <p:cNvSpPr txBox="1"/>
          <p:nvPr/>
        </p:nvSpPr>
        <p:spPr>
          <a:xfrm>
            <a:off x="2286000" y="2971800"/>
            <a:ext cx="4846320" cy="566928"/>
          </a:xfrm>
          <a:prstGeom prst="rect">
            <a:avLst/>
          </a:prstGeom>
          <a:noFill/>
          <a:ln/>
        </p:spPr>
        <p:txBody>
          <a:bodyPr wrap="square" lIns="0" tIns="0" rIns="0" bIns="0" rtlCol="0" anchor="t"/>
          <a:lstStyle/>
          <a:p>
            <a:pPr indent="0" marL="0">
              <a:lnSpc>
                <a:spcPts val="1700"/>
              </a:lnSpc>
              <a:buNone/>
            </a:pPr>
            <a:r>
              <a:rPr lang="en-US" sz="1300" dirty="0">
                <a:solidFill>
                  <a:srgbClr val="5E666F"/>
                </a:solidFill>
                <a:latin typeface="Calibri" pitchFamily="34" charset="0"/>
                <a:ea typeface="Calibri" pitchFamily="34" charset="-122"/>
                <a:cs typeface="Calibri" pitchFamily="34" charset="-120"/>
              </a:rPr>
              <a:t>This week's review set. A person watches the clip and decides.</a:t>
            </a:r>
            <a:endParaRPr lang="en-US" sz="1300" dirty="0"/>
          </a:p>
        </p:txBody>
      </p:sp>
      <p:sp>
        <p:nvSpPr>
          <p:cNvPr id="10" name="Shape 8"/>
          <p:cNvSpPr/>
          <p:nvPr/>
        </p:nvSpPr>
        <p:spPr>
          <a:xfrm>
            <a:off x="658368" y="3794760"/>
            <a:ext cx="1371600" cy="768096"/>
          </a:xfrm>
          <a:prstGeom prst="rect">
            <a:avLst/>
          </a:prstGeom>
          <a:solidFill>
            <a:srgbClr val="AEB4BA"/>
          </a:solidFill>
          <a:ln w="12700">
            <a:solidFill>
              <a:srgbClr val="AEB4BA"/>
            </a:solidFill>
            <a:prstDash val="solid"/>
          </a:ln>
        </p:spPr>
      </p:sp>
      <p:sp>
        <p:nvSpPr>
          <p:cNvPr id="11" name="Text 9"/>
          <p:cNvSpPr txBox="1"/>
          <p:nvPr/>
        </p:nvSpPr>
        <p:spPr>
          <a:xfrm>
            <a:off x="658368" y="4032504"/>
            <a:ext cx="1371600" cy="292608"/>
          </a:xfrm>
          <a:prstGeom prst="rect">
            <a:avLst/>
          </a:prstGeom>
          <a:noFill/>
          <a:ln/>
        </p:spPr>
        <p:txBody>
          <a:bodyPr wrap="square" lIns="0" tIns="0" rIns="0" bIns="0" rtlCol="0" anchor="t"/>
          <a:lstStyle/>
          <a:p>
            <a:pPr algn="ctr" indent="0" marL="0">
              <a:buNone/>
            </a:pPr>
            <a:r>
              <a:rPr lang="en-US" sz="1400" b="1" dirty="0">
                <a:solidFill>
                  <a:srgbClr val="2B3038"/>
                </a:solidFill>
                <a:latin typeface="Cambria" pitchFamily="34" charset="0"/>
                <a:ea typeface="Cambria" pitchFamily="34" charset="-122"/>
                <a:cs typeface="Cambria" pitchFamily="34" charset="-120"/>
              </a:rPr>
              <a:t>Medium</a:t>
            </a:r>
            <a:endParaRPr lang="en-US" sz="1400" dirty="0"/>
          </a:p>
        </p:txBody>
      </p:sp>
      <p:sp>
        <p:nvSpPr>
          <p:cNvPr id="12" name="Text 10"/>
          <p:cNvSpPr txBox="1"/>
          <p:nvPr/>
        </p:nvSpPr>
        <p:spPr>
          <a:xfrm>
            <a:off x="2286000" y="3977640"/>
            <a:ext cx="4846320" cy="566928"/>
          </a:xfrm>
          <a:prstGeom prst="rect">
            <a:avLst/>
          </a:prstGeom>
          <a:noFill/>
          <a:ln/>
        </p:spPr>
        <p:txBody>
          <a:bodyPr wrap="square" lIns="0" tIns="0" rIns="0" bIns="0" rtlCol="0" anchor="t"/>
          <a:lstStyle/>
          <a:p>
            <a:pPr indent="0" marL="0">
              <a:lnSpc>
                <a:spcPts val="1700"/>
              </a:lnSpc>
              <a:buNone/>
            </a:pPr>
            <a:r>
              <a:rPr lang="en-US" sz="1300" dirty="0">
                <a:solidFill>
                  <a:srgbClr val="5E666F"/>
                </a:solidFill>
                <a:latin typeface="Calibri" pitchFamily="34" charset="0"/>
                <a:ea typeface="Calibri" pitchFamily="34" charset="-122"/>
                <a:cs typeface="Calibri" pitchFamily="34" charset="-120"/>
              </a:rPr>
              <a:t>Passed to the driver as a group. No conversation, and no entry in the evidence half either.</a:t>
            </a:r>
            <a:endParaRPr lang="en-US" sz="1300" dirty="0"/>
          </a:p>
        </p:txBody>
      </p:sp>
      <p:sp>
        <p:nvSpPr>
          <p:cNvPr id="13" name="Shape 11"/>
          <p:cNvSpPr/>
          <p:nvPr/>
        </p:nvSpPr>
        <p:spPr>
          <a:xfrm>
            <a:off x="658368" y="4800600"/>
            <a:ext cx="1371600" cy="768096"/>
          </a:xfrm>
          <a:prstGeom prst="rect">
            <a:avLst/>
          </a:prstGeom>
          <a:solidFill>
            <a:srgbClr val="DFE2E5"/>
          </a:solidFill>
          <a:ln w="12700">
            <a:solidFill>
              <a:srgbClr val="DFE2E5"/>
            </a:solidFill>
            <a:prstDash val="solid"/>
          </a:ln>
        </p:spPr>
      </p:sp>
      <p:sp>
        <p:nvSpPr>
          <p:cNvPr id="14" name="Text 12"/>
          <p:cNvSpPr txBox="1"/>
          <p:nvPr/>
        </p:nvSpPr>
        <p:spPr>
          <a:xfrm>
            <a:off x="658368" y="5038344"/>
            <a:ext cx="1371600" cy="292608"/>
          </a:xfrm>
          <a:prstGeom prst="rect">
            <a:avLst/>
          </a:prstGeom>
          <a:noFill/>
          <a:ln/>
        </p:spPr>
        <p:txBody>
          <a:bodyPr wrap="square" lIns="0" tIns="0" rIns="0" bIns="0" rtlCol="0" anchor="t"/>
          <a:lstStyle/>
          <a:p>
            <a:pPr algn="ctr" indent="0" marL="0">
              <a:buNone/>
            </a:pPr>
            <a:r>
              <a:rPr lang="en-US" sz="1400" b="1" dirty="0">
                <a:solidFill>
                  <a:srgbClr val="2B3038"/>
                </a:solidFill>
                <a:latin typeface="Cambria" pitchFamily="34" charset="0"/>
                <a:ea typeface="Cambria" pitchFamily="34" charset="-122"/>
                <a:cs typeface="Cambria" pitchFamily="34" charset="-120"/>
              </a:rPr>
              <a:t>Low</a:t>
            </a:r>
            <a:endParaRPr lang="en-US" sz="1400" dirty="0"/>
          </a:p>
        </p:txBody>
      </p:sp>
      <p:sp>
        <p:nvSpPr>
          <p:cNvPr id="15" name="Text 13"/>
          <p:cNvSpPr txBox="1"/>
          <p:nvPr/>
        </p:nvSpPr>
        <p:spPr>
          <a:xfrm>
            <a:off x="2286000" y="4983480"/>
            <a:ext cx="4846320" cy="566928"/>
          </a:xfrm>
          <a:prstGeom prst="rect">
            <a:avLst/>
          </a:prstGeom>
          <a:noFill/>
          <a:ln/>
        </p:spPr>
        <p:txBody>
          <a:bodyPr wrap="square" lIns="0" tIns="0" rIns="0" bIns="0" rtlCol="0" anchor="t"/>
          <a:lstStyle/>
          <a:p>
            <a:pPr indent="0" marL="0">
              <a:lnSpc>
                <a:spcPts val="1700"/>
              </a:lnSpc>
              <a:buNone/>
            </a:pPr>
            <a:r>
              <a:rPr lang="en-US" sz="1300" dirty="0">
                <a:solidFill>
                  <a:srgbClr val="5E666F"/>
                </a:solidFill>
                <a:latin typeface="Calibri" pitchFamily="34" charset="0"/>
                <a:ea typeface="Calibri" pitchFamily="34" charset="-122"/>
                <a:cs typeface="Calibri" pitchFamily="34" charset="-120"/>
              </a:rPr>
              <a:t>Recorded, and counted in the trend. It never reaches the evidence half of a driver record, because nobody looked at it.</a:t>
            </a:r>
            <a:endParaRPr lang="en-US" sz="1300" dirty="0"/>
          </a:p>
        </p:txBody>
      </p:sp>
      <p:sp>
        <p:nvSpPr>
          <p:cNvPr id="16" name="Shape 14"/>
          <p:cNvSpPr/>
          <p:nvPr/>
        </p:nvSpPr>
        <p:spPr>
          <a:xfrm>
            <a:off x="7589520" y="1783080"/>
            <a:ext cx="3913632" cy="3968496"/>
          </a:xfrm>
          <a:prstGeom prst="rect">
            <a:avLst/>
          </a:prstGeom>
          <a:solidFill>
            <a:srgbClr val="FAEFE7"/>
          </a:solidFill>
          <a:ln w="9525">
            <a:solidFill>
              <a:srgbClr val="FAEFE7"/>
            </a:solidFill>
            <a:prstDash val="solid"/>
          </a:ln>
        </p:spPr>
      </p:sp>
      <p:sp>
        <p:nvSpPr>
          <p:cNvPr id="17" name="Text 15"/>
          <p:cNvSpPr txBox="1"/>
          <p:nvPr/>
        </p:nvSpPr>
        <p:spPr>
          <a:xfrm>
            <a:off x="7863840" y="2011680"/>
            <a:ext cx="3383280" cy="548640"/>
          </a:xfrm>
          <a:prstGeom prst="rect">
            <a:avLst/>
          </a:prstGeom>
          <a:noFill/>
          <a:ln/>
        </p:spPr>
        <p:txBody>
          <a:bodyPr wrap="square" lIns="0" tIns="0" rIns="0" bIns="0" rtlCol="0" anchor="t"/>
          <a:lstStyle/>
          <a:p>
            <a:pPr indent="0" marL="0">
              <a:buNone/>
            </a:pPr>
            <a:r>
              <a:rPr lang="en-US" sz="1500" b="1" dirty="0">
                <a:solidFill>
                  <a:srgbClr val="C8621E"/>
                </a:solidFill>
                <a:latin typeface="Cambria" pitchFamily="34" charset="0"/>
                <a:ea typeface="Cambria" pitchFamily="34" charset="-122"/>
                <a:cs typeface="Cambria" pitchFamily="34" charset="-120"/>
              </a:rPr>
              <a:t>This started out as a filter</a:t>
            </a:r>
            <a:endParaRPr lang="en-US" sz="1500" dirty="0"/>
          </a:p>
        </p:txBody>
      </p:sp>
      <p:sp>
        <p:nvSpPr>
          <p:cNvPr id="18" name="Text 16"/>
          <p:cNvSpPr txBox="1"/>
          <p:nvPr/>
        </p:nvSpPr>
        <p:spPr>
          <a:xfrm>
            <a:off x="7863840" y="2615184"/>
            <a:ext cx="3383280" cy="3017520"/>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Most events are noise, so filter them out and show what is left. That was the agent's design and it was the wrong idea.</a:t>
            </a:r>
            <a:endParaRPr lang="en-US" sz="1250" dirty="0"/>
          </a:p>
          <a:p>
            <a:pPr indent="0" marL="0">
              <a:lnSpc>
                <a:spcPts val="1700"/>
              </a:lnSpc>
              <a:buNone/>
            </a:pPr>
            <a:endParaRPr lang="en-US" sz="1250" dirty="0"/>
          </a:p>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Under it, the worst thing that can happen is that we hid something real, and nobody can check that, because the evidence is the thing we hid.</a:t>
            </a:r>
            <a:endParaRPr lang="en-US" sz="1250" dirty="0"/>
          </a:p>
          <a:p>
            <a:pPr indent="0" marL="0">
              <a:lnSpc>
                <a:spcPts val="1700"/>
              </a:lnSpc>
              <a:buNone/>
            </a:pPr>
            <a:endParaRPr lang="en-US" sz="1250" dirty="0"/>
          </a:p>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Grading moves the worst case to this: we graded a conversation down to a notification. Which somebody can check, because the event is still there.</a:t>
            </a:r>
            <a:endParaRPr lang="en-US" sz="1250" dirty="0"/>
          </a:p>
        </p:txBody>
      </p:sp>
      <p:sp>
        <p:nvSpPr>
          <p:cNvPr id="19" name="Text 17"/>
          <p:cNvSpPr txBox="1"/>
          <p:nvPr/>
        </p:nvSpPr>
        <p:spPr>
          <a:xfrm>
            <a:off x="658368" y="5943600"/>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Severity decides how much attention something needs. A second, separate label decides what kind of event it was: the driver's doing, not their fault, or something they got right.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ACROSS THE STACK</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The device decides what to send, the cloud what to show</a:t>
            </a:r>
            <a:endParaRPr lang="en-US" sz="3000" dirty="0"/>
          </a:p>
        </p:txBody>
      </p:sp>
      <p:sp>
        <p:nvSpPr>
          <p:cNvPr id="4" name="Shape 2"/>
          <p:cNvSpPr/>
          <p:nvPr/>
        </p:nvSpPr>
        <p:spPr>
          <a:xfrm>
            <a:off x="658368" y="1719072"/>
            <a:ext cx="3419856" cy="3602736"/>
          </a:xfrm>
          <a:prstGeom prst="rect">
            <a:avLst/>
          </a:prstGeom>
          <a:solidFill>
            <a:srgbClr val="F2F3F4"/>
          </a:solidFill>
          <a:ln w="9525">
            <a:solidFill>
              <a:srgbClr val="DDE0E3"/>
            </a:solidFill>
            <a:prstDash val="solid"/>
          </a:ln>
        </p:spPr>
      </p:sp>
      <p:sp>
        <p:nvSpPr>
          <p:cNvPr id="5" name="Text 3"/>
          <p:cNvSpPr txBox="1"/>
          <p:nvPr/>
        </p:nvSpPr>
        <p:spPr>
          <a:xfrm>
            <a:off x="914400" y="1920240"/>
            <a:ext cx="2926080" cy="292608"/>
          </a:xfrm>
          <a:prstGeom prst="rect">
            <a:avLst/>
          </a:prstGeom>
          <a:noFill/>
          <a:ln/>
        </p:spPr>
        <p:txBody>
          <a:bodyPr wrap="square" lIns="0" tIns="0" rIns="0" bIns="0" rtlCol="0" anchor="t"/>
          <a:lstStyle/>
          <a:p>
            <a:pPr indent="0" marL="0">
              <a:buNone/>
            </a:pPr>
            <a:r>
              <a:rPr lang="en-US" sz="1500" b="1" dirty="0">
                <a:solidFill>
                  <a:srgbClr val="2B3038"/>
                </a:solidFill>
                <a:latin typeface="Cambria" pitchFamily="34" charset="0"/>
                <a:ea typeface="Cambria" pitchFamily="34" charset="-122"/>
                <a:cs typeface="Cambria" pitchFamily="34" charset="-120"/>
              </a:rPr>
              <a:t>In-cab device</a:t>
            </a:r>
            <a:endParaRPr lang="en-US" sz="1500" dirty="0"/>
          </a:p>
        </p:txBody>
      </p:sp>
      <p:sp>
        <p:nvSpPr>
          <p:cNvPr id="6" name="Text 4"/>
          <p:cNvSpPr txBox="1"/>
          <p:nvPr/>
        </p:nvSpPr>
        <p:spPr>
          <a:xfrm>
            <a:off x="914400" y="2286000"/>
            <a:ext cx="2926080" cy="137160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Detect four behaviours on the device itself, in real time: harsh braking, harsh acceleration, harsh cornering, phone in hand. Attach every signal it has, whichever one set the event off. Keep recording in a loop so a clip can still be fetched days later.</a:t>
            </a:r>
            <a:endParaRPr lang="en-US" sz="1150" dirty="0"/>
          </a:p>
        </p:txBody>
      </p:sp>
      <p:sp>
        <p:nvSpPr>
          <p:cNvPr id="7" name="Text 5"/>
          <p:cNvSpPr txBox="1"/>
          <p:nvPr/>
        </p:nvSpPr>
        <p:spPr>
          <a:xfrm>
            <a:off x="914400" y="3657600"/>
            <a:ext cx="2926080" cy="219456"/>
          </a:xfrm>
          <a:prstGeom prst="rect">
            <a:avLst/>
          </a:prstGeom>
          <a:noFill/>
          <a:ln/>
        </p:spPr>
        <p:txBody>
          <a:bodyPr wrap="square" lIns="0" tIns="0" rIns="0" bIns="0" rtlCol="0" anchor="t"/>
          <a:lstStyle/>
          <a:p>
            <a:pPr indent="0" marL="0">
              <a:buNone/>
            </a:pPr>
            <a:r>
              <a:rPr lang="en-US" sz="950" b="1" spc="120" kern="0" dirty="0">
                <a:solidFill>
                  <a:srgbClr val="C8621E"/>
                </a:solidFill>
                <a:latin typeface="Calibri" pitchFamily="34" charset="0"/>
                <a:ea typeface="Calibri" pitchFamily="34" charset="-122"/>
                <a:cs typeface="Calibri" pitchFamily="34" charset="-120"/>
              </a:rPr>
              <a:t>THE TRADE-OFF</a:t>
            </a:r>
            <a:endParaRPr lang="en-US" sz="950" dirty="0"/>
          </a:p>
        </p:txBody>
      </p:sp>
      <p:sp>
        <p:nvSpPr>
          <p:cNvPr id="8" name="Text 6"/>
          <p:cNvSpPr txBox="1"/>
          <p:nvPr/>
        </p:nvSpPr>
        <p:spPr>
          <a:xfrm>
            <a:off x="914400" y="3913632"/>
            <a:ext cx="2926080" cy="137160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device flags a coarse severity, enough to decide what to push. That is not the grade. Metadata always goes; footage is pushed only for what the device flags high, and for anything collision-grade unconditionally. Everything else waits to be fetched.</a:t>
            </a:r>
            <a:endParaRPr lang="en-US" sz="1150" dirty="0"/>
          </a:p>
        </p:txBody>
      </p:sp>
      <p:sp>
        <p:nvSpPr>
          <p:cNvPr id="9" name="Shape 7"/>
          <p:cNvSpPr/>
          <p:nvPr/>
        </p:nvSpPr>
        <p:spPr>
          <a:xfrm>
            <a:off x="4334256" y="1719072"/>
            <a:ext cx="3419856" cy="3602736"/>
          </a:xfrm>
          <a:prstGeom prst="rect">
            <a:avLst/>
          </a:prstGeom>
          <a:solidFill>
            <a:srgbClr val="F2F3F4"/>
          </a:solidFill>
          <a:ln w="9525">
            <a:solidFill>
              <a:srgbClr val="DDE0E3"/>
            </a:solidFill>
            <a:prstDash val="solid"/>
          </a:ln>
        </p:spPr>
      </p:sp>
      <p:sp>
        <p:nvSpPr>
          <p:cNvPr id="10" name="Text 8"/>
          <p:cNvSpPr txBox="1"/>
          <p:nvPr/>
        </p:nvSpPr>
        <p:spPr>
          <a:xfrm>
            <a:off x="4590288" y="1920240"/>
            <a:ext cx="2926080" cy="292608"/>
          </a:xfrm>
          <a:prstGeom prst="rect">
            <a:avLst/>
          </a:prstGeom>
          <a:noFill/>
          <a:ln/>
        </p:spPr>
        <p:txBody>
          <a:bodyPr wrap="square" lIns="0" tIns="0" rIns="0" bIns="0" rtlCol="0" anchor="t"/>
          <a:lstStyle/>
          <a:p>
            <a:pPr indent="0" marL="0">
              <a:buNone/>
            </a:pPr>
            <a:r>
              <a:rPr lang="en-US" sz="1500" b="1" dirty="0">
                <a:solidFill>
                  <a:srgbClr val="2B3038"/>
                </a:solidFill>
                <a:latin typeface="Cambria" pitchFamily="34" charset="0"/>
                <a:ea typeface="Cambria" pitchFamily="34" charset="-122"/>
                <a:cs typeface="Cambria" pitchFamily="34" charset="-120"/>
              </a:rPr>
              <a:t>Cloud platform</a:t>
            </a:r>
            <a:endParaRPr lang="en-US" sz="1500" dirty="0"/>
          </a:p>
        </p:txBody>
      </p:sp>
      <p:sp>
        <p:nvSpPr>
          <p:cNvPr id="11" name="Text 9"/>
          <p:cNvSpPr txBox="1"/>
          <p:nvPr/>
        </p:nvSpPr>
        <p:spPr>
          <a:xfrm>
            <a:off x="4590288" y="2286000"/>
            <a:ext cx="2926080" cy="137160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Take events in without tripping over duplicates or late arrivals. Group related ones together. Apply the real grade, route it, and record why. Fetch video and never lie about whether it is coming.</a:t>
            </a:r>
            <a:endParaRPr lang="en-US" sz="1150" dirty="0"/>
          </a:p>
        </p:txBody>
      </p:sp>
      <p:sp>
        <p:nvSpPr>
          <p:cNvPr id="12" name="Text 10"/>
          <p:cNvSpPr txBox="1"/>
          <p:nvPr/>
        </p:nvSpPr>
        <p:spPr>
          <a:xfrm>
            <a:off x="4590288" y="3657600"/>
            <a:ext cx="2926080" cy="219456"/>
          </a:xfrm>
          <a:prstGeom prst="rect">
            <a:avLst/>
          </a:prstGeom>
          <a:noFill/>
          <a:ln/>
        </p:spPr>
        <p:txBody>
          <a:bodyPr wrap="square" lIns="0" tIns="0" rIns="0" bIns="0" rtlCol="0" anchor="t"/>
          <a:lstStyle/>
          <a:p>
            <a:pPr indent="0" marL="0">
              <a:buNone/>
            </a:pPr>
            <a:r>
              <a:rPr lang="en-US" sz="950" b="1" spc="120" kern="0" dirty="0">
                <a:solidFill>
                  <a:srgbClr val="C8621E"/>
                </a:solidFill>
                <a:latin typeface="Calibri" pitchFamily="34" charset="0"/>
                <a:ea typeface="Calibri" pitchFamily="34" charset="-122"/>
                <a:cs typeface="Calibri" pitchFamily="34" charset="-120"/>
              </a:rPr>
              <a:t>THE TRADE-OFF</a:t>
            </a:r>
            <a:endParaRPr lang="en-US" sz="950" dirty="0"/>
          </a:p>
        </p:txBody>
      </p:sp>
      <p:sp>
        <p:nvSpPr>
          <p:cNvPr id="13" name="Text 11"/>
          <p:cNvSpPr txBox="1"/>
          <p:nvPr/>
        </p:nvSpPr>
        <p:spPr>
          <a:xfrm>
            <a:off x="4590288" y="3913632"/>
            <a:ext cx="2926080" cy="137160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grade that decides who sees what lives here, never in firmware. These rules will change weekly for the first few months, and a firmware release is far too slow a way to change a number we are guessing at.</a:t>
            </a:r>
            <a:endParaRPr lang="en-US" sz="1150" dirty="0"/>
          </a:p>
        </p:txBody>
      </p:sp>
      <p:sp>
        <p:nvSpPr>
          <p:cNvPr id="14" name="Shape 12"/>
          <p:cNvSpPr/>
          <p:nvPr/>
        </p:nvSpPr>
        <p:spPr>
          <a:xfrm>
            <a:off x="8010144" y="1719072"/>
            <a:ext cx="3419856" cy="3602736"/>
          </a:xfrm>
          <a:prstGeom prst="rect">
            <a:avLst/>
          </a:prstGeom>
          <a:solidFill>
            <a:srgbClr val="F2F3F4"/>
          </a:solidFill>
          <a:ln w="9525">
            <a:solidFill>
              <a:srgbClr val="DDE0E3"/>
            </a:solidFill>
            <a:prstDash val="solid"/>
          </a:ln>
        </p:spPr>
      </p:sp>
      <p:sp>
        <p:nvSpPr>
          <p:cNvPr id="15" name="Text 13"/>
          <p:cNvSpPr txBox="1"/>
          <p:nvPr/>
        </p:nvSpPr>
        <p:spPr>
          <a:xfrm>
            <a:off x="8266176" y="1920240"/>
            <a:ext cx="2926080" cy="292608"/>
          </a:xfrm>
          <a:prstGeom prst="rect">
            <a:avLst/>
          </a:prstGeom>
          <a:noFill/>
          <a:ln/>
        </p:spPr>
        <p:txBody>
          <a:bodyPr wrap="square" lIns="0" tIns="0" rIns="0" bIns="0" rtlCol="0" anchor="t"/>
          <a:lstStyle/>
          <a:p>
            <a:pPr indent="0" marL="0">
              <a:buNone/>
            </a:pPr>
            <a:r>
              <a:rPr lang="en-US" sz="1500" b="1" dirty="0">
                <a:solidFill>
                  <a:srgbClr val="2B3038"/>
                </a:solidFill>
                <a:latin typeface="Cambria" pitchFamily="34" charset="0"/>
                <a:ea typeface="Cambria" pitchFamily="34" charset="-122"/>
                <a:cs typeface="Cambria" pitchFamily="34" charset="-120"/>
              </a:rPr>
              <a:t>Web portal</a:t>
            </a:r>
            <a:endParaRPr lang="en-US" sz="1500" dirty="0"/>
          </a:p>
        </p:txBody>
      </p:sp>
      <p:sp>
        <p:nvSpPr>
          <p:cNvPr id="16" name="Text 14"/>
          <p:cNvSpPr txBox="1"/>
          <p:nvPr/>
        </p:nvSpPr>
        <p:spPr>
          <a:xfrm>
            <a:off x="8266176" y="2286000"/>
            <a:ext cx="2926080" cy="137160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A short, ranked list that can be finished. Honest answers about footage. A way to log a conversation that costs less than not logging it.</a:t>
            </a:r>
            <a:endParaRPr lang="en-US" sz="1150" dirty="0"/>
          </a:p>
        </p:txBody>
      </p:sp>
      <p:sp>
        <p:nvSpPr>
          <p:cNvPr id="17" name="Text 15"/>
          <p:cNvSpPr txBox="1"/>
          <p:nvPr/>
        </p:nvSpPr>
        <p:spPr>
          <a:xfrm>
            <a:off x="8266176" y="3657600"/>
            <a:ext cx="2926080" cy="219456"/>
          </a:xfrm>
          <a:prstGeom prst="rect">
            <a:avLst/>
          </a:prstGeom>
          <a:noFill/>
          <a:ln/>
        </p:spPr>
        <p:txBody>
          <a:bodyPr wrap="square" lIns="0" tIns="0" rIns="0" bIns="0" rtlCol="0" anchor="t"/>
          <a:lstStyle/>
          <a:p>
            <a:pPr indent="0" marL="0">
              <a:buNone/>
            </a:pPr>
            <a:r>
              <a:rPr lang="en-US" sz="950" b="1" spc="120" kern="0" dirty="0">
                <a:solidFill>
                  <a:srgbClr val="C8621E"/>
                </a:solidFill>
                <a:latin typeface="Calibri" pitchFamily="34" charset="0"/>
                <a:ea typeface="Calibri" pitchFamily="34" charset="-122"/>
                <a:cs typeface="Calibri" pitchFamily="34" charset="-120"/>
              </a:rPr>
              <a:t>THE TRADE-OFF</a:t>
            </a:r>
            <a:endParaRPr lang="en-US" sz="950" dirty="0"/>
          </a:p>
        </p:txBody>
      </p:sp>
      <p:sp>
        <p:nvSpPr>
          <p:cNvPr id="18" name="Text 16"/>
          <p:cNvSpPr txBox="1"/>
          <p:nvPr/>
        </p:nvSpPr>
        <p:spPr>
          <a:xfrm>
            <a:off x="8266176" y="3913632"/>
            <a:ext cx="2926080" cy="137160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It ranks nothing itself and offers no settings. Deciding what deserves attention is our job, not a slider we hand to the customer.</a:t>
            </a:r>
            <a:endParaRPr lang="en-US" sz="1150" dirty="0"/>
          </a:p>
        </p:txBody>
      </p:sp>
      <p:sp>
        <p:nvSpPr>
          <p:cNvPr id="19" name="Text 17"/>
          <p:cNvSpPr txBox="1"/>
          <p:nvPr/>
        </p:nvSpPr>
        <p:spPr>
          <a:xfrm>
            <a:off x="658368" y="5742432"/>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The full outline, with constraints, dependencies and the signals a retrofit device may not have, is in the repository.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THE PORTAL, WHERE THE DEPTH GOES</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The manager's week, and everything underneath it</a:t>
            </a:r>
            <a:endParaRPr lang="en-US" sz="3000" dirty="0"/>
          </a:p>
        </p:txBody>
      </p:sp>
      <p:sp>
        <p:nvSpPr>
          <p:cNvPr id="4" name="Text 2"/>
          <p:cNvSpPr txBox="1"/>
          <p:nvPr/>
        </p:nvSpPr>
        <p:spPr>
          <a:xfrm>
            <a:off x="658368" y="1627632"/>
            <a:ext cx="10844784" cy="310896"/>
          </a:xfrm>
          <a:prstGeom prst="rect">
            <a:avLst/>
          </a:prstGeom>
          <a:noFill/>
          <a:ln/>
        </p:spPr>
        <p:txBody>
          <a:bodyPr wrap="square" lIns="0" tIns="0" rIns="0" bIns="0" rtlCol="0" anchor="t"/>
          <a:lstStyle/>
          <a:p>
            <a:pPr indent="0" marL="0">
              <a:buNone/>
            </a:pPr>
            <a:r>
              <a:rPr lang="en-US" sz="1250" dirty="0">
                <a:solidFill>
                  <a:srgbClr val="5E666F"/>
                </a:solidFill>
                <a:latin typeface="Calibri" pitchFamily="34" charset="0"/>
                <a:ea typeface="Calibri" pitchFamily="34" charset="-122"/>
                <a:cs typeface="Calibri" pitchFamily="34" charset="-120"/>
              </a:rPr>
              <a:t>Read left to right: what the manager does. Underneath: the story that makes it work. Rows are releases. </a:t>
            </a:r>
            <a:pPr indent="0" marL="0">
              <a:buNone/>
            </a:pPr>
            <a:r>
              <a:rPr lang="en-US" sz="1250" u="sng" dirty="0">
                <a:solidFill>
                  <a:srgbClr val="C862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Every card in the live version opens its requirement on GitHub</a:t>
            </a:r>
            <a:endParaRPr lang="en-US" sz="1250" dirty="0"/>
          </a:p>
        </p:txBody>
      </p:sp>
      <p:pic>
        <p:nvPicPr>
          <p:cNvPr id="5" name="Image 0" descr="/home/claude/shots/storymap.png">    </p:cNvPr>
          <p:cNvPicPr>
            <a:picLocks noChangeAspect="1"/>
          </p:cNvPicPr>
          <p:nvPr/>
        </p:nvPicPr>
        <p:blipFill>
          <a:blip r:embed="rId2"/>
          <a:stretch>
            <a:fillRect/>
          </a:stretch>
        </p:blipFill>
        <p:spPr>
          <a:xfrm>
            <a:off x="658368" y="2011680"/>
            <a:ext cx="10844784" cy="3986784"/>
          </a:xfrm>
          <a:prstGeom prst="rect">
            <a:avLst/>
          </a:prstGeom>
        </p:spPr>
      </p:pic>
      <p:pic>
        <p:nvPicPr>
          <p:cNvPr id="6" name="Image 1" descr="/home/claude/shots/clear.png">
            <a:hlinkClick r:id="rId4" tooltip="ADR-0012 · platform Four triggers, every signal"/>
          </p:cNvPr>
          <p:cNvPicPr>
            <a:picLocks noChangeAspect="1"/>
          </p:cNvPicPr>
          <p:nvPr/>
        </p:nvPicPr>
        <p:blipFill>
          <a:blip r:embed="rId3"/>
          <a:stretch>
            <a:fillRect/>
          </a:stretch>
        </p:blipFill>
        <p:spPr>
          <a:xfrm>
            <a:off x="1119226" y="2529230"/>
            <a:ext cx="1831543" cy="467258"/>
          </a:xfrm>
          <a:prstGeom prst="rect">
            <a:avLst/>
          </a:prstGeom>
        </p:spPr>
      </p:pic>
      <p:pic>
        <p:nvPicPr>
          <p:cNvPr id="7" name="Image 2" descr="/home/claude/shots/clear.png">
            <a:hlinkClick r:id="rId6" tooltip="ADR-0002 · platform Severity-gated video upload"/>
          </p:cNvPr>
          <p:cNvPicPr>
            <a:picLocks noChangeAspect="1"/>
          </p:cNvPicPr>
          <p:nvPr/>
        </p:nvPicPr>
        <p:blipFill>
          <a:blip r:embed="rId5"/>
          <a:stretch>
            <a:fillRect/>
          </a:stretch>
        </p:blipFill>
        <p:spPr>
          <a:xfrm>
            <a:off x="1119226" y="3031236"/>
            <a:ext cx="1831543" cy="374904"/>
          </a:xfrm>
          <a:prstGeom prst="rect">
            <a:avLst/>
          </a:prstGeom>
        </p:spPr>
      </p:pic>
      <p:pic>
        <p:nvPicPr>
          <p:cNvPr id="8" name="Image 3" descr="/home/claude/shots/clear.png">
            <a:hlinkClick r:id="rId8" tooltip="ADR-0007 · platform Four bands, each with an action"/>
          </p:cNvPr>
          <p:cNvPicPr>
            <a:picLocks noChangeAspect="1"/>
          </p:cNvPicPr>
          <p:nvPr/>
        </p:nvPicPr>
        <p:blipFill>
          <a:blip r:embed="rId7"/>
          <a:stretch>
            <a:fillRect/>
          </a:stretch>
        </p:blipFill>
        <p:spPr>
          <a:xfrm>
            <a:off x="1119226" y="3440887"/>
            <a:ext cx="1831543" cy="374904"/>
          </a:xfrm>
          <a:prstGeom prst="rect">
            <a:avLst/>
          </a:prstGeom>
        </p:spPr>
      </p:pic>
      <p:pic>
        <p:nvPicPr>
          <p:cNvPr id="9" name="Image 4" descr="/home/claude/shots/clear.png">
            <a:hlinkClick r:id="rId10" tooltip="ADR-0010 · platform Risk, neutral or credit"/>
          </p:cNvPr>
          <p:cNvPicPr>
            <a:picLocks noChangeAspect="1"/>
          </p:cNvPicPr>
          <p:nvPr/>
        </p:nvPicPr>
        <p:blipFill>
          <a:blip r:embed="rId9"/>
          <a:stretch>
            <a:fillRect/>
          </a:stretch>
        </p:blipFill>
        <p:spPr>
          <a:xfrm>
            <a:off x="1119226" y="3850538"/>
            <a:ext cx="1831543" cy="374904"/>
          </a:xfrm>
          <a:prstGeom prst="rect">
            <a:avLst/>
          </a:prstGeom>
        </p:spPr>
      </p:pic>
      <p:pic>
        <p:nvPicPr>
          <p:cNvPr id="10" name="Image 5" descr="/home/claude/shots/clear.png">
            <a:hlinkClick r:id="rId12" tooltip="US-001 A weekly set that can be finished"/>
          </p:cNvPr>
          <p:cNvPicPr>
            <a:picLocks noChangeAspect="1"/>
          </p:cNvPicPr>
          <p:nvPr/>
        </p:nvPicPr>
        <p:blipFill>
          <a:blip r:embed="rId11"/>
          <a:stretch>
            <a:fillRect/>
          </a:stretch>
        </p:blipFill>
        <p:spPr>
          <a:xfrm>
            <a:off x="3025750" y="2529230"/>
            <a:ext cx="1686154" cy="374904"/>
          </a:xfrm>
          <a:prstGeom prst="rect">
            <a:avLst/>
          </a:prstGeom>
        </p:spPr>
      </p:pic>
      <p:pic>
        <p:nvPicPr>
          <p:cNvPr id="11" name="Image 6" descr="/home/claude/shots/clear.png">
            <a:hlinkClick r:id="rId14" tooltip="US-002 Critical events bypass the rhythm"/>
          </p:cNvPr>
          <p:cNvPicPr>
            <a:picLocks noChangeAspect="1"/>
          </p:cNvPicPr>
          <p:nvPr/>
        </p:nvPicPr>
        <p:blipFill>
          <a:blip r:embed="rId13"/>
          <a:stretch>
            <a:fillRect/>
          </a:stretch>
        </p:blipFill>
        <p:spPr>
          <a:xfrm>
            <a:off x="3025750" y="2938882"/>
            <a:ext cx="1686154" cy="374904"/>
          </a:xfrm>
          <a:prstGeom prst="rect">
            <a:avLst/>
          </a:prstGeom>
        </p:spPr>
      </p:pic>
      <p:pic>
        <p:nvPicPr>
          <p:cNvPr id="12" name="Image 7" descr="/home/claude/shots/clear.png">
            <a:hlinkClick r:id="rId16" tooltip="US-003 The set closes, visibly"/>
          </p:cNvPr>
          <p:cNvPicPr>
            <a:picLocks noChangeAspect="1"/>
          </p:cNvPicPr>
          <p:nvPr/>
        </p:nvPicPr>
        <p:blipFill>
          <a:blip r:embed="rId15"/>
          <a:stretch>
            <a:fillRect/>
          </a:stretch>
        </p:blipFill>
        <p:spPr>
          <a:xfrm>
            <a:off x="3025750" y="3348533"/>
            <a:ext cx="1686154" cy="374904"/>
          </a:xfrm>
          <a:prstGeom prst="rect">
            <a:avLst/>
          </a:prstGeom>
        </p:spPr>
      </p:pic>
      <p:pic>
        <p:nvPicPr>
          <p:cNvPr id="13" name="Image 8" descr="/home/claude/shots/clear.png">
            <a:hlinkClick r:id="rId18" tooltip="US-004 Dismiss a group with a reason"/>
          </p:cNvPr>
          <p:cNvPicPr>
            <a:picLocks noChangeAspect="1"/>
          </p:cNvPicPr>
          <p:nvPr/>
        </p:nvPicPr>
        <p:blipFill>
          <a:blip r:embed="rId17"/>
          <a:stretch>
            <a:fillRect/>
          </a:stretch>
        </p:blipFill>
        <p:spPr>
          <a:xfrm>
            <a:off x="4785970" y="2529230"/>
            <a:ext cx="1941271" cy="374904"/>
          </a:xfrm>
          <a:prstGeom prst="rect">
            <a:avLst/>
          </a:prstGeom>
        </p:spPr>
      </p:pic>
      <p:pic>
        <p:nvPicPr>
          <p:cNvPr id="14" name="Image 9" descr="/home/claude/shots/clear.png">
            <a:hlinkClick r:id="rId20" tooltip="US-009 Dismiss one, with a reason"/>
          </p:cNvPr>
          <p:cNvPicPr>
            <a:picLocks noChangeAspect="1"/>
          </p:cNvPicPr>
          <p:nvPr/>
        </p:nvPicPr>
        <p:blipFill>
          <a:blip r:embed="rId19"/>
          <a:stretch>
            <a:fillRect/>
          </a:stretch>
        </p:blipFill>
        <p:spPr>
          <a:xfrm>
            <a:off x="4785970" y="2938882"/>
            <a:ext cx="1941271" cy="374904"/>
          </a:xfrm>
          <a:prstGeom prst="rect">
            <a:avLst/>
          </a:prstGeom>
        </p:spPr>
      </p:pic>
      <p:pic>
        <p:nvPicPr>
          <p:cNvPr id="15" name="Image 10" descr="/home/claude/shots/clear.png">
            <a:hlinkClick r:id="rId22" tooltip="US-005 Watch the clip, either side"/>
          </p:cNvPr>
          <p:cNvPicPr>
            <a:picLocks noChangeAspect="1"/>
          </p:cNvPicPr>
          <p:nvPr/>
        </p:nvPicPr>
        <p:blipFill>
          <a:blip r:embed="rId21"/>
          <a:stretch>
            <a:fillRect/>
          </a:stretch>
        </p:blipFill>
        <p:spPr>
          <a:xfrm>
            <a:off x="6802222" y="2529230"/>
            <a:ext cx="977494" cy="374904"/>
          </a:xfrm>
          <a:prstGeom prst="rect">
            <a:avLst/>
          </a:prstGeom>
        </p:spPr>
      </p:pic>
      <p:pic>
        <p:nvPicPr>
          <p:cNvPr id="16" name="Image 11" descr="/home/claude/shots/clear.png">
            <a:hlinkClick r:id="rId24" tooltip="US-006 See why it was graded and classified"/>
          </p:cNvPr>
          <p:cNvPicPr>
            <a:picLocks noChangeAspect="1"/>
          </p:cNvPicPr>
          <p:nvPr/>
        </p:nvPicPr>
        <p:blipFill>
          <a:blip r:embed="rId23"/>
          <a:stretch>
            <a:fillRect/>
          </a:stretch>
        </p:blipFill>
        <p:spPr>
          <a:xfrm>
            <a:off x="6802222" y="2938882"/>
            <a:ext cx="977494" cy="467258"/>
          </a:xfrm>
          <a:prstGeom prst="rect">
            <a:avLst/>
          </a:prstGeom>
        </p:spPr>
      </p:pic>
      <p:pic>
        <p:nvPicPr>
          <p:cNvPr id="17" name="Image 12" descr="/home/claude/shots/clear.png">
            <a:hlinkClick r:id="rId26" tooltip="US-007 Footage states are honest"/>
          </p:cNvPr>
          <p:cNvPicPr>
            <a:picLocks noChangeAspect="1"/>
          </p:cNvPicPr>
          <p:nvPr/>
        </p:nvPicPr>
        <p:blipFill>
          <a:blip r:embed="rId25"/>
          <a:stretch>
            <a:fillRect/>
          </a:stretch>
        </p:blipFill>
        <p:spPr>
          <a:xfrm>
            <a:off x="6802222" y="3440887"/>
            <a:ext cx="977494" cy="374904"/>
          </a:xfrm>
          <a:prstGeom prst="rect">
            <a:avLst/>
          </a:prstGeom>
        </p:spPr>
      </p:pic>
      <p:pic>
        <p:nvPicPr>
          <p:cNvPr id="18" name="Image 13" descr="/home/claude/shots/clear.png">
            <a:hlinkClick r:id="rId28" tooltip="US-008 Resolve who was driving"/>
          </p:cNvPr>
          <p:cNvPicPr>
            <a:picLocks noChangeAspect="1"/>
          </p:cNvPicPr>
          <p:nvPr/>
        </p:nvPicPr>
        <p:blipFill>
          <a:blip r:embed="rId27"/>
          <a:stretch>
            <a:fillRect/>
          </a:stretch>
        </p:blipFill>
        <p:spPr>
          <a:xfrm>
            <a:off x="6802222" y="3850538"/>
            <a:ext cx="977494" cy="374904"/>
          </a:xfrm>
          <a:prstGeom prst="rect">
            <a:avLst/>
          </a:prstGeom>
        </p:spPr>
      </p:pic>
      <p:pic>
        <p:nvPicPr>
          <p:cNvPr id="19" name="Image 14" descr="/home/claude/shots/clear.png">
            <a:hlinkClick r:id="rId30" tooltip="US-010 Log a coaching conversation"/>
          </p:cNvPr>
          <p:cNvPicPr>
            <a:picLocks noChangeAspect="1"/>
          </p:cNvPicPr>
          <p:nvPr/>
        </p:nvPicPr>
        <p:blipFill>
          <a:blip r:embed="rId29"/>
          <a:stretch>
            <a:fillRect/>
          </a:stretch>
        </p:blipFill>
        <p:spPr>
          <a:xfrm>
            <a:off x="7854696" y="2529230"/>
            <a:ext cx="1886407" cy="374904"/>
          </a:xfrm>
          <a:prstGeom prst="rect">
            <a:avLst/>
          </a:prstGeom>
        </p:spPr>
      </p:pic>
      <p:pic>
        <p:nvPicPr>
          <p:cNvPr id="20" name="Image 15" descr="/home/claude/shots/clear.png">
            <a:hlinkClick r:id="rId32" tooltip="US-011 Capture what the driver said"/>
          </p:cNvPr>
          <p:cNvPicPr>
            <a:picLocks noChangeAspect="1"/>
          </p:cNvPicPr>
          <p:nvPr/>
        </p:nvPicPr>
        <p:blipFill>
          <a:blip r:embed="rId31"/>
          <a:stretch>
            <a:fillRect/>
          </a:stretch>
        </p:blipFill>
        <p:spPr>
          <a:xfrm>
            <a:off x="7854696" y="2938882"/>
            <a:ext cx="1886407" cy="374904"/>
          </a:xfrm>
          <a:prstGeom prst="rect">
            <a:avLst/>
          </a:prstGeom>
        </p:spPr>
      </p:pic>
      <p:pic>
        <p:nvPicPr>
          <p:cNvPr id="21" name="Image 16" descr="/home/claude/shots/clear.png">
            <a:hlinkClick r:id="rId34" tooltip="US-012 Confirm recognition"/>
          </p:cNvPr>
          <p:cNvPicPr>
            <a:picLocks noChangeAspect="1"/>
          </p:cNvPicPr>
          <p:nvPr/>
        </p:nvPicPr>
        <p:blipFill>
          <a:blip r:embed="rId33"/>
          <a:stretch>
            <a:fillRect/>
          </a:stretch>
        </p:blipFill>
        <p:spPr>
          <a:xfrm>
            <a:off x="7854696" y="3348533"/>
            <a:ext cx="1886407" cy="374904"/>
          </a:xfrm>
          <a:prstGeom prst="rect">
            <a:avLst/>
          </a:prstGeom>
        </p:spPr>
      </p:pic>
      <p:pic>
        <p:nvPicPr>
          <p:cNvPr id="22" name="Image 17" descr="/home/claude/shots/clear.png">
            <a:hlinkClick r:id="rId36" tooltip="US-013 Send a medium group to the driver"/>
          </p:cNvPr>
          <p:cNvPicPr>
            <a:picLocks noChangeAspect="1"/>
          </p:cNvPicPr>
          <p:nvPr/>
        </p:nvPicPr>
        <p:blipFill>
          <a:blip r:embed="rId35"/>
          <a:stretch>
            <a:fillRect/>
          </a:stretch>
        </p:blipFill>
        <p:spPr>
          <a:xfrm>
            <a:off x="7854696" y="3758184"/>
            <a:ext cx="1886407" cy="374904"/>
          </a:xfrm>
          <a:prstGeom prst="rect">
            <a:avLst/>
          </a:prstGeom>
        </p:spPr>
      </p:pic>
      <p:pic>
        <p:nvPicPr>
          <p:cNvPr id="23" name="Image 18" descr="/home/claude/shots/clear.png">
            <a:hlinkClick r:id="rId38" tooltip="US-014 A driver record showing both sides"/>
          </p:cNvPr>
          <p:cNvPicPr>
            <a:picLocks noChangeAspect="1"/>
          </p:cNvPicPr>
          <p:nvPr/>
        </p:nvPicPr>
        <p:blipFill>
          <a:blip r:embed="rId37"/>
          <a:stretch>
            <a:fillRect/>
          </a:stretch>
        </p:blipFill>
        <p:spPr>
          <a:xfrm>
            <a:off x="9816084" y="2529230"/>
            <a:ext cx="1651406" cy="374904"/>
          </a:xfrm>
          <a:prstGeom prst="rect">
            <a:avLst/>
          </a:prstGeom>
        </p:spPr>
      </p:pic>
      <p:pic>
        <p:nvPicPr>
          <p:cNvPr id="24" name="Image 19" descr="/home/claude/shots/clear.png">
            <a:hlinkClick r:id="rId40" tooltip="US-015 · J-24 A fleet view that does not overstate"/>
          </p:cNvPr>
          <p:cNvPicPr>
            <a:picLocks noChangeAspect="1"/>
          </p:cNvPicPr>
          <p:nvPr/>
        </p:nvPicPr>
        <p:blipFill>
          <a:blip r:embed="rId39"/>
          <a:stretch>
            <a:fillRect/>
          </a:stretch>
        </p:blipFill>
        <p:spPr>
          <a:xfrm>
            <a:off x="9816084" y="4353458"/>
            <a:ext cx="1651406" cy="467258"/>
          </a:xfrm>
          <a:prstGeom prst="rect">
            <a:avLst/>
          </a:prstGeom>
        </p:spPr>
      </p:pic>
      <p:pic>
        <p:nvPicPr>
          <p:cNvPr id="25" name="Image 20" descr="/home/claude/shots/clear.png">
            <a:hlinkClick r:id="rId42" tooltip="ADR-0012 Headway and fatigue"/>
          </p:cNvPr>
          <p:cNvPicPr>
            <a:picLocks noChangeAspect="1"/>
          </p:cNvPicPr>
          <p:nvPr/>
        </p:nvPicPr>
        <p:blipFill>
          <a:blip r:embed="rId41"/>
          <a:stretch>
            <a:fillRect/>
          </a:stretch>
        </p:blipFill>
        <p:spPr>
          <a:xfrm>
            <a:off x="1119226" y="4947818"/>
            <a:ext cx="1831543" cy="467258"/>
          </a:xfrm>
          <a:prstGeom prst="rect">
            <a:avLst/>
          </a:prstGeom>
        </p:spPr>
      </p:pic>
      <p:pic>
        <p:nvPicPr>
          <p:cNvPr id="26" name="Image 21" descr="/home/claude/shots/clear.png">
            <a:hlinkClick r:id="rId44" tooltip="ADR-0009 · R-11 Re-engagement on sustained non-use"/>
          </p:cNvPr>
          <p:cNvPicPr>
            <a:picLocks noChangeAspect="1"/>
          </p:cNvPicPr>
          <p:nvPr/>
        </p:nvPicPr>
        <p:blipFill>
          <a:blip r:embed="rId43"/>
          <a:stretch>
            <a:fillRect/>
          </a:stretch>
        </p:blipFill>
        <p:spPr>
          <a:xfrm>
            <a:off x="3025750" y="4947818"/>
            <a:ext cx="1686154" cy="467258"/>
          </a:xfrm>
          <a:prstGeom prst="rect">
            <a:avLst/>
          </a:prstGeom>
        </p:spPr>
      </p:pic>
      <p:pic>
        <p:nvPicPr>
          <p:cNvPr id="27" name="Image 22" descr="/home/claude/shots/clear.png">
            <a:hlinkClick r:id="rId46" tooltip="ADR-0013 Downgrade audit tooling"/>
          </p:cNvPr>
          <p:cNvPicPr>
            <a:picLocks noChangeAspect="1"/>
          </p:cNvPicPr>
          <p:nvPr/>
        </p:nvPicPr>
        <p:blipFill>
          <a:blip r:embed="rId45"/>
          <a:stretch>
            <a:fillRect/>
          </a:stretch>
        </p:blipFill>
        <p:spPr>
          <a:xfrm>
            <a:off x="4785970" y="4947818"/>
            <a:ext cx="1941271" cy="467258"/>
          </a:xfrm>
          <a:prstGeom prst="rect">
            <a:avLst/>
          </a:prstGeom>
        </p:spPr>
      </p:pic>
      <p:pic>
        <p:nvPicPr>
          <p:cNvPr id="28" name="Image 23" descr="/home/claude/shots/clear.png">
            <a:hlinkClick r:id="rId48" tooltip="ADR-0004 Any driver-facing surface"/>
          </p:cNvPr>
          <p:cNvPicPr>
            <a:picLocks noChangeAspect="1"/>
          </p:cNvPicPr>
          <p:nvPr/>
        </p:nvPicPr>
        <p:blipFill>
          <a:blip r:embed="rId47"/>
          <a:stretch>
            <a:fillRect/>
          </a:stretch>
        </p:blipFill>
        <p:spPr>
          <a:xfrm>
            <a:off x="7854696" y="4947818"/>
            <a:ext cx="1886407" cy="467258"/>
          </a:xfrm>
          <a:prstGeom prst="rect">
            <a:avLst/>
          </a:prstGeom>
        </p:spPr>
      </p:pic>
      <p:pic>
        <p:nvPicPr>
          <p:cNvPr id="29" name="Image 24" descr="/home/claude/shots/clear.png">
            <a:hlinkClick r:id="rId50" tooltip="ADR-0006 · A-16 Depot-manager handover"/>
          </p:cNvPr>
          <p:cNvPicPr>
            <a:picLocks noChangeAspect="1"/>
          </p:cNvPicPr>
          <p:nvPr/>
        </p:nvPicPr>
        <p:blipFill>
          <a:blip r:embed="rId49"/>
          <a:stretch>
            <a:fillRect/>
          </a:stretch>
        </p:blipFill>
        <p:spPr>
          <a:xfrm>
            <a:off x="7854696" y="5449824"/>
            <a:ext cx="1886407" cy="467258"/>
          </a:xfrm>
          <a:prstGeom prst="rect">
            <a:avLst/>
          </a:prstGeom>
        </p:spPr>
      </p:pic>
      <p:sp>
        <p:nvSpPr>
          <p:cNvPr id="30" name="Text 3"/>
          <p:cNvSpPr txBox="1"/>
          <p:nvPr/>
        </p:nvSpPr>
        <p:spPr>
          <a:xfrm>
            <a:off x="658368" y="6217920"/>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Every card here is a link. The first release is a complete walk across the whole row. The bottom row is not a list of things nobody got to: every one is a decision with a record behind it.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REVIEW QUEUE, SCREEN 1 OF 4</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A set that starts full and can be finished</a:t>
            </a:r>
            <a:endParaRPr lang="en-US" sz="3000" dirty="0"/>
          </a:p>
        </p:txBody>
      </p:sp>
      <p:sp>
        <p:nvSpPr>
          <p:cNvPr id="4" name="Text 2"/>
          <p:cNvSpPr txBox="1"/>
          <p:nvPr/>
        </p:nvSpPr>
        <p:spPr>
          <a:xfrm>
            <a:off x="658368" y="1645920"/>
            <a:ext cx="10844784" cy="512064"/>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What you are looking at: the manager's whole week, in a working prototype rather than a design. It is grey and plain because what needed proving is how it behaves. The fixture is a 42-vehicle Dublin fleet.</a:t>
            </a:r>
            <a:endParaRPr lang="en-US" sz="1250" dirty="0"/>
          </a:p>
        </p:txBody>
      </p:sp>
      <p:pic>
        <p:nvPicPr>
          <p:cNvPr id="5" name="Image 0" descr="/home/claude/shots/set.png">    </p:cNvPr>
          <p:cNvPicPr>
            <a:picLocks noChangeAspect="1"/>
          </p:cNvPicPr>
          <p:nvPr/>
        </p:nvPicPr>
        <p:blipFill>
          <a:blip r:embed="rId1"/>
          <a:stretch>
            <a:fillRect/>
          </a:stretch>
        </p:blipFill>
        <p:spPr>
          <a:xfrm>
            <a:off x="658368" y="2231136"/>
            <a:ext cx="5760720" cy="3191256"/>
          </a:xfrm>
          <a:prstGeom prst="rect">
            <a:avLst/>
          </a:prstGeom>
        </p:spPr>
      </p:pic>
      <p:sp>
        <p:nvSpPr>
          <p:cNvPr id="6" name="Text 3"/>
          <p:cNvSpPr txBox="1"/>
          <p:nvPr/>
        </p:nvSpPr>
        <p:spPr>
          <a:xfrm>
            <a:off x="6766560" y="2231136"/>
            <a:ext cx="4773168" cy="274320"/>
          </a:xfrm>
          <a:prstGeom prst="rect">
            <a:avLst/>
          </a:prstGeom>
          <a:noFill/>
          <a:ln/>
        </p:spPr>
        <p:txBody>
          <a:bodyPr wrap="square" lIns="0" tIns="0" rIns="0" bIns="0" rtlCol="0" anchor="t"/>
          <a:lstStyle/>
          <a:p>
            <a:pPr indent="0" marL="0">
              <a:buNone/>
            </a:pPr>
            <a:r>
              <a:rPr lang="en-US" sz="1300" b="1" dirty="0">
                <a:solidFill>
                  <a:srgbClr val="2B3038"/>
                </a:solidFill>
                <a:latin typeface="Cambria" pitchFamily="34" charset="0"/>
                <a:ea typeface="Cambria" pitchFamily="34" charset="-122"/>
                <a:cs typeface="Cambria" pitchFamily="34" charset="-120"/>
              </a:rPr>
              <a:t>Ranked, and it ends</a:t>
            </a:r>
            <a:endParaRPr lang="en-US" sz="1300" dirty="0"/>
          </a:p>
        </p:txBody>
      </p:sp>
      <p:sp>
        <p:nvSpPr>
          <p:cNvPr id="7" name="Text 4"/>
          <p:cNvSpPr txBox="1"/>
          <p:nvPr/>
        </p:nvSpPr>
        <p:spPr>
          <a:xfrm>
            <a:off x="6766560" y="2523744"/>
            <a:ext cx="4773168" cy="676656"/>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A feed is never finished. A list can be cleared, and I would rather design for the state where somebody is done.</a:t>
            </a:r>
            <a:endParaRPr lang="en-US" sz="1150" dirty="0"/>
          </a:p>
        </p:txBody>
      </p:sp>
      <p:sp>
        <p:nvSpPr>
          <p:cNvPr id="8" name="Text 5"/>
          <p:cNvSpPr txBox="1"/>
          <p:nvPr/>
        </p:nvSpPr>
        <p:spPr>
          <a:xfrm>
            <a:off x="6766560" y="3200400"/>
            <a:ext cx="4773168" cy="274320"/>
          </a:xfrm>
          <a:prstGeom prst="rect">
            <a:avLst/>
          </a:prstGeom>
          <a:noFill/>
          <a:ln/>
        </p:spPr>
        <p:txBody>
          <a:bodyPr wrap="square" lIns="0" tIns="0" rIns="0" bIns="0" rtlCol="0" anchor="t"/>
          <a:lstStyle/>
          <a:p>
            <a:pPr indent="0" marL="0">
              <a:buNone/>
            </a:pPr>
            <a:r>
              <a:rPr lang="en-US" sz="1300" b="1" dirty="0">
                <a:solidFill>
                  <a:srgbClr val="2B3038"/>
                </a:solidFill>
                <a:latin typeface="Cambria" pitchFamily="34" charset="0"/>
                <a:ea typeface="Cambria" pitchFamily="34" charset="-122"/>
                <a:cs typeface="Cambria" pitchFamily="34" charset="-120"/>
              </a:rPr>
              <a:t>Nothing is hidden</a:t>
            </a:r>
            <a:endParaRPr lang="en-US" sz="1300" dirty="0"/>
          </a:p>
        </p:txBody>
      </p:sp>
      <p:sp>
        <p:nvSpPr>
          <p:cNvPr id="9" name="Text 6"/>
          <p:cNvSpPr txBox="1"/>
          <p:nvPr/>
        </p:nvSpPr>
        <p:spPr>
          <a:xfrm>
            <a:off x="6766560" y="3493008"/>
            <a:ext cx="4773168" cy="676656"/>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band counts sit on the same screen. 150 of the 161 were routed without the manager this week. They are counted, they can all be opened, and slide 11 is about what they are allowed to be used for.</a:t>
            </a:r>
            <a:endParaRPr lang="en-US" sz="1150" dirty="0"/>
          </a:p>
        </p:txBody>
      </p:sp>
      <p:sp>
        <p:nvSpPr>
          <p:cNvPr id="10" name="Text 7"/>
          <p:cNvSpPr txBox="1"/>
          <p:nvPr/>
        </p:nvSpPr>
        <p:spPr>
          <a:xfrm>
            <a:off x="6766560" y="4169664"/>
            <a:ext cx="4773168" cy="274320"/>
          </a:xfrm>
          <a:prstGeom prst="rect">
            <a:avLst/>
          </a:prstGeom>
          <a:noFill/>
          <a:ln/>
        </p:spPr>
        <p:txBody>
          <a:bodyPr wrap="square" lIns="0" tIns="0" rIns="0" bIns="0" rtlCol="0" anchor="t"/>
          <a:lstStyle/>
          <a:p>
            <a:pPr indent="0" marL="0">
              <a:buNone/>
            </a:pPr>
            <a:r>
              <a:rPr lang="en-US" sz="1300" b="1" dirty="0">
                <a:solidFill>
                  <a:srgbClr val="2B3038"/>
                </a:solidFill>
                <a:latin typeface="Cambria" pitchFamily="34" charset="0"/>
                <a:ea typeface="Cambria" pitchFamily="34" charset="-122"/>
                <a:cs typeface="Cambria" pitchFamily="34" charset="-120"/>
              </a:rPr>
              <a:t>The reason is on the card</a:t>
            </a:r>
            <a:endParaRPr lang="en-US" sz="1300" dirty="0"/>
          </a:p>
        </p:txBody>
      </p:sp>
      <p:sp>
        <p:nvSpPr>
          <p:cNvPr id="11" name="Text 8"/>
          <p:cNvSpPr txBox="1"/>
          <p:nvPr/>
        </p:nvSpPr>
        <p:spPr>
          <a:xfrm>
            <a:off x="6766560" y="4462272"/>
            <a:ext cx="4773168" cy="676656"/>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Proposed as risk: the vehicle ahead was stationary and in view for 4 seconds. Enough to decide whether it is worth opening, before opening it.</a:t>
            </a:r>
            <a:endParaRPr lang="en-US" sz="1150" dirty="0"/>
          </a:p>
        </p:txBody>
      </p:sp>
      <p:sp>
        <p:nvSpPr>
          <p:cNvPr id="12" name="Text 9"/>
          <p:cNvSpPr txBox="1"/>
          <p:nvPr/>
        </p:nvSpPr>
        <p:spPr>
          <a:xfrm>
            <a:off x="6766560" y="5138928"/>
            <a:ext cx="4773168" cy="274320"/>
          </a:xfrm>
          <a:prstGeom prst="rect">
            <a:avLst/>
          </a:prstGeom>
          <a:noFill/>
          <a:ln/>
        </p:spPr>
        <p:txBody>
          <a:bodyPr wrap="square" lIns="0" tIns="0" rIns="0" bIns="0" rtlCol="0" anchor="t"/>
          <a:lstStyle/>
          <a:p>
            <a:pPr indent="0" marL="0">
              <a:buNone/>
            </a:pPr>
            <a:r>
              <a:rPr lang="en-US" sz="1300" b="1" dirty="0">
                <a:solidFill>
                  <a:srgbClr val="2B3038"/>
                </a:solidFill>
                <a:latin typeface="Cambria" pitchFamily="34" charset="0"/>
                <a:ea typeface="Cambria" pitchFamily="34" charset="-122"/>
                <a:cs typeface="Cambria" pitchFamily="34" charset="-120"/>
              </a:rPr>
              <a:t>The first card is where we go next</a:t>
            </a:r>
            <a:endParaRPr lang="en-US" sz="1300" dirty="0"/>
          </a:p>
        </p:txBody>
      </p:sp>
      <p:sp>
        <p:nvSpPr>
          <p:cNvPr id="13" name="Text 10"/>
          <p:cNvSpPr txBox="1"/>
          <p:nvPr/>
        </p:nvSpPr>
        <p:spPr>
          <a:xfrm>
            <a:off x="6766560" y="5431536"/>
            <a:ext cx="4773168" cy="676656"/>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Critical, top of the list. The next three slides follow that one event through to the driver's record.</a:t>
            </a:r>
            <a:endParaRPr lang="en-US" sz="1150" dirty="0"/>
          </a:p>
        </p:txBody>
      </p:sp>
      <p:sp>
        <p:nvSpPr>
          <p:cNvPr id="14" name="Text 11"/>
          <p:cNvSpPr txBox="1"/>
          <p:nvPr/>
        </p:nvSpPr>
        <p:spPr>
          <a:xfrm>
            <a:off x="658368" y="6236208"/>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The fixture runs at 161 events across 42 vehicles in a week, which is 0.55 per vehicle per day: the very bottom of the A-02 range, on purpose. Triage that only earns its keep at 450 events a day would not be worth building.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EVENT REVIEW, SCREEN 2 OF 4</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Everything the device recorded, on one page</a:t>
            </a:r>
            <a:endParaRPr lang="en-US" sz="3000" dirty="0"/>
          </a:p>
        </p:txBody>
      </p:sp>
      <p:sp>
        <p:nvSpPr>
          <p:cNvPr id="4" name="Text 2"/>
          <p:cNvSpPr txBox="1"/>
          <p:nvPr/>
        </p:nvSpPr>
        <p:spPr>
          <a:xfrm>
            <a:off x="658368" y="1645920"/>
            <a:ext cx="10844784" cy="512064"/>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What you are looking at: the first card from the queue, opened. The evidence is laid out as a plain table above the grading, so the manager can check the reasoning rather than take it on trust. The clip sits at the top because nothing below it should be acted on until it has been watched.</a:t>
            </a:r>
            <a:endParaRPr lang="en-US" sz="1250" dirty="0"/>
          </a:p>
        </p:txBody>
      </p:sp>
      <p:pic>
        <p:nvPicPr>
          <p:cNvPr id="5" name="Image 0" descr="/home/claude/shots/event.png">    </p:cNvPr>
          <p:cNvPicPr>
            <a:picLocks noChangeAspect="1"/>
          </p:cNvPicPr>
          <p:nvPr/>
        </p:nvPicPr>
        <p:blipFill>
          <a:blip r:embed="rId1"/>
          <a:stretch>
            <a:fillRect/>
          </a:stretch>
        </p:blipFill>
        <p:spPr>
          <a:xfrm>
            <a:off x="658368" y="2231136"/>
            <a:ext cx="6492240" cy="3593592"/>
          </a:xfrm>
          <a:prstGeom prst="rect">
            <a:avLst/>
          </a:prstGeom>
        </p:spPr>
      </p:pic>
      <p:sp>
        <p:nvSpPr>
          <p:cNvPr id="6" name="Text 3"/>
          <p:cNvSpPr txBox="1"/>
          <p:nvPr/>
        </p:nvSpPr>
        <p:spPr>
          <a:xfrm>
            <a:off x="7461504" y="2286000"/>
            <a:ext cx="4078224" cy="822960"/>
          </a:xfrm>
          <a:prstGeom prst="rect">
            <a:avLst/>
          </a:prstGeom>
          <a:noFill/>
          <a:ln/>
        </p:spPr>
        <p:txBody>
          <a:bodyPr wrap="square" lIns="0" tIns="0" rIns="0" bIns="0" rtlCol="0" anchor="t"/>
          <a:lstStyle/>
          <a:p>
            <a:pPr indent="0" marL="0">
              <a:lnSpc>
                <a:spcPts val="2000"/>
              </a:lnSpc>
              <a:buNone/>
            </a:pPr>
            <a:r>
              <a:rPr lang="en-US" sz="1400" b="1" dirty="0">
                <a:solidFill>
                  <a:srgbClr val="2B3038"/>
                </a:solidFill>
                <a:latin typeface="Cambria" pitchFamily="34" charset="0"/>
                <a:ea typeface="Cambria" pitchFamily="34" charset="-122"/>
                <a:cs typeface="Cambria" pitchFamily="34" charset="-120"/>
              </a:rPr>
              <a:t>The trigger decides that an event exists. It does not decide what evidence the event carries.</a:t>
            </a:r>
            <a:endParaRPr lang="en-US" sz="1400" dirty="0"/>
          </a:p>
        </p:txBody>
      </p:sp>
      <p:sp>
        <p:nvSpPr>
          <p:cNvPr id="7" name="Text 4"/>
          <p:cNvSpPr txBox="1"/>
          <p:nvPr/>
        </p:nvSpPr>
        <p:spPr>
          <a:xfrm>
            <a:off x="7461504" y="3236976"/>
            <a:ext cx="4078224" cy="2743200"/>
          </a:xfrm>
          <a:prstGeom prst="rect">
            <a:avLst/>
          </a:prstGeom>
          <a:noFill/>
          <a:ln/>
        </p:spPr>
        <p:txBody>
          <a:bodyPr wrap="square" lIns="0" tIns="0" rIns="0" bIns="0" rtlCol="0" anchor="t"/>
          <a:lstStyle/>
          <a:p>
            <a:pPr indent="0" marL="0">
              <a:lnSpc>
                <a:spcPts val="1600"/>
              </a:lnSpc>
              <a:buNone/>
            </a:pPr>
            <a:r>
              <a:rPr lang="en-US" sz="1150" dirty="0">
                <a:solidFill>
                  <a:srgbClr val="5E666F"/>
                </a:solidFill>
                <a:latin typeface="Calibri" pitchFamily="34" charset="0"/>
                <a:ea typeface="Calibri" pitchFamily="34" charset="-122"/>
                <a:cs typeface="Calibri" pitchFamily="34" charset="-120"/>
              </a:rPr>
              <a:t>This one was set off by the brake, and the table marks which row did it. A phone-in-hand event arrives with the same table and a different row marked: the accelerometer is sampling either way, so the trace is attached whether or not it was what triggered anything.</a:t>
            </a:r>
            <a:endParaRPr lang="en-US" sz="1150" dirty="0"/>
          </a:p>
          <a:p>
            <a:pPr indent="0" marL="0">
              <a:lnSpc>
                <a:spcPts val="1600"/>
              </a:lnSpc>
              <a:buNone/>
            </a:pPr>
            <a:endParaRPr lang="en-US" sz="1150" dirty="0"/>
          </a:p>
          <a:p>
            <a:pPr indent="0" marL="0">
              <a:lnSpc>
                <a:spcPts val="1600"/>
              </a:lnSpc>
              <a:buNone/>
            </a:pPr>
            <a:r>
              <a:rPr lang="en-US" sz="1150" dirty="0">
                <a:solidFill>
                  <a:srgbClr val="5E666F"/>
                </a:solidFill>
                <a:latin typeface="Calibri" pitchFamily="34" charset="0"/>
                <a:ea typeface="Calibri" pitchFamily="34" charset="-122"/>
                <a:cs typeface="Calibri" pitchFamily="34" charset="-120"/>
              </a:rPr>
              <a:t>That is what lets the same event be read as a mistake or as something done well, without a second detector for each. It is also why the reason for the grade fits in one sentence a driver would accept.</a:t>
            </a:r>
            <a:endParaRPr lang="en-US" sz="1150" dirty="0"/>
          </a:p>
          <a:p>
            <a:pPr indent="0" marL="0">
              <a:lnSpc>
                <a:spcPts val="1600"/>
              </a:lnSpc>
              <a:buNone/>
            </a:pPr>
            <a:endParaRPr lang="en-US" sz="1150" dirty="0"/>
          </a:p>
          <a:p>
            <a:pPr indent="0" marL="0">
              <a:lnSpc>
                <a:spcPts val="1600"/>
              </a:lnSpc>
              <a:buNone/>
            </a:pPr>
            <a:r>
              <a:rPr lang="en-US" sz="1150" dirty="0">
                <a:solidFill>
                  <a:srgbClr val="5E666F"/>
                </a:solidFill>
                <a:latin typeface="Calibri" pitchFamily="34" charset="0"/>
                <a:ea typeface="Calibri" pitchFamily="34" charset="-122"/>
                <a:cs typeface="Calibri" pitchFamily="34" charset="-120"/>
              </a:rPr>
              <a:t>Where an older device cannot spot objects ahead, the panel says so rather than leaving a blank.</a:t>
            </a:r>
            <a:endParaRPr lang="en-US" sz="1150" dirty="0"/>
          </a:p>
        </p:txBody>
      </p:sp>
      <p:sp>
        <p:nvSpPr>
          <p:cNvPr id="8" name="Text 5"/>
          <p:cNvSpPr txBox="1"/>
          <p:nvPr/>
        </p:nvSpPr>
        <p:spPr>
          <a:xfrm>
            <a:off x="658368" y="6126480"/>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Attaching every signal to every event reversed an earlier decision that had cut it out, and two acceptance criteria were already quietly relying on it.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EVENT REVIEW, SCREEN 3 OF 4</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The system proposes. The manager decides. Always.</a:t>
            </a:r>
            <a:endParaRPr lang="en-US" sz="3000" dirty="0"/>
          </a:p>
        </p:txBody>
      </p:sp>
      <p:sp>
        <p:nvSpPr>
          <p:cNvPr id="4" name="Text 2"/>
          <p:cNvSpPr txBox="1"/>
          <p:nvPr/>
        </p:nvSpPr>
        <p:spPr>
          <a:xfrm>
            <a:off x="658368" y="1645920"/>
            <a:ext cx="10844784" cy="512064"/>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What you are looking at: the same event, at the moment the manager takes responsibility for it. The system's suggestion is written in the panel above the buttons, not marked on one of them, so nothing is pre-chosen and agreeing costs exactly what disagreeing costs.</a:t>
            </a:r>
            <a:endParaRPr lang="en-US" sz="1250" dirty="0"/>
          </a:p>
        </p:txBody>
      </p:sp>
      <p:pic>
        <p:nvPicPr>
          <p:cNvPr id="5" name="Image 0" descr="/home/claude/shots/choice.png">    </p:cNvPr>
          <p:cNvPicPr>
            <a:picLocks noChangeAspect="1"/>
          </p:cNvPicPr>
          <p:nvPr/>
        </p:nvPicPr>
        <p:blipFill>
          <a:blip r:embed="rId1"/>
          <a:stretch>
            <a:fillRect/>
          </a:stretch>
        </p:blipFill>
        <p:spPr>
          <a:xfrm>
            <a:off x="658368" y="2249424"/>
            <a:ext cx="10844784" cy="2148840"/>
          </a:xfrm>
          <a:prstGeom prst="rect">
            <a:avLst/>
          </a:prstGeom>
        </p:spPr>
      </p:pic>
      <p:sp>
        <p:nvSpPr>
          <p:cNvPr id="6" name="Shape 3"/>
          <p:cNvSpPr/>
          <p:nvPr/>
        </p:nvSpPr>
        <p:spPr>
          <a:xfrm>
            <a:off x="658368" y="4517136"/>
            <a:ext cx="3419856" cy="1554480"/>
          </a:xfrm>
          <a:prstGeom prst="rect">
            <a:avLst/>
          </a:prstGeom>
          <a:solidFill>
            <a:srgbClr val="F2F3F4"/>
          </a:solidFill>
          <a:ln w="9525">
            <a:solidFill>
              <a:srgbClr val="DDE0E3"/>
            </a:solidFill>
            <a:prstDash val="solid"/>
          </a:ln>
        </p:spPr>
      </p:sp>
      <p:sp>
        <p:nvSpPr>
          <p:cNvPr id="7" name="Text 4"/>
          <p:cNvSpPr txBox="1"/>
          <p:nvPr/>
        </p:nvSpPr>
        <p:spPr>
          <a:xfrm>
            <a:off x="914400" y="4681728"/>
            <a:ext cx="2926080" cy="365760"/>
          </a:xfrm>
          <a:prstGeom prst="rect">
            <a:avLst/>
          </a:prstGeom>
          <a:noFill/>
          <a:ln/>
        </p:spPr>
        <p:txBody>
          <a:bodyPr wrap="square" lIns="0" tIns="0" rIns="0" bIns="0" rtlCol="0" anchor="t"/>
          <a:lstStyle/>
          <a:p>
            <a:pPr indent="0" marL="0">
              <a:buNone/>
            </a:pPr>
            <a:r>
              <a:rPr lang="en-US" sz="1300" b="1" dirty="0">
                <a:solidFill>
                  <a:srgbClr val="2B3038"/>
                </a:solidFill>
                <a:latin typeface="Cambria" pitchFamily="34" charset="0"/>
                <a:ea typeface="Cambria" pitchFamily="34" charset="-122"/>
                <a:cs typeface="Cambria" pitchFamily="34" charset="-120"/>
              </a:rPr>
              <a:t>Nothing is pre-selected</a:t>
            </a:r>
            <a:endParaRPr lang="en-US" sz="1300" dirty="0"/>
          </a:p>
        </p:txBody>
      </p:sp>
      <p:sp>
        <p:nvSpPr>
          <p:cNvPr id="8" name="Text 5"/>
          <p:cNvSpPr txBox="1"/>
          <p:nvPr/>
        </p:nvSpPr>
        <p:spPr>
          <a:xfrm>
            <a:off x="914400" y="5084064"/>
            <a:ext cx="2926080" cy="877824"/>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Whichever way the system leans, the three buttons look identical and sit in the same order every time.</a:t>
            </a:r>
            <a:endParaRPr lang="en-US" sz="1150" dirty="0"/>
          </a:p>
        </p:txBody>
      </p:sp>
      <p:sp>
        <p:nvSpPr>
          <p:cNvPr id="9" name="Shape 6"/>
          <p:cNvSpPr/>
          <p:nvPr/>
        </p:nvSpPr>
        <p:spPr>
          <a:xfrm>
            <a:off x="4334256" y="4517136"/>
            <a:ext cx="3419856" cy="1554480"/>
          </a:xfrm>
          <a:prstGeom prst="rect">
            <a:avLst/>
          </a:prstGeom>
          <a:solidFill>
            <a:srgbClr val="F2F3F4"/>
          </a:solidFill>
          <a:ln w="9525">
            <a:solidFill>
              <a:srgbClr val="DDE0E3"/>
            </a:solidFill>
            <a:prstDash val="solid"/>
          </a:ln>
        </p:spPr>
      </p:sp>
      <p:sp>
        <p:nvSpPr>
          <p:cNvPr id="10" name="Text 7"/>
          <p:cNvSpPr txBox="1"/>
          <p:nvPr/>
        </p:nvSpPr>
        <p:spPr>
          <a:xfrm>
            <a:off x="4590288" y="4681728"/>
            <a:ext cx="2926080" cy="365760"/>
          </a:xfrm>
          <a:prstGeom prst="rect">
            <a:avLst/>
          </a:prstGeom>
          <a:noFill/>
          <a:ln/>
        </p:spPr>
        <p:txBody>
          <a:bodyPr wrap="square" lIns="0" tIns="0" rIns="0" bIns="0" rtlCol="0" anchor="t"/>
          <a:lstStyle/>
          <a:p>
            <a:pPr indent="0" marL="0">
              <a:buNone/>
            </a:pPr>
            <a:r>
              <a:rPr lang="en-US" sz="1300" b="1" dirty="0">
                <a:solidFill>
                  <a:srgbClr val="2B3038"/>
                </a:solidFill>
                <a:latin typeface="Cambria" pitchFamily="34" charset="0"/>
                <a:ea typeface="Cambria" pitchFamily="34" charset="-122"/>
                <a:cs typeface="Cambria" pitchFamily="34" charset="-120"/>
              </a:rPr>
              <a:t>Effort matches consequence</a:t>
            </a:r>
            <a:endParaRPr lang="en-US" sz="1300" dirty="0"/>
          </a:p>
        </p:txBody>
      </p:sp>
      <p:sp>
        <p:nvSpPr>
          <p:cNvPr id="11" name="Text 8"/>
          <p:cNvSpPr txBox="1"/>
          <p:nvPr/>
        </p:nvSpPr>
        <p:spPr>
          <a:xfrm>
            <a:off x="4590288" y="5084064"/>
            <a:ext cx="2926080" cy="877824"/>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Recording something as not the driver's fault needs no clip. Crediting or coaching them does, because those two reach a person.</a:t>
            </a:r>
            <a:endParaRPr lang="en-US" sz="1150" dirty="0"/>
          </a:p>
        </p:txBody>
      </p:sp>
      <p:sp>
        <p:nvSpPr>
          <p:cNvPr id="12" name="Shape 9"/>
          <p:cNvSpPr/>
          <p:nvPr/>
        </p:nvSpPr>
        <p:spPr>
          <a:xfrm>
            <a:off x="8010144" y="4517136"/>
            <a:ext cx="3419856" cy="1554480"/>
          </a:xfrm>
          <a:prstGeom prst="rect">
            <a:avLst/>
          </a:prstGeom>
          <a:solidFill>
            <a:srgbClr val="FAEFE7"/>
          </a:solidFill>
          <a:ln w="9525">
            <a:solidFill>
              <a:srgbClr val="FAEFE7"/>
            </a:solidFill>
            <a:prstDash val="solid"/>
          </a:ln>
        </p:spPr>
      </p:sp>
      <p:sp>
        <p:nvSpPr>
          <p:cNvPr id="13" name="Text 10"/>
          <p:cNvSpPr txBox="1"/>
          <p:nvPr/>
        </p:nvSpPr>
        <p:spPr>
          <a:xfrm>
            <a:off x="8266176" y="4681728"/>
            <a:ext cx="2926080" cy="365760"/>
          </a:xfrm>
          <a:prstGeom prst="rect">
            <a:avLst/>
          </a:prstGeom>
          <a:noFill/>
          <a:ln/>
        </p:spPr>
        <p:txBody>
          <a:bodyPr wrap="square" lIns="0" tIns="0" rIns="0" bIns="0" rtlCol="0" anchor="t"/>
          <a:lstStyle/>
          <a:p>
            <a:pPr indent="0" marL="0">
              <a:buNone/>
            </a:pPr>
            <a:r>
              <a:rPr lang="en-US" sz="1300" b="1" dirty="0">
                <a:solidFill>
                  <a:srgbClr val="C8621E"/>
                </a:solidFill>
                <a:latin typeface="Cambria" pitchFamily="34" charset="0"/>
                <a:ea typeface="Cambria" pitchFamily="34" charset="-122"/>
                <a:cs typeface="Cambria" pitchFamily="34" charset="-120"/>
              </a:rPr>
              <a:t>One click, not two</a:t>
            </a:r>
            <a:endParaRPr lang="en-US" sz="1300" dirty="0"/>
          </a:p>
        </p:txBody>
      </p:sp>
      <p:sp>
        <p:nvSpPr>
          <p:cNvPr id="14" name="Text 11"/>
          <p:cNvSpPr txBox="1"/>
          <p:nvPr/>
        </p:nvSpPr>
        <p:spPr>
          <a:xfrm>
            <a:off x="8266176" y="5084064"/>
            <a:ext cx="2926080" cy="877824"/>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An earlier version asked the manager to confirm the label after choosing it. Building the screen showed that the second click was a receipt, not a decision, so it went.</a:t>
            </a:r>
            <a:endParaRPr lang="en-US" sz="1150" dirty="0"/>
          </a:p>
        </p:txBody>
      </p:sp>
      <p:sp>
        <p:nvSpPr>
          <p:cNvPr id="15" name="Text 12"/>
          <p:cNvSpPr txBox="1"/>
          <p:nvPr/>
        </p:nvSpPr>
        <p:spPr>
          <a:xfrm>
            <a:off x="658368" y="6199632"/>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Not the driver's fault is the dangerous label. It removes a conversation, and nobody goes looking for conversations that never happened.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COACHING, SCREEN 4 OF 4</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Evidence and trend, kept apart</a:t>
            </a:r>
            <a:endParaRPr lang="en-US" sz="3000" dirty="0"/>
          </a:p>
        </p:txBody>
      </p:sp>
      <p:sp>
        <p:nvSpPr>
          <p:cNvPr id="4" name="Text 2"/>
          <p:cNvSpPr txBox="1"/>
          <p:nvPr/>
        </p:nvSpPr>
        <p:spPr>
          <a:xfrm>
            <a:off x="658368" y="1645920"/>
            <a:ext cx="10844784" cy="512064"/>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What you are looking at: the record of the driver whose event we just classified, part-way through the week. This is the page a manager would turn round and show them, so every line on it has to be defensible to the person it is about.</a:t>
            </a:r>
            <a:endParaRPr lang="en-US" sz="1250" dirty="0"/>
          </a:p>
        </p:txBody>
      </p:sp>
      <p:pic>
        <p:nvPicPr>
          <p:cNvPr id="5" name="Image 0" descr="/home/claude/shots/driver.png">    </p:cNvPr>
          <p:cNvPicPr>
            <a:picLocks noChangeAspect="1"/>
          </p:cNvPicPr>
          <p:nvPr/>
        </p:nvPicPr>
        <p:blipFill>
          <a:blip r:embed="rId1"/>
          <a:stretch>
            <a:fillRect/>
          </a:stretch>
        </p:blipFill>
        <p:spPr>
          <a:xfrm>
            <a:off x="658368" y="2231136"/>
            <a:ext cx="6492240" cy="2724912"/>
          </a:xfrm>
          <a:prstGeom prst="rect">
            <a:avLst/>
          </a:prstGeom>
        </p:spPr>
      </p:pic>
      <p:sp>
        <p:nvSpPr>
          <p:cNvPr id="6" name="Text 3"/>
          <p:cNvSpPr txBox="1"/>
          <p:nvPr/>
        </p:nvSpPr>
        <p:spPr>
          <a:xfrm>
            <a:off x="7461504" y="2286000"/>
            <a:ext cx="4078224" cy="292608"/>
          </a:xfrm>
          <a:prstGeom prst="rect">
            <a:avLst/>
          </a:prstGeom>
          <a:noFill/>
          <a:ln/>
        </p:spPr>
        <p:txBody>
          <a:bodyPr wrap="square" lIns="0" tIns="0" rIns="0" bIns="0" rtlCol="0" anchor="t"/>
          <a:lstStyle/>
          <a:p>
            <a:pPr indent="0" marL="0">
              <a:buNone/>
            </a:pPr>
            <a:r>
              <a:rPr lang="en-US" sz="1350" b="1" dirty="0">
                <a:solidFill>
                  <a:srgbClr val="C8621E"/>
                </a:solidFill>
                <a:latin typeface="Cambria" pitchFamily="34" charset="0"/>
                <a:ea typeface="Cambria" pitchFamily="34" charset="-122"/>
                <a:cs typeface="Cambria" pitchFamily="34" charset="-120"/>
              </a:rPr>
              <a:t>The flaw this fixes</a:t>
            </a:r>
            <a:endParaRPr lang="en-US" sz="1350" dirty="0"/>
          </a:p>
        </p:txBody>
      </p:sp>
      <p:sp>
        <p:nvSpPr>
          <p:cNvPr id="7" name="Text 4"/>
          <p:cNvSpPr txBox="1"/>
          <p:nvPr/>
        </p:nvSpPr>
        <p:spPr>
          <a:xfrm>
            <a:off x="7461504" y="2615184"/>
            <a:ext cx="4078224" cy="1024128"/>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Two decisions taken three days apart said every event counts towards the driver record, and no outcome is recorded until a human classifies it. Both are right. Together they put 150 of 161 events, unreviewed, onto driver records.</a:t>
            </a:r>
            <a:endParaRPr lang="en-US" sz="1150" dirty="0"/>
          </a:p>
        </p:txBody>
      </p:sp>
      <p:sp>
        <p:nvSpPr>
          <p:cNvPr id="8" name="Text 5"/>
          <p:cNvSpPr txBox="1"/>
          <p:nvPr/>
        </p:nvSpPr>
        <p:spPr>
          <a:xfrm>
            <a:off x="7461504" y="3675888"/>
            <a:ext cx="4078224" cy="292608"/>
          </a:xfrm>
          <a:prstGeom prst="rect">
            <a:avLst/>
          </a:prstGeom>
          <a:noFill/>
          <a:ln/>
        </p:spPr>
        <p:txBody>
          <a:bodyPr wrap="square" lIns="0" tIns="0" rIns="0" bIns="0" rtlCol="0" anchor="t"/>
          <a:lstStyle/>
          <a:p>
            <a:pPr indent="0" marL="0">
              <a:buNone/>
            </a:pPr>
            <a:r>
              <a:rPr lang="en-US" sz="1350" b="1" dirty="0">
                <a:solidFill>
                  <a:srgbClr val="2B3038"/>
                </a:solidFill>
                <a:latin typeface="Cambria" pitchFamily="34" charset="0"/>
                <a:ea typeface="Cambria" pitchFamily="34" charset="-122"/>
                <a:cs typeface="Cambria" pitchFamily="34" charset="-120"/>
              </a:rPr>
              <a:t>The top half is evidence</a:t>
            </a:r>
            <a:endParaRPr lang="en-US" sz="1350" dirty="0"/>
          </a:p>
        </p:txBody>
      </p:sp>
      <p:sp>
        <p:nvSpPr>
          <p:cNvPr id="9" name="Text 6"/>
          <p:cNvSpPr txBox="1"/>
          <p:nvPr/>
        </p:nvSpPr>
        <p:spPr>
          <a:xfrm>
            <a:off x="7461504" y="4005072"/>
            <a:ext cx="4078224" cy="1024128"/>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Only events a person opened and labelled. Nothing else appears there, so any of it can be shown to the driver as it stands.</a:t>
            </a:r>
            <a:endParaRPr lang="en-US" sz="1150" dirty="0"/>
          </a:p>
        </p:txBody>
      </p:sp>
      <p:sp>
        <p:nvSpPr>
          <p:cNvPr id="10" name="Text 7"/>
          <p:cNvSpPr txBox="1"/>
          <p:nvPr/>
        </p:nvSpPr>
        <p:spPr>
          <a:xfrm>
            <a:off x="7461504" y="4700016"/>
            <a:ext cx="4078224" cy="292608"/>
          </a:xfrm>
          <a:prstGeom prst="rect">
            <a:avLst/>
          </a:prstGeom>
          <a:noFill/>
          <a:ln/>
        </p:spPr>
        <p:txBody>
          <a:bodyPr wrap="square" lIns="0" tIns="0" rIns="0" bIns="0" rtlCol="0" anchor="t"/>
          <a:lstStyle/>
          <a:p>
            <a:pPr indent="0" marL="0">
              <a:buNone/>
            </a:pPr>
            <a:r>
              <a:rPr lang="en-US" sz="1350" b="1" dirty="0">
                <a:solidFill>
                  <a:srgbClr val="2B3038"/>
                </a:solidFill>
                <a:latin typeface="Cambria" pitchFamily="34" charset="0"/>
                <a:ea typeface="Cambria" pitchFamily="34" charset="-122"/>
                <a:cs typeface="Cambria" pitchFamily="34" charset="-120"/>
              </a:rPr>
              <a:t>The bottom half is the trend</a:t>
            </a:r>
            <a:endParaRPr lang="en-US" sz="1350" dirty="0"/>
          </a:p>
        </p:txBody>
      </p:sp>
      <p:sp>
        <p:nvSpPr>
          <p:cNvPr id="11" name="Text 8"/>
          <p:cNvSpPr txBox="1"/>
          <p:nvPr/>
        </p:nvSpPr>
        <p:spPr>
          <a:xfrm>
            <a:off x="7461504" y="5029200"/>
            <a:ext cx="4078224" cy="1024128"/>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Every event, including the ones nobody looked at, with that count stated on its face. It feeds the rate over time. It is not something to raise in a conversation.</a:t>
            </a:r>
            <a:endParaRPr lang="en-US" sz="1150" dirty="0"/>
          </a:p>
        </p:txBody>
      </p:sp>
      <p:sp>
        <p:nvSpPr>
          <p:cNvPr id="12" name="Text 9"/>
          <p:cNvSpPr txBox="1"/>
          <p:nvPr/>
        </p:nvSpPr>
        <p:spPr>
          <a:xfrm>
            <a:off x="658368" y="6071616"/>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Nothing unreviewed is ever used in a conversation with a driver. Everything is used in the trend, and the trend says so. That is ADR-0015, written after a review pass found the contradiction.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ONE REQUIREMENT, IN FULL</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What ready to build means here</a:t>
            </a:r>
            <a:endParaRPr lang="en-US" sz="3000" dirty="0"/>
          </a:p>
        </p:txBody>
      </p:sp>
      <p:sp>
        <p:nvSpPr>
          <p:cNvPr id="4" name="Text 2"/>
          <p:cNvSpPr txBox="1"/>
          <p:nvPr/>
        </p:nvSpPr>
        <p:spPr>
          <a:xfrm>
            <a:off x="658368" y="1645920"/>
            <a:ext cx="10844784" cy="310896"/>
          </a:xfrm>
          <a:prstGeom prst="rect">
            <a:avLst/>
          </a:prstGeom>
          <a:noFill/>
          <a:ln/>
        </p:spPr>
        <p:txBody>
          <a:bodyPr wrap="square" lIns="0" tIns="0" rIns="0" bIns="0" rtlCol="0" anchor="t"/>
          <a:lstStyle/>
          <a:p>
            <a:pPr indent="0" marL="0">
              <a:buNone/>
            </a:pPr>
            <a:r>
              <a:rPr lang="en-US" sz="1500" b="1" u="sng" dirty="0">
                <a:solidFill>
                  <a:srgbClr val="C862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US-010</a:t>
            </a:r>
            <a:pPr indent="0" marL="0">
              <a:buNone/>
            </a:pPr>
            <a:r>
              <a:rPr lang="en-US" sz="1500" b="1" dirty="0">
                <a:solidFill>
                  <a:srgbClr val="2B3038"/>
                </a:solidFill>
                <a:latin typeface="Cambria" pitchFamily="34" charset="0"/>
                <a:ea typeface="Cambria" pitchFamily="34" charset="-122"/>
                <a:cs typeface="Cambria" pitchFamily="34" charset="-120"/>
              </a:rPr>
              <a:t>   Record a coaching conversation from the clip</a:t>
            </a:r>
            <a:endParaRPr lang="en-US" sz="1500" dirty="0"/>
          </a:p>
        </p:txBody>
      </p:sp>
      <p:sp>
        <p:nvSpPr>
          <p:cNvPr id="5" name="Text 3"/>
          <p:cNvSpPr txBox="1"/>
          <p:nvPr/>
        </p:nvSpPr>
        <p:spPr>
          <a:xfrm>
            <a:off x="658368" y="2011680"/>
            <a:ext cx="10844784" cy="402336"/>
          </a:xfrm>
          <a:prstGeom prst="rect">
            <a:avLst/>
          </a:prstGeom>
          <a:noFill/>
          <a:ln/>
        </p:spPr>
        <p:txBody>
          <a:bodyPr wrap="square" lIns="0" tIns="0" rIns="0" bIns="0" rtlCol="0" anchor="t"/>
          <a:lstStyle/>
          <a:p>
            <a:pPr indent="0" marL="0">
              <a:buNone/>
            </a:pPr>
            <a:r>
              <a:rPr lang="en-US" sz="1300" dirty="0">
                <a:solidFill>
                  <a:srgbClr val="5E666F"/>
                </a:solidFill>
                <a:latin typeface="Calibri" pitchFamily="34" charset="0"/>
                <a:ea typeface="Calibri" pitchFamily="34" charset="-122"/>
                <a:cs typeface="Calibri" pitchFamily="34" charset="-120"/>
              </a:rPr>
              <a:t>As a fleet manager I want to log the conversation in one step while I am looking at the footage, so that recording it costs less than not recording it.</a:t>
            </a:r>
            <a:endParaRPr lang="en-US" sz="1300" dirty="0"/>
          </a:p>
        </p:txBody>
      </p:sp>
      <p:sp>
        <p:nvSpPr>
          <p:cNvPr id="6" name="Shape 4"/>
          <p:cNvSpPr/>
          <p:nvPr/>
        </p:nvSpPr>
        <p:spPr>
          <a:xfrm>
            <a:off x="658368" y="2615184"/>
            <a:ext cx="10844784" cy="2615184"/>
          </a:xfrm>
          <a:prstGeom prst="rect">
            <a:avLst/>
          </a:prstGeom>
          <a:solidFill>
            <a:srgbClr val="F2F3F4"/>
          </a:solidFill>
          <a:ln w="9525">
            <a:solidFill>
              <a:srgbClr val="DDE0E3"/>
            </a:solidFill>
            <a:prstDash val="solid"/>
          </a:ln>
        </p:spPr>
      </p:sp>
      <p:sp>
        <p:nvSpPr>
          <p:cNvPr id="7" name="Text 5"/>
          <p:cNvSpPr txBox="1"/>
          <p:nvPr/>
        </p:nvSpPr>
        <p:spPr>
          <a:xfrm>
            <a:off x="969264" y="2834640"/>
            <a:ext cx="10222992" cy="219456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00" dirty="0">
                <a:solidFill>
                  <a:srgbClr val="5E666F"/>
                </a:solidFill>
                <a:latin typeface="Calibri" pitchFamily="34" charset="0"/>
                <a:ea typeface="Calibri" pitchFamily="34" charset="-122"/>
                <a:cs typeface="Calibri" pitchFamily="34" charset="-120"/>
              </a:rPr>
              <a:t>Given the manager has not played the clip, when they try to log a conversation, then the action is unavailable and reads: Watch the clip before recording a conversation.</a:t>
            </a:r>
            <a:endParaRPr lang="en-US" sz="1200" dirty="0"/>
          </a:p>
          <a:p>
            <a:pPr marL="342900" indent="-342900">
              <a:lnSpc>
                <a:spcPts val="1600"/>
              </a:lnSpc>
              <a:spcAft>
                <a:spcPts val="700"/>
              </a:spcAft>
              <a:buSzPct val="100000"/>
              <a:buChar char="•"/>
            </a:pPr>
            <a:r>
              <a:rPr lang="en-US" sz="1200" dirty="0">
                <a:solidFill>
                  <a:srgbClr val="5E666F"/>
                </a:solidFill>
                <a:latin typeface="Calibri" pitchFamily="34" charset="0"/>
                <a:ea typeface="Calibri" pitchFamily="34" charset="-122"/>
                <a:cs typeface="Calibri" pitchFamily="34" charset="-120"/>
              </a:rPr>
              <a:t>Given the manager logs a conversation, then three fields are required: the behaviour, what you talked about, and what you agreed.</a:t>
            </a:r>
            <a:endParaRPr lang="en-US" sz="1200" dirty="0"/>
          </a:p>
          <a:p>
            <a:pPr marL="342900" indent="-342900">
              <a:lnSpc>
                <a:spcPts val="1600"/>
              </a:lnSpc>
              <a:spcAft>
                <a:spcPts val="700"/>
              </a:spcAft>
              <a:buSzPct val="100000"/>
              <a:buChar char="•"/>
            </a:pPr>
            <a:r>
              <a:rPr lang="en-US" sz="1200" dirty="0">
                <a:solidFill>
                  <a:srgbClr val="5E666F"/>
                </a:solidFill>
                <a:latin typeface="Calibri" pitchFamily="34" charset="0"/>
                <a:ea typeface="Calibri" pitchFamily="34" charset="-122"/>
                <a:cs typeface="Calibri" pitchFamily="34" charset="-120"/>
              </a:rPr>
              <a:t>Given any of the three is empty, when they try to save, then the action is unavailable. Spoke to driver is explicitly not an acceptable record. It is the box-ticking this requirement exists to prevent.</a:t>
            </a:r>
            <a:endParaRPr lang="en-US" sz="1200" dirty="0"/>
          </a:p>
          <a:p>
            <a:pPr marL="342900" indent="-342900">
              <a:lnSpc>
                <a:spcPts val="1600"/>
              </a:lnSpc>
              <a:spcAft>
                <a:spcPts val="700"/>
              </a:spcAft>
              <a:buSzPct val="100000"/>
              <a:buChar char="•"/>
            </a:pPr>
            <a:r>
              <a:rPr lang="en-US" sz="1200" dirty="0">
                <a:solidFill>
                  <a:srgbClr val="5E666F"/>
                </a:solidFill>
                <a:latin typeface="Calibri" pitchFamily="34" charset="0"/>
                <a:ea typeface="Calibri" pitchFamily="34" charset="-122"/>
                <a:cs typeface="Calibri" pitchFamily="34" charset="-120"/>
              </a:rPr>
              <a:t>Given a record is saved, then it holds the clip reference, what was discussed and agreed, and the driver's response. Enough for somebody else to see what happened, rather than that something happened.</a:t>
            </a:r>
            <a:endParaRPr lang="en-US" sz="1200" dirty="0"/>
          </a:p>
          <a:p>
            <a:pPr marL="342900" indent="-342900">
              <a:lnSpc>
                <a:spcPts val="1600"/>
              </a:lnSpc>
              <a:spcAft>
                <a:spcPts val="700"/>
              </a:spcAft>
              <a:buSzPct val="100000"/>
              <a:buChar char="•"/>
            </a:pPr>
            <a:r>
              <a:rPr lang="en-US" sz="1200" dirty="0">
                <a:solidFill>
                  <a:srgbClr val="5E666F"/>
                </a:solidFill>
                <a:latin typeface="Calibri" pitchFamily="34" charset="0"/>
                <a:ea typeface="Calibri" pitchFamily="34" charset="-122"/>
                <a:cs typeface="Calibri" pitchFamily="34" charset="-120"/>
              </a:rPr>
              <a:t>Given a record is created, then it attaches to the driver, the event and the footage, and can be pulled up as one thing the manager could show the driver.</a:t>
            </a:r>
            <a:endParaRPr lang="en-US" sz="1200" dirty="0"/>
          </a:p>
        </p:txBody>
      </p:sp>
      <p:sp>
        <p:nvSpPr>
          <p:cNvPr id="8" name="Text 6"/>
          <p:cNvSpPr txBox="1"/>
          <p:nvPr/>
        </p:nvSpPr>
        <p:spPr>
          <a:xfrm>
            <a:off x="658368" y="5413248"/>
            <a:ext cx="10844784" cy="731520"/>
          </a:xfrm>
          <a:prstGeom prst="rect">
            <a:avLst/>
          </a:prstGeom>
          <a:noFill/>
          <a:ln/>
        </p:spPr>
        <p:txBody>
          <a:bodyPr wrap="square" lIns="0" tIns="0" rIns="0" bIns="0" rtlCol="0" anchor="t"/>
          <a:lstStyle/>
          <a:p>
            <a:pPr indent="0" marL="0">
              <a:lnSpc>
                <a:spcPts val="1600"/>
              </a:lnSpc>
              <a:buNone/>
            </a:pPr>
            <a:r>
              <a:rPr lang="en-US" sz="1200" b="1" dirty="0">
                <a:solidFill>
                  <a:srgbClr val="5E666F"/>
                </a:solidFill>
                <a:latin typeface="Calibri" pitchFamily="34" charset="0"/>
                <a:ea typeface="Calibri" pitchFamily="34" charset="-122"/>
                <a:cs typeface="Calibri" pitchFamily="34" charset="-120"/>
              </a:rPr>
              <a:t>Splitting one free-text box into two is a change the prototype forced. </a:t>
            </a:r>
            <a:pPr indent="0" marL="0">
              <a:lnSpc>
                <a:spcPts val="1600"/>
              </a:lnSpc>
              <a:buNone/>
            </a:pPr>
            <a:r>
              <a:rPr lang="en-US" sz="1200" dirty="0">
                <a:solidFill>
                  <a:srgbClr val="5E666F"/>
                </a:solidFill>
                <a:latin typeface="Calibri" pitchFamily="34" charset="0"/>
                <a:ea typeface="Calibri" pitchFamily="34" charset="-122"/>
                <a:cs typeface="Calibri" pitchFamily="34" charset="-120"/>
              </a:rPr>
              <a:t>You cannot make a form check whether somebody meant it. What you can do is ask the two questions the conversation actually has, because a phrase that describes neither cannot fill both boxes. All fifteen stories are written to this standard, and the wording quoted inside a criterion is the wording that ships.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PRIORITISATION AND PHASING</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The first release is a thin whole loop</a:t>
            </a:r>
            <a:endParaRPr lang="en-US" sz="3000" dirty="0"/>
          </a:p>
        </p:txBody>
      </p:sp>
      <p:sp>
        <p:nvSpPr>
          <p:cNvPr id="4" name="Shape 2"/>
          <p:cNvSpPr/>
          <p:nvPr/>
        </p:nvSpPr>
        <p:spPr>
          <a:xfrm>
            <a:off x="658368" y="1737360"/>
            <a:ext cx="3419856" cy="2286000"/>
          </a:xfrm>
          <a:prstGeom prst="rect">
            <a:avLst/>
          </a:prstGeom>
          <a:solidFill>
            <a:srgbClr val="F2F3F4"/>
          </a:solidFill>
          <a:ln w="9525">
            <a:solidFill>
              <a:srgbClr val="DDE0E3"/>
            </a:solidFill>
            <a:prstDash val="solid"/>
          </a:ln>
        </p:spPr>
      </p:sp>
      <p:sp>
        <p:nvSpPr>
          <p:cNvPr id="5" name="Text 3"/>
          <p:cNvSpPr txBox="1"/>
          <p:nvPr/>
        </p:nvSpPr>
        <p:spPr>
          <a:xfrm>
            <a:off x="914400" y="1938528"/>
            <a:ext cx="2926080" cy="292608"/>
          </a:xfrm>
          <a:prstGeom prst="rect">
            <a:avLst/>
          </a:prstGeom>
          <a:noFill/>
          <a:ln/>
        </p:spPr>
        <p:txBody>
          <a:bodyPr wrap="square" lIns="0" tIns="0" rIns="0" bIns="0" rtlCol="0" anchor="t"/>
          <a:lstStyle/>
          <a:p>
            <a:pPr indent="0" marL="0">
              <a:buNone/>
            </a:pPr>
            <a:r>
              <a:rPr lang="en-US" sz="1400" b="1" dirty="0">
                <a:solidFill>
                  <a:srgbClr val="2B3038"/>
                </a:solidFill>
                <a:latin typeface="Cambria" pitchFamily="34" charset="0"/>
                <a:ea typeface="Cambria" pitchFamily="34" charset="-122"/>
                <a:cs typeface="Cambria" pitchFamily="34" charset="-120"/>
              </a:rPr>
              <a:t>What ships first</a:t>
            </a:r>
            <a:endParaRPr lang="en-US" sz="1400" dirty="0"/>
          </a:p>
        </p:txBody>
      </p:sp>
      <p:sp>
        <p:nvSpPr>
          <p:cNvPr id="6" name="Text 4"/>
          <p:cNvSpPr txBox="1"/>
          <p:nvPr/>
        </p:nvSpPr>
        <p:spPr>
          <a:xfrm>
            <a:off x="914400" y="2304288"/>
            <a:ext cx="2926080" cy="1572768"/>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14 of 15 stories. A manager with a queue and no way to act on it has a better dashboard. A manager with a coaching form and no triage has the firehose with extra steps. Neither half is worth shipping on its own.</a:t>
            </a:r>
            <a:endParaRPr lang="en-US" sz="1150" dirty="0"/>
          </a:p>
        </p:txBody>
      </p:sp>
      <p:sp>
        <p:nvSpPr>
          <p:cNvPr id="7" name="Shape 5"/>
          <p:cNvSpPr/>
          <p:nvPr/>
        </p:nvSpPr>
        <p:spPr>
          <a:xfrm>
            <a:off x="4334256" y="1737360"/>
            <a:ext cx="3419856" cy="2286000"/>
          </a:xfrm>
          <a:prstGeom prst="rect">
            <a:avLst/>
          </a:prstGeom>
          <a:solidFill>
            <a:srgbClr val="F2F3F4"/>
          </a:solidFill>
          <a:ln w="9525">
            <a:solidFill>
              <a:srgbClr val="DDE0E3"/>
            </a:solidFill>
            <a:prstDash val="solid"/>
          </a:ln>
        </p:spPr>
      </p:sp>
      <p:sp>
        <p:nvSpPr>
          <p:cNvPr id="8" name="Text 6"/>
          <p:cNvSpPr txBox="1"/>
          <p:nvPr/>
        </p:nvSpPr>
        <p:spPr>
          <a:xfrm>
            <a:off x="4590288" y="1938528"/>
            <a:ext cx="2926080" cy="292608"/>
          </a:xfrm>
          <a:prstGeom prst="rect">
            <a:avLst/>
          </a:prstGeom>
          <a:noFill/>
          <a:ln/>
        </p:spPr>
        <p:txBody>
          <a:bodyPr wrap="square" lIns="0" tIns="0" rIns="0" bIns="0" rtlCol="0" anchor="t"/>
          <a:lstStyle/>
          <a:p>
            <a:pPr indent="0" marL="0">
              <a:buNone/>
            </a:pPr>
            <a:r>
              <a:rPr lang="en-US" sz="1400" b="1" dirty="0">
                <a:solidFill>
                  <a:srgbClr val="2B3038"/>
                </a:solidFill>
                <a:latin typeface="Cambria" pitchFamily="34" charset="0"/>
                <a:ea typeface="Cambria" pitchFamily="34" charset="-122"/>
                <a:cs typeface="Cambria" pitchFamily="34" charset="-120"/>
              </a:rPr>
              <a:t>What waits, and why</a:t>
            </a:r>
            <a:endParaRPr lang="en-US" sz="1400" dirty="0"/>
          </a:p>
        </p:txBody>
      </p:sp>
      <p:sp>
        <p:nvSpPr>
          <p:cNvPr id="9" name="Text 7"/>
          <p:cNvSpPr txBox="1"/>
          <p:nvPr/>
        </p:nvSpPr>
        <p:spPr>
          <a:xfrm>
            <a:off x="4590288" y="2304288"/>
            <a:ext cx="2926080" cy="1572768"/>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Only the fleet-wide view. A trend drawn over four weeks of something as rare as a collision can only mislead, and one misleading number makes every other number on the page suspect.</a:t>
            </a:r>
            <a:endParaRPr lang="en-US" sz="1150" dirty="0"/>
          </a:p>
        </p:txBody>
      </p:sp>
      <p:sp>
        <p:nvSpPr>
          <p:cNvPr id="10" name="Shape 8"/>
          <p:cNvSpPr/>
          <p:nvPr/>
        </p:nvSpPr>
        <p:spPr>
          <a:xfrm>
            <a:off x="8010144" y="1737360"/>
            <a:ext cx="3419856" cy="2286000"/>
          </a:xfrm>
          <a:prstGeom prst="rect">
            <a:avLst/>
          </a:prstGeom>
          <a:solidFill>
            <a:srgbClr val="F2F3F4"/>
          </a:solidFill>
          <a:ln w="9525">
            <a:solidFill>
              <a:srgbClr val="DDE0E3"/>
            </a:solidFill>
            <a:prstDash val="solid"/>
          </a:ln>
        </p:spPr>
      </p:sp>
      <p:sp>
        <p:nvSpPr>
          <p:cNvPr id="11" name="Text 9"/>
          <p:cNvSpPr txBox="1"/>
          <p:nvPr/>
        </p:nvSpPr>
        <p:spPr>
          <a:xfrm>
            <a:off x="8266176" y="1938528"/>
            <a:ext cx="2926080" cy="292608"/>
          </a:xfrm>
          <a:prstGeom prst="rect">
            <a:avLst/>
          </a:prstGeom>
          <a:noFill/>
          <a:ln/>
        </p:spPr>
        <p:txBody>
          <a:bodyPr wrap="square" lIns="0" tIns="0" rIns="0" bIns="0" rtlCol="0" anchor="t"/>
          <a:lstStyle/>
          <a:p>
            <a:pPr indent="0" marL="0">
              <a:buNone/>
            </a:pPr>
            <a:r>
              <a:rPr lang="en-US" sz="1400" b="1" dirty="0">
                <a:solidFill>
                  <a:srgbClr val="2B3038"/>
                </a:solidFill>
                <a:latin typeface="Cambria" pitchFamily="34" charset="0"/>
                <a:ea typeface="Cambria" pitchFamily="34" charset="-122"/>
                <a:cs typeface="Cambria" pitchFamily="34" charset="-120"/>
              </a:rPr>
              <a:t>What capacity buys</a:t>
            </a:r>
            <a:endParaRPr lang="en-US" sz="1400" dirty="0"/>
          </a:p>
        </p:txBody>
      </p:sp>
      <p:sp>
        <p:nvSpPr>
          <p:cNvPr id="12" name="Text 10"/>
          <p:cNvSpPr txBox="1"/>
          <p:nvPr/>
        </p:nvSpPr>
        <p:spPr>
          <a:xfrm>
            <a:off x="8266176" y="2304288"/>
            <a:ext cx="2926080" cy="1572768"/>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three tracks are genuinely concurrent, so more people buy calendar time up to roughly three teams, past which the joins become the constraint. That figure is my judgement, not a measurement. What capacity does not buy is firmware lead time. That is months and it is not ours to schedule.</a:t>
            </a:r>
            <a:endParaRPr lang="en-US" sz="1150" dirty="0"/>
          </a:p>
        </p:txBody>
      </p:sp>
      <p:sp>
        <p:nvSpPr>
          <p:cNvPr id="13" name="Shape 11"/>
          <p:cNvSpPr/>
          <p:nvPr/>
        </p:nvSpPr>
        <p:spPr>
          <a:xfrm>
            <a:off x="658368" y="4352544"/>
            <a:ext cx="10844784" cy="1481328"/>
          </a:xfrm>
          <a:prstGeom prst="rect">
            <a:avLst/>
          </a:prstGeom>
          <a:solidFill>
            <a:srgbClr val="FAEFE7"/>
          </a:solidFill>
          <a:ln w="9525">
            <a:solidFill>
              <a:srgbClr val="FAEFE7"/>
            </a:solidFill>
            <a:prstDash val="solid"/>
          </a:ln>
        </p:spPr>
      </p:sp>
      <p:sp>
        <p:nvSpPr>
          <p:cNvPr id="14" name="Text 12"/>
          <p:cNvSpPr txBox="1"/>
          <p:nvPr/>
        </p:nvSpPr>
        <p:spPr>
          <a:xfrm>
            <a:off x="969264" y="4535424"/>
            <a:ext cx="7315200" cy="274320"/>
          </a:xfrm>
          <a:prstGeom prst="rect">
            <a:avLst/>
          </a:prstGeom>
          <a:noFill/>
          <a:ln/>
        </p:spPr>
        <p:txBody>
          <a:bodyPr wrap="square" lIns="0" tIns="0" rIns="0" bIns="0" rtlCol="0" anchor="t"/>
          <a:lstStyle/>
          <a:p>
            <a:pPr indent="0" marL="0">
              <a:buNone/>
            </a:pPr>
            <a:r>
              <a:rPr lang="en-US" sz="1350" b="1" dirty="0">
                <a:solidFill>
                  <a:srgbClr val="C8621E"/>
                </a:solidFill>
                <a:latin typeface="Cambria" pitchFamily="34" charset="0"/>
                <a:ea typeface="Cambria" pitchFamily="34" charset="-122"/>
                <a:cs typeface="Cambria" pitchFamily="34" charset="-120"/>
              </a:rPr>
              <a:t>The useful thing the dependencies tell you</a:t>
            </a:r>
            <a:endParaRPr lang="en-US" sz="1350" dirty="0"/>
          </a:p>
        </p:txBody>
      </p:sp>
      <p:sp>
        <p:nvSpPr>
          <p:cNvPr id="15" name="Text 13"/>
          <p:cNvSpPr txBox="1"/>
          <p:nvPr/>
        </p:nvSpPr>
        <p:spPr>
          <a:xfrm>
            <a:off x="969264" y="4864608"/>
            <a:ext cx="10222992" cy="822960"/>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The portal does not have to wait for the device. It can be built against fake events from day one, which makes the phases run alongside each other instead of one after another. It is also the only track that produces something to put in front of a fleet manager early enough to change what gets built, so I would start there despite it being last in the data flow.</a:t>
            </a:r>
            <a:endParaRPr lang="en-US" sz="1250" dirty="0"/>
          </a:p>
        </p:txBody>
      </p:sp>
      <p:sp>
        <p:nvSpPr>
          <p:cNvPr id="16" name="Text 14"/>
          <p:cNvSpPr txBox="1"/>
          <p:nvPr/>
        </p:nvSpPr>
        <p:spPr>
          <a:xfrm>
            <a:off x="658368" y="5998464"/>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Each boundary is a condition, and here they are. The fleet view opens when an account has four weeks of live data. Audit tooling opens when the manual sample stops being readable in the time available. Re-engagement opens after we have watched a real account go unused, because what to do about it may not be a feature at all.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MEASURING SUCCESS</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How fast can you know anything?</a:t>
            </a:r>
            <a:endParaRPr lang="en-US" sz="3000" dirty="0"/>
          </a:p>
        </p:txBody>
      </p:sp>
      <p:sp>
        <p:nvSpPr>
          <p:cNvPr id="4" name="Text 2"/>
          <p:cNvSpPr txBox="1"/>
          <p:nvPr/>
        </p:nvSpPr>
        <p:spPr>
          <a:xfrm>
            <a:off x="658368" y="1645920"/>
            <a:ext cx="10844784" cy="402336"/>
          </a:xfrm>
          <a:prstGeom prst="rect">
            <a:avLst/>
          </a:prstGeom>
          <a:noFill/>
          <a:ln/>
        </p:spPr>
        <p:txBody>
          <a:bodyPr wrap="square" lIns="0" tIns="0" rIns="0" bIns="0" rtlCol="0" anchor="t"/>
          <a:lstStyle/>
          <a:p>
            <a:pPr indent="0" marL="0">
              <a:buNone/>
            </a:pPr>
            <a:r>
              <a:rPr lang="en-US" sz="1300" dirty="0">
                <a:solidFill>
                  <a:srgbClr val="5E666F"/>
                </a:solidFill>
                <a:latin typeface="Calibri" pitchFamily="34" charset="0"/>
                <a:ea typeface="Calibri" pitchFamily="34" charset="-122"/>
                <a:cs typeface="Calibri" pitchFamily="34" charset="-120"/>
              </a:rPr>
              <a:t>The brief names two readers. The fleet operator owns the outcome and signs the renewal. The fleet manager does the work. They ask different questions on different clocks.</a:t>
            </a:r>
            <a:endParaRPr lang="en-US" sz="1300" dirty="0"/>
          </a:p>
        </p:txBody>
      </p:sp>
      <p:sp>
        <p:nvSpPr>
          <p:cNvPr id="5" name="Shape 3"/>
          <p:cNvSpPr/>
          <p:nvPr/>
        </p:nvSpPr>
        <p:spPr>
          <a:xfrm>
            <a:off x="658368" y="2103120"/>
            <a:ext cx="10844784" cy="713232"/>
          </a:xfrm>
          <a:prstGeom prst="rect">
            <a:avLst/>
          </a:prstGeom>
          <a:solidFill>
            <a:srgbClr val="F2F3F4"/>
          </a:solidFill>
          <a:ln w="12700">
            <a:solidFill>
              <a:srgbClr val="F2F3F4"/>
            </a:solidFill>
            <a:prstDash val="solid"/>
          </a:ln>
        </p:spPr>
      </p:sp>
      <p:sp>
        <p:nvSpPr>
          <p:cNvPr id="6" name="Text 4"/>
          <p:cNvSpPr txBox="1"/>
          <p:nvPr/>
        </p:nvSpPr>
        <p:spPr>
          <a:xfrm>
            <a:off x="877824" y="2286000"/>
            <a:ext cx="1371600" cy="512064"/>
          </a:xfrm>
          <a:prstGeom prst="rect">
            <a:avLst/>
          </a:prstGeom>
          <a:noFill/>
          <a:ln/>
        </p:spPr>
        <p:txBody>
          <a:bodyPr wrap="square" lIns="0" tIns="0" rIns="0" bIns="0" rtlCol="0" anchor="t"/>
          <a:lstStyle/>
          <a:p>
            <a:pPr indent="0" marL="0">
              <a:lnSpc>
                <a:spcPts val="1500"/>
              </a:lnSpc>
              <a:buNone/>
            </a:pPr>
            <a:r>
              <a:rPr lang="en-US" sz="1250" b="1" dirty="0">
                <a:solidFill>
                  <a:srgbClr val="2B3038"/>
                </a:solidFill>
                <a:latin typeface="Calibri" pitchFamily="34" charset="0"/>
                <a:ea typeface="Calibri" pitchFamily="34" charset="-122"/>
                <a:cs typeface="Calibri" pitchFamily="34" charset="-120"/>
              </a:rPr>
              <a:t>Week 1</a:t>
            </a:r>
            <a:endParaRPr lang="en-US" sz="1250" dirty="0"/>
          </a:p>
        </p:txBody>
      </p:sp>
      <p:sp>
        <p:nvSpPr>
          <p:cNvPr id="7" name="Text 5"/>
          <p:cNvSpPr txBox="1"/>
          <p:nvPr/>
        </p:nvSpPr>
        <p:spPr>
          <a:xfrm>
            <a:off x="2340864" y="2286000"/>
            <a:ext cx="5029200" cy="548640"/>
          </a:xfrm>
          <a:prstGeom prst="rect">
            <a:avLst/>
          </a:prstGeom>
          <a:noFill/>
          <a:ln/>
        </p:spPr>
        <p:txBody>
          <a:bodyPr wrap="square" lIns="0" tIns="0" rIns="0" bIns="0" rtlCol="0" anchor="t"/>
          <a:lstStyle/>
          <a:p>
            <a:pPr indent="0" marL="0">
              <a:lnSpc>
                <a:spcPts val="1500"/>
              </a:lnSpc>
              <a:buNone/>
            </a:pPr>
            <a:r>
              <a:rPr lang="en-US" sz="1200" dirty="0">
                <a:solidFill>
                  <a:srgbClr val="2B3038"/>
                </a:solidFill>
                <a:latin typeface="Calibri" pitchFamily="34" charset="0"/>
                <a:ea typeface="Calibri" pitchFamily="34" charset="-122"/>
                <a:cs typeface="Calibri" pitchFamily="34" charset="-120"/>
              </a:rPr>
              <a:t>Are they opening it, and do they trust what is in it</a:t>
            </a:r>
            <a:endParaRPr lang="en-US" sz="1200" dirty="0"/>
          </a:p>
        </p:txBody>
      </p:sp>
      <p:sp>
        <p:nvSpPr>
          <p:cNvPr id="8" name="Text 6"/>
          <p:cNvSpPr txBox="1"/>
          <p:nvPr/>
        </p:nvSpPr>
        <p:spPr>
          <a:xfrm>
            <a:off x="7516368" y="2286000"/>
            <a:ext cx="3931920" cy="54864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Us. Says the machine runs, nothing about safety</a:t>
            </a:r>
            <a:endParaRPr lang="en-US" sz="1150" dirty="0"/>
          </a:p>
        </p:txBody>
      </p:sp>
      <p:sp>
        <p:nvSpPr>
          <p:cNvPr id="9" name="Text 7"/>
          <p:cNvSpPr txBox="1"/>
          <p:nvPr/>
        </p:nvSpPr>
        <p:spPr>
          <a:xfrm>
            <a:off x="877824" y="3035808"/>
            <a:ext cx="1371600" cy="512064"/>
          </a:xfrm>
          <a:prstGeom prst="rect">
            <a:avLst/>
          </a:prstGeom>
          <a:noFill/>
          <a:ln/>
        </p:spPr>
        <p:txBody>
          <a:bodyPr wrap="square" lIns="0" tIns="0" rIns="0" bIns="0" rtlCol="0" anchor="t"/>
          <a:lstStyle/>
          <a:p>
            <a:pPr indent="0" marL="0">
              <a:lnSpc>
                <a:spcPts val="1500"/>
              </a:lnSpc>
              <a:buNone/>
            </a:pPr>
            <a:r>
              <a:rPr lang="en-US" sz="1250" b="1" dirty="0">
                <a:solidFill>
                  <a:srgbClr val="C8621E"/>
                </a:solidFill>
                <a:latin typeface="Calibri" pitchFamily="34" charset="0"/>
                <a:ea typeface="Calibri" pitchFamily="34" charset="-122"/>
                <a:cs typeface="Calibri" pitchFamily="34" charset="-120"/>
              </a:rPr>
              <a:t>Week 4</a:t>
            </a:r>
            <a:endParaRPr lang="en-US" sz="1250" dirty="0"/>
          </a:p>
        </p:txBody>
      </p:sp>
      <p:sp>
        <p:nvSpPr>
          <p:cNvPr id="10" name="Text 8"/>
          <p:cNvSpPr txBox="1"/>
          <p:nvPr/>
        </p:nvSpPr>
        <p:spPr>
          <a:xfrm>
            <a:off x="2340864" y="3035808"/>
            <a:ext cx="5029200" cy="548640"/>
          </a:xfrm>
          <a:prstGeom prst="rect">
            <a:avLst/>
          </a:prstGeom>
          <a:noFill/>
          <a:ln/>
        </p:spPr>
        <p:txBody>
          <a:bodyPr wrap="square" lIns="0" tIns="0" rIns="0" bIns="0" rtlCol="0" anchor="t"/>
          <a:lstStyle/>
          <a:p>
            <a:pPr indent="0" marL="0">
              <a:lnSpc>
                <a:spcPts val="1500"/>
              </a:lnSpc>
              <a:buNone/>
            </a:pPr>
            <a:r>
              <a:rPr lang="en-US" sz="1200" dirty="0">
                <a:solidFill>
                  <a:srgbClr val="2B3038"/>
                </a:solidFill>
                <a:latin typeface="Calibri" pitchFamily="34" charset="0"/>
                <a:ea typeface="Calibri" pitchFamily="34" charset="-122"/>
                <a:cs typeface="Calibri" pitchFamily="34" charset="-120"/>
              </a:rPr>
              <a:t>Risky events per 1,000 km, which needs mileage the device does not send today. Are the conversations reaching the drivers causing the events</a:t>
            </a:r>
            <a:endParaRPr lang="en-US" sz="1200" dirty="0"/>
          </a:p>
        </p:txBody>
      </p:sp>
      <p:sp>
        <p:nvSpPr>
          <p:cNvPr id="11" name="Text 9"/>
          <p:cNvSpPr txBox="1"/>
          <p:nvPr/>
        </p:nvSpPr>
        <p:spPr>
          <a:xfrm>
            <a:off x="7516368" y="3035808"/>
            <a:ext cx="3931920" cy="54864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operator. The first reading worth arguing about, and at one fleet it is still noisy</a:t>
            </a:r>
            <a:endParaRPr lang="en-US" sz="1150" dirty="0"/>
          </a:p>
        </p:txBody>
      </p:sp>
      <p:sp>
        <p:nvSpPr>
          <p:cNvPr id="12" name="Shape 10"/>
          <p:cNvSpPr/>
          <p:nvPr/>
        </p:nvSpPr>
        <p:spPr>
          <a:xfrm>
            <a:off x="658368" y="3602736"/>
            <a:ext cx="10844784" cy="713232"/>
          </a:xfrm>
          <a:prstGeom prst="rect">
            <a:avLst/>
          </a:prstGeom>
          <a:solidFill>
            <a:srgbClr val="F2F3F4"/>
          </a:solidFill>
          <a:ln w="12700">
            <a:solidFill>
              <a:srgbClr val="F2F3F4"/>
            </a:solidFill>
            <a:prstDash val="solid"/>
          </a:ln>
        </p:spPr>
      </p:sp>
      <p:sp>
        <p:nvSpPr>
          <p:cNvPr id="13" name="Text 11"/>
          <p:cNvSpPr txBox="1"/>
          <p:nvPr/>
        </p:nvSpPr>
        <p:spPr>
          <a:xfrm>
            <a:off x="877824" y="3785616"/>
            <a:ext cx="1371600" cy="512064"/>
          </a:xfrm>
          <a:prstGeom prst="rect">
            <a:avLst/>
          </a:prstGeom>
          <a:noFill/>
          <a:ln/>
        </p:spPr>
        <p:txBody>
          <a:bodyPr wrap="square" lIns="0" tIns="0" rIns="0" bIns="0" rtlCol="0" anchor="t"/>
          <a:lstStyle/>
          <a:p>
            <a:pPr indent="0" marL="0">
              <a:lnSpc>
                <a:spcPts val="1500"/>
              </a:lnSpc>
              <a:buNone/>
            </a:pPr>
            <a:r>
              <a:rPr lang="en-US" sz="1250" b="1" dirty="0">
                <a:solidFill>
                  <a:srgbClr val="2B3038"/>
                </a:solidFill>
                <a:latin typeface="Calibri" pitchFamily="34" charset="0"/>
                <a:ea typeface="Calibri" pitchFamily="34" charset="-122"/>
                <a:cs typeface="Calibri" pitchFamily="34" charset="-120"/>
              </a:rPr>
              <a:t>Week 8 to 12</a:t>
            </a:r>
            <a:endParaRPr lang="en-US" sz="1250" dirty="0"/>
          </a:p>
        </p:txBody>
      </p:sp>
      <p:sp>
        <p:nvSpPr>
          <p:cNvPr id="14" name="Text 12"/>
          <p:cNvSpPr txBox="1"/>
          <p:nvPr/>
        </p:nvSpPr>
        <p:spPr>
          <a:xfrm>
            <a:off x="2340864" y="3785616"/>
            <a:ext cx="5029200" cy="548640"/>
          </a:xfrm>
          <a:prstGeom prst="rect">
            <a:avLst/>
          </a:prstGeom>
          <a:noFill/>
          <a:ln/>
        </p:spPr>
        <p:txBody>
          <a:bodyPr wrap="square" lIns="0" tIns="0" rIns="0" bIns="0" rtlCol="0" anchor="t"/>
          <a:lstStyle/>
          <a:p>
            <a:pPr indent="0" marL="0">
              <a:lnSpc>
                <a:spcPts val="1500"/>
              </a:lnSpc>
              <a:buNone/>
            </a:pPr>
            <a:r>
              <a:rPr lang="en-US" sz="1200" dirty="0">
                <a:solidFill>
                  <a:srgbClr val="2B3038"/>
                </a:solidFill>
                <a:latin typeface="Calibri" pitchFamily="34" charset="0"/>
                <a:ea typeface="Calibri" pitchFamily="34" charset="-122"/>
                <a:cs typeface="Calibri" pitchFamily="34" charset="-120"/>
              </a:rPr>
              <a:t>Do coached drivers repeat the behaviour. Is the high-risk group shrinking</a:t>
            </a:r>
            <a:endParaRPr lang="en-US" sz="1200" dirty="0"/>
          </a:p>
        </p:txBody>
      </p:sp>
      <p:sp>
        <p:nvSpPr>
          <p:cNvPr id="15" name="Text 13"/>
          <p:cNvSpPr txBox="1"/>
          <p:nvPr/>
        </p:nvSpPr>
        <p:spPr>
          <a:xfrm>
            <a:off x="7516368" y="3785616"/>
            <a:ext cx="3931920" cy="54864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operator. Can be put down to coaching, and slower for it</a:t>
            </a:r>
            <a:endParaRPr lang="en-US" sz="1150" dirty="0"/>
          </a:p>
        </p:txBody>
      </p:sp>
      <p:sp>
        <p:nvSpPr>
          <p:cNvPr id="16" name="Text 14"/>
          <p:cNvSpPr txBox="1"/>
          <p:nvPr/>
        </p:nvSpPr>
        <p:spPr>
          <a:xfrm>
            <a:off x="877824" y="4535424"/>
            <a:ext cx="1371600" cy="512064"/>
          </a:xfrm>
          <a:prstGeom prst="rect">
            <a:avLst/>
          </a:prstGeom>
          <a:noFill/>
          <a:ln/>
        </p:spPr>
        <p:txBody>
          <a:bodyPr wrap="square" lIns="0" tIns="0" rIns="0" bIns="0" rtlCol="0" anchor="t"/>
          <a:lstStyle/>
          <a:p>
            <a:pPr indent="0" marL="0">
              <a:lnSpc>
                <a:spcPts val="1500"/>
              </a:lnSpc>
              <a:buNone/>
            </a:pPr>
            <a:r>
              <a:rPr lang="en-US" sz="1250" b="1" dirty="0">
                <a:solidFill>
                  <a:srgbClr val="2B3038"/>
                </a:solidFill>
                <a:latin typeface="Calibri" pitchFamily="34" charset="0"/>
                <a:ea typeface="Calibri" pitchFamily="34" charset="-122"/>
                <a:cs typeface="Calibri" pitchFamily="34" charset="-120"/>
              </a:rPr>
              <a:t>6 to 12 months</a:t>
            </a:r>
            <a:endParaRPr lang="en-US" sz="1250" dirty="0"/>
          </a:p>
        </p:txBody>
      </p:sp>
      <p:sp>
        <p:nvSpPr>
          <p:cNvPr id="17" name="Text 15"/>
          <p:cNvSpPr txBox="1"/>
          <p:nvPr/>
        </p:nvSpPr>
        <p:spPr>
          <a:xfrm>
            <a:off x="2340864" y="4535424"/>
            <a:ext cx="5029200" cy="548640"/>
          </a:xfrm>
          <a:prstGeom prst="rect">
            <a:avLst/>
          </a:prstGeom>
          <a:noFill/>
          <a:ln/>
        </p:spPr>
        <p:txBody>
          <a:bodyPr wrap="square" lIns="0" tIns="0" rIns="0" bIns="0" rtlCol="0" anchor="t"/>
          <a:lstStyle/>
          <a:p>
            <a:pPr indent="0" marL="0">
              <a:lnSpc>
                <a:spcPts val="1500"/>
              </a:lnSpc>
              <a:buNone/>
            </a:pPr>
            <a:r>
              <a:rPr lang="en-US" sz="1200" dirty="0">
                <a:solidFill>
                  <a:srgbClr val="2B3038"/>
                </a:solidFill>
                <a:latin typeface="Calibri" pitchFamily="34" charset="0"/>
                <a:ea typeface="Calibri" pitchFamily="34" charset="-122"/>
                <a:cs typeface="Calibri" pitchFamily="34" charset="-120"/>
              </a:rPr>
              <a:t>Collisions the driver caused, and what claims cost</a:t>
            </a:r>
            <a:endParaRPr lang="en-US" sz="1200" dirty="0"/>
          </a:p>
        </p:txBody>
      </p:sp>
      <p:sp>
        <p:nvSpPr>
          <p:cNvPr id="18" name="Text 16"/>
          <p:cNvSpPr txBox="1"/>
          <p:nvPr/>
        </p:nvSpPr>
        <p:spPr>
          <a:xfrm>
            <a:off x="7516368" y="4535424"/>
            <a:ext cx="3931920" cy="54864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operator. What they are actually buying</a:t>
            </a:r>
            <a:endParaRPr lang="en-US" sz="1150" dirty="0"/>
          </a:p>
        </p:txBody>
      </p:sp>
      <p:sp>
        <p:nvSpPr>
          <p:cNvPr id="19" name="Shape 17"/>
          <p:cNvSpPr/>
          <p:nvPr/>
        </p:nvSpPr>
        <p:spPr>
          <a:xfrm>
            <a:off x="658368" y="5102352"/>
            <a:ext cx="10844784" cy="713232"/>
          </a:xfrm>
          <a:prstGeom prst="rect">
            <a:avLst/>
          </a:prstGeom>
          <a:solidFill>
            <a:srgbClr val="F2F3F4"/>
          </a:solidFill>
          <a:ln w="12700">
            <a:solidFill>
              <a:srgbClr val="F2F3F4"/>
            </a:solidFill>
            <a:prstDash val="solid"/>
          </a:ln>
        </p:spPr>
      </p:sp>
      <p:sp>
        <p:nvSpPr>
          <p:cNvPr id="20" name="Text 18"/>
          <p:cNvSpPr txBox="1"/>
          <p:nvPr/>
        </p:nvSpPr>
        <p:spPr>
          <a:xfrm>
            <a:off x="877824" y="5285232"/>
            <a:ext cx="1371600" cy="512064"/>
          </a:xfrm>
          <a:prstGeom prst="rect">
            <a:avLst/>
          </a:prstGeom>
          <a:noFill/>
          <a:ln/>
        </p:spPr>
        <p:txBody>
          <a:bodyPr wrap="square" lIns="0" tIns="0" rIns="0" bIns="0" rtlCol="0" anchor="t"/>
          <a:lstStyle/>
          <a:p>
            <a:pPr indent="0" marL="0">
              <a:lnSpc>
                <a:spcPts val="1500"/>
              </a:lnSpc>
              <a:buNone/>
            </a:pPr>
            <a:r>
              <a:rPr lang="en-US" sz="1250" b="1" dirty="0">
                <a:solidFill>
                  <a:srgbClr val="2B3038"/>
                </a:solidFill>
                <a:latin typeface="Calibri" pitchFamily="34" charset="0"/>
                <a:ea typeface="Calibri" pitchFamily="34" charset="-122"/>
                <a:cs typeface="Calibri" pitchFamily="34" charset="-120"/>
              </a:rPr>
              <a:t>Ongoing</a:t>
            </a:r>
            <a:endParaRPr lang="en-US" sz="1250" dirty="0"/>
          </a:p>
        </p:txBody>
      </p:sp>
      <p:sp>
        <p:nvSpPr>
          <p:cNvPr id="21" name="Text 19"/>
          <p:cNvSpPr txBox="1"/>
          <p:nvPr/>
        </p:nvSpPr>
        <p:spPr>
          <a:xfrm>
            <a:off x="2340864" y="5285232"/>
            <a:ext cx="5029200" cy="548640"/>
          </a:xfrm>
          <a:prstGeom prst="rect">
            <a:avLst/>
          </a:prstGeom>
          <a:noFill/>
          <a:ln/>
        </p:spPr>
        <p:txBody>
          <a:bodyPr wrap="square" lIns="0" tIns="0" rIns="0" bIns="0" rtlCol="0" anchor="t"/>
          <a:lstStyle/>
          <a:p>
            <a:pPr indent="0" marL="0">
              <a:lnSpc>
                <a:spcPts val="1500"/>
              </a:lnSpc>
              <a:buNone/>
            </a:pPr>
            <a:r>
              <a:rPr lang="en-US" sz="1200" dirty="0">
                <a:solidFill>
                  <a:srgbClr val="2B3038"/>
                </a:solidFill>
                <a:latin typeface="Calibri" pitchFamily="34" charset="0"/>
                <a:ea typeface="Calibri" pitchFamily="34" charset="-122"/>
                <a:cs typeface="Calibri" pitchFamily="34" charset="-120"/>
              </a:rPr>
              <a:t>Of the collisions that happen, how many had a warning in front of them</a:t>
            </a:r>
            <a:endParaRPr lang="en-US" sz="1200" dirty="0"/>
          </a:p>
        </p:txBody>
      </p:sp>
      <p:sp>
        <p:nvSpPr>
          <p:cNvPr id="22" name="Text 20"/>
          <p:cNvSpPr txBox="1"/>
          <p:nvPr/>
        </p:nvSpPr>
        <p:spPr>
          <a:xfrm>
            <a:off x="7516368" y="5285232"/>
            <a:ext cx="3931920" cy="54864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Us. Whether the queue points at the right people at all</a:t>
            </a:r>
            <a:endParaRPr lang="en-US" sz="1150" dirty="0"/>
          </a:p>
        </p:txBody>
      </p:sp>
      <p:sp>
        <p:nvSpPr>
          <p:cNvPr id="23" name="Text 21"/>
          <p:cNvSpPr txBox="1"/>
          <p:nvPr/>
        </p:nvSpPr>
        <p:spPr>
          <a:xfrm>
            <a:off x="658368" y="6108192"/>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The repeat rate is computed on a population that includes events nobody reviewed, and the register says so. Collisions cannot be read inside a quarter at one fleet. The events themselves can be read in week one, which is why the ladder starts there.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RISKS AND ASSUMPTIONS</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Two gates, and three risks this design created</a:t>
            </a:r>
            <a:endParaRPr lang="en-US" sz="3000" dirty="0"/>
          </a:p>
        </p:txBody>
      </p:sp>
      <p:sp>
        <p:nvSpPr>
          <p:cNvPr id="4" name="Text 2"/>
          <p:cNvSpPr txBox="1"/>
          <p:nvPr/>
        </p:nvSpPr>
        <p:spPr>
          <a:xfrm>
            <a:off x="658368" y="1719072"/>
            <a:ext cx="5120640" cy="274320"/>
          </a:xfrm>
          <a:prstGeom prst="rect">
            <a:avLst/>
          </a:prstGeom>
          <a:noFill/>
          <a:ln/>
        </p:spPr>
        <p:txBody>
          <a:bodyPr wrap="square" lIns="0" tIns="0" rIns="0" bIns="0" rtlCol="0" anchor="t"/>
          <a:lstStyle/>
          <a:p>
            <a:pPr indent="0" marL="0">
              <a:buNone/>
            </a:pPr>
            <a:r>
              <a:rPr lang="en-US" sz="1400" b="1" dirty="0">
                <a:solidFill>
                  <a:srgbClr val="2B3038"/>
                </a:solidFill>
                <a:latin typeface="Cambria" pitchFamily="34" charset="0"/>
                <a:ea typeface="Cambria" pitchFamily="34" charset="-122"/>
                <a:cs typeface="Cambria" pitchFamily="34" charset="-120"/>
              </a:rPr>
              <a:t>The gates. These end it rather than cost money</a:t>
            </a:r>
            <a:endParaRPr lang="en-US" sz="1400" dirty="0"/>
          </a:p>
        </p:txBody>
      </p:sp>
      <p:sp>
        <p:nvSpPr>
          <p:cNvPr id="5" name="Shape 3"/>
          <p:cNvSpPr/>
          <p:nvPr/>
        </p:nvSpPr>
        <p:spPr>
          <a:xfrm>
            <a:off x="658368" y="2103120"/>
            <a:ext cx="5120640" cy="1152144"/>
          </a:xfrm>
          <a:prstGeom prst="rect">
            <a:avLst/>
          </a:prstGeom>
          <a:solidFill>
            <a:srgbClr val="F2F3F4"/>
          </a:solidFill>
          <a:ln w="9525">
            <a:solidFill>
              <a:srgbClr val="DDE0E3"/>
            </a:solidFill>
            <a:prstDash val="solid"/>
          </a:ln>
        </p:spPr>
      </p:sp>
      <p:sp>
        <p:nvSpPr>
          <p:cNvPr id="6" name="Text 4"/>
          <p:cNvSpPr txBox="1"/>
          <p:nvPr/>
        </p:nvSpPr>
        <p:spPr>
          <a:xfrm>
            <a:off x="896112" y="2249424"/>
            <a:ext cx="4663440" cy="256032"/>
          </a:xfrm>
          <a:prstGeom prst="rect">
            <a:avLst/>
          </a:prstGeom>
          <a:noFill/>
          <a:ln/>
        </p:spPr>
        <p:txBody>
          <a:bodyPr wrap="square" lIns="0" tIns="0" rIns="0" bIns="0" rtlCol="0" anchor="t"/>
          <a:lstStyle/>
          <a:p>
            <a:pPr indent="0" marL="0">
              <a:buNone/>
            </a:pPr>
            <a:r>
              <a:rPr lang="en-US" sz="1250" b="1" dirty="0">
                <a:solidFill>
                  <a:srgbClr val="C8621E"/>
                </a:solidFill>
                <a:latin typeface="Calibri" pitchFamily="34" charset="0"/>
                <a:ea typeface="Calibri" pitchFamily="34" charset="-122"/>
                <a:cs typeface="Calibri" pitchFamily="34" charset="-120"/>
              </a:rPr>
              <a:t>A-02   How many events there are</a:t>
            </a:r>
            <a:endParaRPr lang="en-US" sz="1250" dirty="0"/>
          </a:p>
        </p:txBody>
      </p:sp>
      <p:sp>
        <p:nvSpPr>
          <p:cNvPr id="7" name="Text 5"/>
          <p:cNvSpPr txBox="1"/>
          <p:nvPr/>
        </p:nvSpPr>
        <p:spPr>
          <a:xfrm>
            <a:off x="896112" y="2523744"/>
            <a:ext cx="4663440" cy="658368"/>
          </a:xfrm>
          <a:prstGeom prst="rect">
            <a:avLst/>
          </a:prstGeom>
          <a:noFill/>
          <a:ln/>
        </p:spPr>
        <p:txBody>
          <a:bodyPr wrap="square" lIns="0" tIns="0" rIns="0" bIns="0" rtlCol="0" anchor="t"/>
          <a:lstStyle/>
          <a:p>
            <a:pPr indent="0" marL="0">
              <a:lnSpc>
                <a:spcPts val="1400"/>
              </a:lnSpc>
              <a:buNone/>
            </a:pPr>
            <a:r>
              <a:rPr lang="en-US" sz="1100" dirty="0">
                <a:solidFill>
                  <a:srgbClr val="5E666F"/>
                </a:solidFill>
                <a:latin typeface="Calibri" pitchFamily="34" charset="0"/>
                <a:ea typeface="Calibri" pitchFamily="34" charset="-122"/>
                <a:cs typeface="Calibri" pitchFamily="34" charset="-120"/>
              </a:rPr>
              <a:t>Breaks the product. If volume is ten times lower than assumed, attention is not the scarce thing and this is a detection product instead. Thirty days of data settles it.</a:t>
            </a:r>
            <a:endParaRPr lang="en-US" sz="1100" dirty="0"/>
          </a:p>
        </p:txBody>
      </p:sp>
      <p:sp>
        <p:nvSpPr>
          <p:cNvPr id="8" name="Shape 6"/>
          <p:cNvSpPr/>
          <p:nvPr/>
        </p:nvSpPr>
        <p:spPr>
          <a:xfrm>
            <a:off x="658368" y="3401568"/>
            <a:ext cx="5120640" cy="1152144"/>
          </a:xfrm>
          <a:prstGeom prst="rect">
            <a:avLst/>
          </a:prstGeom>
          <a:solidFill>
            <a:srgbClr val="F2F3F4"/>
          </a:solidFill>
          <a:ln w="9525">
            <a:solidFill>
              <a:srgbClr val="DDE0E3"/>
            </a:solidFill>
            <a:prstDash val="solid"/>
          </a:ln>
        </p:spPr>
      </p:sp>
      <p:sp>
        <p:nvSpPr>
          <p:cNvPr id="9" name="Text 7"/>
          <p:cNvSpPr txBox="1"/>
          <p:nvPr/>
        </p:nvSpPr>
        <p:spPr>
          <a:xfrm>
            <a:off x="896112" y="3547872"/>
            <a:ext cx="4663440" cy="256032"/>
          </a:xfrm>
          <a:prstGeom prst="rect">
            <a:avLst/>
          </a:prstGeom>
          <a:noFill/>
          <a:ln/>
        </p:spPr>
        <p:txBody>
          <a:bodyPr wrap="square" lIns="0" tIns="0" rIns="0" bIns="0" rtlCol="0" anchor="t"/>
          <a:lstStyle/>
          <a:p>
            <a:pPr indent="0" marL="0">
              <a:buNone/>
            </a:pPr>
            <a:r>
              <a:rPr lang="en-US" sz="1250" b="1" dirty="0">
                <a:solidFill>
                  <a:srgbClr val="C8621E"/>
                </a:solidFill>
                <a:latin typeface="Calibri" pitchFamily="34" charset="0"/>
                <a:ea typeface="Calibri" pitchFamily="34" charset="-122"/>
                <a:cs typeface="Calibri" pitchFamily="34" charset="-120"/>
              </a:rPr>
              <a:t>A-13   That CameraMatics does not triage today</a:t>
            </a:r>
            <a:endParaRPr lang="en-US" sz="1250" dirty="0"/>
          </a:p>
        </p:txBody>
      </p:sp>
      <p:sp>
        <p:nvSpPr>
          <p:cNvPr id="10" name="Text 8"/>
          <p:cNvSpPr txBox="1"/>
          <p:nvPr/>
        </p:nvSpPr>
        <p:spPr>
          <a:xfrm>
            <a:off x="896112" y="3822192"/>
            <a:ext cx="4663440" cy="658368"/>
          </a:xfrm>
          <a:prstGeom prst="rect">
            <a:avLst/>
          </a:prstGeom>
          <a:noFill/>
          <a:ln/>
        </p:spPr>
        <p:txBody>
          <a:bodyPr wrap="square" lIns="0" tIns="0" rIns="0" bIns="0" rtlCol="0" anchor="t"/>
          <a:lstStyle/>
          <a:p>
            <a:pPr indent="0" marL="0">
              <a:lnSpc>
                <a:spcPts val="1400"/>
              </a:lnSpc>
              <a:buNone/>
            </a:pPr>
            <a:r>
              <a:rPr lang="en-US" sz="1100" dirty="0">
                <a:solidFill>
                  <a:srgbClr val="5E666F"/>
                </a:solidFill>
                <a:latin typeface="Calibri" pitchFamily="34" charset="0"/>
                <a:ea typeface="Calibri" pitchFamily="34" charset="-122"/>
                <a:cs typeface="Calibri" pitchFamily="34" charset="-120"/>
              </a:rPr>
              <a:t>Breaks the story, not the requirements. If they already rank events and never marketed it, a queue is still a queue, but the framing falls apart in front of the person who built the thing. One question answers it.</a:t>
            </a:r>
            <a:endParaRPr lang="en-US" sz="1100" dirty="0"/>
          </a:p>
        </p:txBody>
      </p:sp>
      <p:sp>
        <p:nvSpPr>
          <p:cNvPr id="11" name="Text 9"/>
          <p:cNvSpPr txBox="1"/>
          <p:nvPr/>
        </p:nvSpPr>
        <p:spPr>
          <a:xfrm>
            <a:off x="658368" y="4754880"/>
            <a:ext cx="5120640" cy="566928"/>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I would rather be wrong about the second. Being wrong about that costs a conversation. Being wrong about the first costs the premise.</a:t>
            </a:r>
            <a:endParaRPr lang="en-US" sz="1150" dirty="0"/>
          </a:p>
        </p:txBody>
      </p:sp>
      <p:sp>
        <p:nvSpPr>
          <p:cNvPr id="12" name="Text 10"/>
          <p:cNvSpPr txBox="1"/>
          <p:nvPr/>
        </p:nvSpPr>
        <p:spPr>
          <a:xfrm>
            <a:off x="6400800" y="1719072"/>
            <a:ext cx="5120640" cy="274320"/>
          </a:xfrm>
          <a:prstGeom prst="rect">
            <a:avLst/>
          </a:prstGeom>
          <a:noFill/>
          <a:ln/>
        </p:spPr>
        <p:txBody>
          <a:bodyPr wrap="square" lIns="0" tIns="0" rIns="0" bIns="0" rtlCol="0" anchor="t"/>
          <a:lstStyle/>
          <a:p>
            <a:pPr indent="0" marL="0">
              <a:buNone/>
            </a:pPr>
            <a:r>
              <a:rPr lang="en-US" sz="1400" b="1" dirty="0">
                <a:solidFill>
                  <a:srgbClr val="2B3038"/>
                </a:solidFill>
                <a:latin typeface="Cambria" pitchFamily="34" charset="0"/>
                <a:ea typeface="Cambria" pitchFamily="34" charset="-122"/>
                <a:cs typeface="Cambria" pitchFamily="34" charset="-120"/>
              </a:rPr>
              <a:t>Risks this design created</a:t>
            </a:r>
            <a:endParaRPr lang="en-US" sz="1400" dirty="0"/>
          </a:p>
        </p:txBody>
      </p:sp>
      <p:sp>
        <p:nvSpPr>
          <p:cNvPr id="13" name="Shape 11"/>
          <p:cNvSpPr/>
          <p:nvPr/>
        </p:nvSpPr>
        <p:spPr>
          <a:xfrm>
            <a:off x="6400800" y="2103120"/>
            <a:ext cx="5102352" cy="1225296"/>
          </a:xfrm>
          <a:prstGeom prst="rect">
            <a:avLst/>
          </a:prstGeom>
          <a:solidFill>
            <a:srgbClr val="F2F3F4"/>
          </a:solidFill>
          <a:ln w="9525">
            <a:solidFill>
              <a:srgbClr val="DDE0E3"/>
            </a:solidFill>
            <a:prstDash val="solid"/>
          </a:ln>
        </p:spPr>
      </p:sp>
      <p:sp>
        <p:nvSpPr>
          <p:cNvPr id="14" name="Text 12"/>
          <p:cNvSpPr txBox="1"/>
          <p:nvPr/>
        </p:nvSpPr>
        <p:spPr>
          <a:xfrm>
            <a:off x="6638544" y="2249424"/>
            <a:ext cx="4645152" cy="256032"/>
          </a:xfrm>
          <a:prstGeom prst="rect">
            <a:avLst/>
          </a:prstGeom>
          <a:noFill/>
          <a:ln/>
        </p:spPr>
        <p:txBody>
          <a:bodyPr wrap="square" lIns="0" tIns="0" rIns="0" bIns="0" rtlCol="0" anchor="t"/>
          <a:lstStyle/>
          <a:p>
            <a:pPr indent="0" marL="0">
              <a:buNone/>
            </a:pPr>
            <a:r>
              <a:rPr lang="en-US" sz="1250" b="1" dirty="0">
                <a:solidFill>
                  <a:srgbClr val="2B3038"/>
                </a:solidFill>
                <a:latin typeface="Calibri" pitchFamily="34" charset="0"/>
                <a:ea typeface="Calibri" pitchFamily="34" charset="-122"/>
                <a:cs typeface="Calibri" pitchFamily="34" charset="-120"/>
              </a:rPr>
              <a:t>Grading something down too far</a:t>
            </a:r>
            <a:endParaRPr lang="en-US" sz="1250" dirty="0"/>
          </a:p>
        </p:txBody>
      </p:sp>
      <p:sp>
        <p:nvSpPr>
          <p:cNvPr id="15" name="Text 13"/>
          <p:cNvSpPr txBox="1"/>
          <p:nvPr/>
        </p:nvSpPr>
        <p:spPr>
          <a:xfrm>
            <a:off x="6638544" y="2523744"/>
            <a:ext cx="4645152" cy="658368"/>
          </a:xfrm>
          <a:prstGeom prst="rect">
            <a:avLst/>
          </a:prstGeom>
          <a:noFill/>
          <a:ln/>
        </p:spPr>
        <p:txBody>
          <a:bodyPr wrap="square" lIns="0" tIns="0" rIns="0" bIns="0" rtlCol="0" anchor="t"/>
          <a:lstStyle/>
          <a:p>
            <a:pPr indent="0" marL="0">
              <a:lnSpc>
                <a:spcPts val="1400"/>
              </a:lnSpc>
              <a:buNone/>
            </a:pPr>
            <a:r>
              <a:rPr lang="en-US" sz="1100" dirty="0">
                <a:solidFill>
                  <a:srgbClr val="5E666F"/>
                </a:solidFill>
                <a:latin typeface="Calibri" pitchFamily="34" charset="0"/>
                <a:ea typeface="Calibri" pitchFamily="34" charset="-122"/>
                <a:cs typeface="Calibri" pitchFamily="34" charset="-120"/>
              </a:rPr>
              <a:t>Grading instead of filtering moved the worst case rather than removing it: an event that deserved a conversation, sent out as a notification.</a:t>
            </a:r>
            <a:endParaRPr lang="en-US" sz="1100" dirty="0"/>
          </a:p>
        </p:txBody>
      </p:sp>
      <p:sp>
        <p:nvSpPr>
          <p:cNvPr id="16" name="Shape 14"/>
          <p:cNvSpPr/>
          <p:nvPr/>
        </p:nvSpPr>
        <p:spPr>
          <a:xfrm>
            <a:off x="6400800" y="3438144"/>
            <a:ext cx="5102352" cy="1225296"/>
          </a:xfrm>
          <a:prstGeom prst="rect">
            <a:avLst/>
          </a:prstGeom>
          <a:solidFill>
            <a:srgbClr val="F2F3F4"/>
          </a:solidFill>
          <a:ln w="9525">
            <a:solidFill>
              <a:srgbClr val="DDE0E3"/>
            </a:solidFill>
            <a:prstDash val="solid"/>
          </a:ln>
        </p:spPr>
      </p:sp>
      <p:sp>
        <p:nvSpPr>
          <p:cNvPr id="17" name="Text 15"/>
          <p:cNvSpPr txBox="1"/>
          <p:nvPr/>
        </p:nvSpPr>
        <p:spPr>
          <a:xfrm>
            <a:off x="6638544" y="3584448"/>
            <a:ext cx="4645152" cy="256032"/>
          </a:xfrm>
          <a:prstGeom prst="rect">
            <a:avLst/>
          </a:prstGeom>
          <a:noFill/>
          <a:ln/>
        </p:spPr>
        <p:txBody>
          <a:bodyPr wrap="square" lIns="0" tIns="0" rIns="0" bIns="0" rtlCol="0" anchor="t"/>
          <a:lstStyle/>
          <a:p>
            <a:pPr indent="0" marL="0">
              <a:buNone/>
            </a:pPr>
            <a:r>
              <a:rPr lang="en-US" sz="1250" b="1" dirty="0">
                <a:solidFill>
                  <a:srgbClr val="2B3038"/>
                </a:solidFill>
                <a:latin typeface="Calibri" pitchFamily="34" charset="0"/>
                <a:ea typeface="Calibri" pitchFamily="34" charset="-122"/>
                <a:cs typeface="Calibri" pitchFamily="34" charset="-120"/>
              </a:rPr>
              <a:t>Neutral is the cheapest click on the screen</a:t>
            </a:r>
            <a:endParaRPr lang="en-US" sz="1250" dirty="0"/>
          </a:p>
        </p:txBody>
      </p:sp>
      <p:sp>
        <p:nvSpPr>
          <p:cNvPr id="18" name="Text 16"/>
          <p:cNvSpPr txBox="1"/>
          <p:nvPr/>
        </p:nvSpPr>
        <p:spPr>
          <a:xfrm>
            <a:off x="6638544" y="3858768"/>
            <a:ext cx="4645152" cy="658368"/>
          </a:xfrm>
          <a:prstGeom prst="rect">
            <a:avLst/>
          </a:prstGeom>
          <a:noFill/>
          <a:ln/>
        </p:spPr>
        <p:txBody>
          <a:bodyPr wrap="square" lIns="0" tIns="0" rIns="0" bIns="0" rtlCol="0" anchor="t"/>
          <a:lstStyle/>
          <a:p>
            <a:pPr indent="0" marL="0">
              <a:lnSpc>
                <a:spcPts val="1400"/>
              </a:lnSpc>
              <a:buNone/>
            </a:pPr>
            <a:r>
              <a:rPr lang="en-US" sz="1100" dirty="0">
                <a:solidFill>
                  <a:srgbClr val="5E666F"/>
                </a:solidFill>
                <a:latin typeface="Calibri" pitchFamily="34" charset="0"/>
                <a:ea typeface="Calibri" pitchFamily="34" charset="-122"/>
                <a:cs typeface="Calibri" pitchFamily="34" charset="-120"/>
              </a:rPr>
              <a:t>Not their doing needs no clip and opens no conversation, so a manager under pressure can empty the week honestly in form. R-15, added after a reviewer found it. Detect it with a neutral rate per manager rather than obstruct it with a required reason.</a:t>
            </a:r>
            <a:endParaRPr lang="en-US" sz="1100" dirty="0"/>
          </a:p>
        </p:txBody>
      </p:sp>
      <p:sp>
        <p:nvSpPr>
          <p:cNvPr id="19" name="Shape 17"/>
          <p:cNvSpPr/>
          <p:nvPr/>
        </p:nvSpPr>
        <p:spPr>
          <a:xfrm>
            <a:off x="6400800" y="4773168"/>
            <a:ext cx="5102352" cy="1225296"/>
          </a:xfrm>
          <a:prstGeom prst="rect">
            <a:avLst/>
          </a:prstGeom>
          <a:solidFill>
            <a:srgbClr val="FAEFE7"/>
          </a:solidFill>
          <a:ln w="9525">
            <a:solidFill>
              <a:srgbClr val="FAEFE7"/>
            </a:solidFill>
            <a:prstDash val="solid"/>
          </a:ln>
        </p:spPr>
      </p:sp>
      <p:sp>
        <p:nvSpPr>
          <p:cNvPr id="20" name="Text 18"/>
          <p:cNvSpPr txBox="1"/>
          <p:nvPr/>
        </p:nvSpPr>
        <p:spPr>
          <a:xfrm>
            <a:off x="6638544" y="4919472"/>
            <a:ext cx="4645152" cy="256032"/>
          </a:xfrm>
          <a:prstGeom prst="rect">
            <a:avLst/>
          </a:prstGeom>
          <a:noFill/>
          <a:ln/>
        </p:spPr>
        <p:txBody>
          <a:bodyPr wrap="square" lIns="0" tIns="0" rIns="0" bIns="0" rtlCol="0" anchor="t"/>
          <a:lstStyle/>
          <a:p>
            <a:pPr indent="0" marL="0">
              <a:buNone/>
            </a:pPr>
            <a:r>
              <a:rPr lang="en-US" sz="1250" b="1" dirty="0">
                <a:solidFill>
                  <a:srgbClr val="C8621E"/>
                </a:solidFill>
                <a:latin typeface="Calibri" pitchFamily="34" charset="0"/>
                <a:ea typeface="Calibri" pitchFamily="34" charset="-122"/>
                <a:cs typeface="Calibri" pitchFamily="34" charset="-120"/>
              </a:rPr>
              <a:t>Footage of identifiable people, in the EU</a:t>
            </a:r>
            <a:endParaRPr lang="en-US" sz="1250" dirty="0"/>
          </a:p>
        </p:txBody>
      </p:sp>
      <p:sp>
        <p:nvSpPr>
          <p:cNvPr id="21" name="Text 19"/>
          <p:cNvSpPr txBox="1"/>
          <p:nvPr/>
        </p:nvSpPr>
        <p:spPr>
          <a:xfrm>
            <a:off x="6638544" y="5193792"/>
            <a:ext cx="4645152" cy="658368"/>
          </a:xfrm>
          <a:prstGeom prst="rect">
            <a:avLst/>
          </a:prstGeom>
          <a:noFill/>
          <a:ln/>
        </p:spPr>
        <p:txBody>
          <a:bodyPr wrap="square" lIns="0" tIns="0" rIns="0" bIns="0" rtlCol="0" anchor="t"/>
          <a:lstStyle/>
          <a:p>
            <a:pPr indent="0" marL="0">
              <a:lnSpc>
                <a:spcPts val="1400"/>
              </a:lnSpc>
              <a:buNone/>
            </a:pPr>
            <a:r>
              <a:rPr lang="en-US" sz="1100" dirty="0">
                <a:solidFill>
                  <a:srgbClr val="5E666F"/>
                </a:solidFill>
                <a:latin typeface="Calibri" pitchFamily="34" charset="0"/>
                <a:ea typeface="Calibri" pitchFamily="34" charset="-122"/>
                <a:cs typeface="Calibri" pitchFamily="34" charset="-120"/>
              </a:rPr>
              <a:t>R-04. Lawful basis, DPIA, retention and access control, plus works councils in some markets. Q-06 is blocking: a market that cannot use footage for coaching needs a metadata-only variant, and that changes the requirements rather than the date.</a:t>
            </a:r>
            <a:endParaRPr lang="en-US" sz="1100" dirty="0"/>
          </a:p>
        </p:txBody>
      </p:sp>
      <p:sp>
        <p:nvSpPr>
          <p:cNvPr id="22" name="Text 20"/>
          <p:cNvSpPr txBox="1"/>
          <p:nvPr/>
        </p:nvSpPr>
        <p:spPr>
          <a:xfrm>
            <a:off x="658368" y="6144768"/>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26 assumptions, 15 risks and 10 open questions are registered, each with what breaks if it is wrong and how to check it. One more this design created is in the register and not on this slide: praise that was not earned. R-14, a driver judged on events nobody looked at, is slide 11.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WEEK ONE</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Six questions I would not commit engineering without</a:t>
            </a:r>
            <a:endParaRPr lang="en-US" sz="3000" dirty="0"/>
          </a:p>
        </p:txBody>
      </p:sp>
      <p:sp>
        <p:nvSpPr>
          <p:cNvPr id="4" name="Shape 2"/>
          <p:cNvSpPr/>
          <p:nvPr/>
        </p:nvSpPr>
        <p:spPr>
          <a:xfrm>
            <a:off x="658368" y="1719072"/>
            <a:ext cx="310896" cy="310896"/>
          </a:xfrm>
          <a:prstGeom prst="ellipse">
            <a:avLst/>
          </a:prstGeom>
          <a:solidFill>
            <a:srgbClr val="2B3038"/>
          </a:solidFill>
          <a:ln/>
        </p:spPr>
      </p:sp>
      <p:sp>
        <p:nvSpPr>
          <p:cNvPr id="5" name="Text 3"/>
          <p:cNvSpPr txBox="1"/>
          <p:nvPr/>
        </p:nvSpPr>
        <p:spPr>
          <a:xfrm>
            <a:off x="658368" y="1760220"/>
            <a:ext cx="310896"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115568" y="1682496"/>
            <a:ext cx="3931920" cy="457200"/>
          </a:xfrm>
          <a:prstGeom prst="rect">
            <a:avLst/>
          </a:prstGeom>
          <a:noFill/>
          <a:ln/>
        </p:spPr>
        <p:txBody>
          <a:bodyPr wrap="square" lIns="0" tIns="0" rIns="0" bIns="0" rtlCol="0" anchor="t"/>
          <a:lstStyle/>
          <a:p>
            <a:pPr indent="0" marL="0">
              <a:lnSpc>
                <a:spcPts val="1700"/>
              </a:lnSpc>
              <a:buNone/>
            </a:pPr>
            <a:r>
              <a:rPr lang="en-US" sz="1300" b="1" dirty="0">
                <a:solidFill>
                  <a:srgbClr val="2B3038"/>
                </a:solidFill>
                <a:latin typeface="Cambria" pitchFamily="34" charset="0"/>
                <a:ea typeface="Cambria" pitchFamily="34" charset="-122"/>
                <a:cs typeface="Cambria" pitchFamily="34" charset="-120"/>
              </a:rPr>
              <a:t>Does the portal already rank events?</a:t>
            </a:r>
            <a:endParaRPr lang="en-US" sz="1300" dirty="0"/>
          </a:p>
        </p:txBody>
      </p:sp>
      <p:sp>
        <p:nvSpPr>
          <p:cNvPr id="7" name="Text 5"/>
          <p:cNvSpPr txBox="1"/>
          <p:nvPr/>
        </p:nvSpPr>
        <p:spPr>
          <a:xfrm>
            <a:off x="5084064" y="1719072"/>
            <a:ext cx="859536" cy="219456"/>
          </a:xfrm>
          <a:prstGeom prst="rect">
            <a:avLst/>
          </a:prstGeom>
          <a:noFill/>
          <a:ln/>
        </p:spPr>
        <p:txBody>
          <a:bodyPr wrap="square" lIns="0" tIns="0" rIns="0" bIns="0" rtlCol="0" anchor="t"/>
          <a:lstStyle/>
          <a:p>
            <a:pPr algn="r" indent="0" marL="0">
              <a:buNone/>
            </a:pPr>
            <a:r>
              <a:rPr lang="en-US" sz="850" b="1" spc="80" kern="0" dirty="0">
                <a:solidFill>
                  <a:srgbClr val="C8621E"/>
                </a:solidFill>
                <a:latin typeface="Calibri" pitchFamily="34" charset="0"/>
                <a:ea typeface="Calibri" pitchFamily="34" charset="-122"/>
                <a:cs typeface="Calibri" pitchFamily="34" charset="-120"/>
              </a:rPr>
              <a:t>COMMERCIAL</a:t>
            </a:r>
            <a:endParaRPr lang="en-US" sz="850" dirty="0"/>
          </a:p>
        </p:txBody>
      </p:sp>
      <p:sp>
        <p:nvSpPr>
          <p:cNvPr id="8" name="Text 6"/>
          <p:cNvSpPr txBox="1"/>
          <p:nvPr/>
        </p:nvSpPr>
        <p:spPr>
          <a:xfrm>
            <a:off x="1115568" y="2194560"/>
            <a:ext cx="4828032" cy="73152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The framing of this whole submission. Asked out loud, first, before defending anything.</a:t>
            </a:r>
            <a:endParaRPr lang="en-US" sz="1150" dirty="0"/>
          </a:p>
        </p:txBody>
      </p:sp>
      <p:sp>
        <p:nvSpPr>
          <p:cNvPr id="9" name="Shape 7"/>
          <p:cNvSpPr/>
          <p:nvPr/>
        </p:nvSpPr>
        <p:spPr>
          <a:xfrm>
            <a:off x="6199632" y="1719072"/>
            <a:ext cx="310896" cy="310896"/>
          </a:xfrm>
          <a:prstGeom prst="ellipse">
            <a:avLst/>
          </a:prstGeom>
          <a:solidFill>
            <a:srgbClr val="2B3038"/>
          </a:solidFill>
          <a:ln/>
        </p:spPr>
      </p:sp>
      <p:sp>
        <p:nvSpPr>
          <p:cNvPr id="10" name="Text 8"/>
          <p:cNvSpPr txBox="1"/>
          <p:nvPr/>
        </p:nvSpPr>
        <p:spPr>
          <a:xfrm>
            <a:off x="6199632" y="1760220"/>
            <a:ext cx="310896"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6656832" y="1682496"/>
            <a:ext cx="3931920" cy="457200"/>
          </a:xfrm>
          <a:prstGeom prst="rect">
            <a:avLst/>
          </a:prstGeom>
          <a:noFill/>
          <a:ln/>
        </p:spPr>
        <p:txBody>
          <a:bodyPr wrap="square" lIns="0" tIns="0" rIns="0" bIns="0" rtlCol="0" anchor="t"/>
          <a:lstStyle/>
          <a:p>
            <a:pPr indent="0" marL="0">
              <a:lnSpc>
                <a:spcPts val="1700"/>
              </a:lnSpc>
              <a:buNone/>
            </a:pPr>
            <a:r>
              <a:rPr lang="en-US" sz="1300" b="1" dirty="0">
                <a:solidFill>
                  <a:srgbClr val="2B3038"/>
                </a:solidFill>
                <a:latin typeface="Cambria" pitchFamily="34" charset="0"/>
                <a:ea typeface="Cambria" pitchFamily="34" charset="-122"/>
                <a:cs typeface="Cambria" pitchFamily="34" charset="-120"/>
              </a:rPr>
              <a:t>How many events does the firmware really produce?</a:t>
            </a:r>
            <a:endParaRPr lang="en-US" sz="1300" dirty="0"/>
          </a:p>
        </p:txBody>
      </p:sp>
      <p:sp>
        <p:nvSpPr>
          <p:cNvPr id="12" name="Text 10"/>
          <p:cNvSpPr txBox="1"/>
          <p:nvPr/>
        </p:nvSpPr>
        <p:spPr>
          <a:xfrm>
            <a:off x="10625328" y="1719072"/>
            <a:ext cx="859536" cy="219456"/>
          </a:xfrm>
          <a:prstGeom prst="rect">
            <a:avLst/>
          </a:prstGeom>
          <a:noFill/>
          <a:ln/>
        </p:spPr>
        <p:txBody>
          <a:bodyPr wrap="square" lIns="0" tIns="0" rIns="0" bIns="0" rtlCol="0" anchor="t"/>
          <a:lstStyle/>
          <a:p>
            <a:pPr algn="r" indent="0" marL="0">
              <a:buNone/>
            </a:pPr>
            <a:r>
              <a:rPr lang="en-US" sz="850" b="1" spc="80" kern="0" dirty="0">
                <a:solidFill>
                  <a:srgbClr val="C8621E"/>
                </a:solidFill>
                <a:latin typeface="Calibri" pitchFamily="34" charset="0"/>
                <a:ea typeface="Calibri" pitchFamily="34" charset="-122"/>
                <a:cs typeface="Calibri" pitchFamily="34" charset="-120"/>
              </a:rPr>
              <a:t>ENGINEERING</a:t>
            </a:r>
            <a:endParaRPr lang="en-US" sz="850" dirty="0"/>
          </a:p>
        </p:txBody>
      </p:sp>
      <p:sp>
        <p:nvSpPr>
          <p:cNvPr id="13" name="Text 11"/>
          <p:cNvSpPr txBox="1"/>
          <p:nvPr/>
        </p:nvSpPr>
        <p:spPr>
          <a:xfrm>
            <a:off x="6656832" y="2194560"/>
            <a:ext cx="4828032" cy="73152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Whether this is a triage product at all. If the number is low, we stop and I rewrite the brief.</a:t>
            </a:r>
            <a:endParaRPr lang="en-US" sz="1150" dirty="0"/>
          </a:p>
        </p:txBody>
      </p:sp>
      <p:sp>
        <p:nvSpPr>
          <p:cNvPr id="14" name="Shape 12"/>
          <p:cNvSpPr/>
          <p:nvPr/>
        </p:nvSpPr>
        <p:spPr>
          <a:xfrm>
            <a:off x="658368" y="3163824"/>
            <a:ext cx="310896" cy="310896"/>
          </a:xfrm>
          <a:prstGeom prst="ellipse">
            <a:avLst/>
          </a:prstGeom>
          <a:solidFill>
            <a:srgbClr val="2B3038"/>
          </a:solidFill>
          <a:ln/>
        </p:spPr>
      </p:sp>
      <p:sp>
        <p:nvSpPr>
          <p:cNvPr id="15" name="Text 13"/>
          <p:cNvSpPr txBox="1"/>
          <p:nvPr/>
        </p:nvSpPr>
        <p:spPr>
          <a:xfrm>
            <a:off x="658368" y="3204972"/>
            <a:ext cx="310896"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115568" y="3127248"/>
            <a:ext cx="3931920" cy="457200"/>
          </a:xfrm>
          <a:prstGeom prst="rect">
            <a:avLst/>
          </a:prstGeom>
          <a:noFill/>
          <a:ln/>
        </p:spPr>
        <p:txBody>
          <a:bodyPr wrap="square" lIns="0" tIns="0" rIns="0" bIns="0" rtlCol="0" anchor="t"/>
          <a:lstStyle/>
          <a:p>
            <a:pPr indent="0" marL="0">
              <a:lnSpc>
                <a:spcPts val="1700"/>
              </a:lnSpc>
              <a:buNone/>
            </a:pPr>
            <a:r>
              <a:rPr lang="en-US" sz="1300" b="1" dirty="0">
                <a:solidFill>
                  <a:srgbClr val="2B3038"/>
                </a:solidFill>
                <a:latin typeface="Cambria" pitchFamily="34" charset="0"/>
                <a:ea typeface="Cambria" pitchFamily="34" charset="-122"/>
                <a:cs typeface="Cambria" pitchFamily="34" charset="-120"/>
              </a:rPr>
              <a:t>Which devices can run the detection?</a:t>
            </a:r>
            <a:endParaRPr lang="en-US" sz="1300" dirty="0"/>
          </a:p>
        </p:txBody>
      </p:sp>
      <p:sp>
        <p:nvSpPr>
          <p:cNvPr id="17" name="Text 15"/>
          <p:cNvSpPr txBox="1"/>
          <p:nvPr/>
        </p:nvSpPr>
        <p:spPr>
          <a:xfrm>
            <a:off x="5084064" y="3163824"/>
            <a:ext cx="859536" cy="219456"/>
          </a:xfrm>
          <a:prstGeom prst="rect">
            <a:avLst/>
          </a:prstGeom>
          <a:noFill/>
          <a:ln/>
        </p:spPr>
        <p:txBody>
          <a:bodyPr wrap="square" lIns="0" tIns="0" rIns="0" bIns="0" rtlCol="0" anchor="t"/>
          <a:lstStyle/>
          <a:p>
            <a:pPr algn="r" indent="0" marL="0">
              <a:buNone/>
            </a:pPr>
            <a:r>
              <a:rPr lang="en-US" sz="850" b="1" spc="80" kern="0" dirty="0">
                <a:solidFill>
                  <a:srgbClr val="C8621E"/>
                </a:solidFill>
                <a:latin typeface="Calibri" pitchFamily="34" charset="0"/>
                <a:ea typeface="Calibri" pitchFamily="34" charset="-122"/>
                <a:cs typeface="Calibri" pitchFamily="34" charset="-120"/>
              </a:rPr>
              <a:t>ENGINEERING</a:t>
            </a:r>
            <a:endParaRPr lang="en-US" sz="850" dirty="0"/>
          </a:p>
        </p:txBody>
      </p:sp>
      <p:sp>
        <p:nvSpPr>
          <p:cNvPr id="18" name="Text 16"/>
          <p:cNvSpPr txBox="1"/>
          <p:nvPr/>
        </p:nvSpPr>
        <p:spPr>
          <a:xfrm>
            <a:off x="1115568" y="3639312"/>
            <a:ext cx="4828032" cy="73152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Whether the first release is software or a hardware programme, and whether recognition makes it in.</a:t>
            </a:r>
            <a:endParaRPr lang="en-US" sz="1150" dirty="0"/>
          </a:p>
        </p:txBody>
      </p:sp>
      <p:sp>
        <p:nvSpPr>
          <p:cNvPr id="19" name="Shape 17"/>
          <p:cNvSpPr/>
          <p:nvPr/>
        </p:nvSpPr>
        <p:spPr>
          <a:xfrm>
            <a:off x="6199632" y="3163824"/>
            <a:ext cx="310896" cy="310896"/>
          </a:xfrm>
          <a:prstGeom prst="ellipse">
            <a:avLst/>
          </a:prstGeom>
          <a:solidFill>
            <a:srgbClr val="2B3038"/>
          </a:solidFill>
          <a:ln/>
        </p:spPr>
      </p:sp>
      <p:sp>
        <p:nvSpPr>
          <p:cNvPr id="20" name="Text 18"/>
          <p:cNvSpPr txBox="1"/>
          <p:nvPr/>
        </p:nvSpPr>
        <p:spPr>
          <a:xfrm>
            <a:off x="6199632" y="3204972"/>
            <a:ext cx="310896"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6656832" y="3127248"/>
            <a:ext cx="3931920" cy="457200"/>
          </a:xfrm>
          <a:prstGeom prst="rect">
            <a:avLst/>
          </a:prstGeom>
          <a:noFill/>
          <a:ln/>
        </p:spPr>
        <p:txBody>
          <a:bodyPr wrap="square" lIns="0" tIns="0" rIns="0" bIns="0" rtlCol="0" anchor="t"/>
          <a:lstStyle/>
          <a:p>
            <a:pPr indent="0" marL="0">
              <a:lnSpc>
                <a:spcPts val="1700"/>
              </a:lnSpc>
              <a:buNone/>
            </a:pPr>
            <a:r>
              <a:rPr lang="en-US" sz="1300" b="1" dirty="0">
                <a:solidFill>
                  <a:srgbClr val="2B3038"/>
                </a:solidFill>
                <a:latin typeface="Cambria" pitchFamily="34" charset="0"/>
                <a:ea typeface="Cambria" pitchFamily="34" charset="-122"/>
                <a:cs typeface="Cambria" pitchFamily="34" charset="-120"/>
              </a:rPr>
              <a:t>How do you know who was driving, and how often?</a:t>
            </a:r>
            <a:endParaRPr lang="en-US" sz="1300" dirty="0"/>
          </a:p>
        </p:txBody>
      </p:sp>
      <p:sp>
        <p:nvSpPr>
          <p:cNvPr id="22" name="Text 20"/>
          <p:cNvSpPr txBox="1"/>
          <p:nvPr/>
        </p:nvSpPr>
        <p:spPr>
          <a:xfrm>
            <a:off x="10625328" y="3163824"/>
            <a:ext cx="859536" cy="219456"/>
          </a:xfrm>
          <a:prstGeom prst="rect">
            <a:avLst/>
          </a:prstGeom>
          <a:noFill/>
          <a:ln/>
        </p:spPr>
        <p:txBody>
          <a:bodyPr wrap="square" lIns="0" tIns="0" rIns="0" bIns="0" rtlCol="0" anchor="t"/>
          <a:lstStyle/>
          <a:p>
            <a:pPr algn="r" indent="0" marL="0">
              <a:buNone/>
            </a:pPr>
            <a:r>
              <a:rPr lang="en-US" sz="850" b="1" spc="80" kern="0" dirty="0">
                <a:solidFill>
                  <a:srgbClr val="C8621E"/>
                </a:solidFill>
                <a:latin typeface="Calibri" pitchFamily="34" charset="0"/>
                <a:ea typeface="Calibri" pitchFamily="34" charset="-122"/>
                <a:cs typeface="Calibri" pitchFamily="34" charset="-120"/>
              </a:rPr>
              <a:t>ENGINEERING</a:t>
            </a:r>
            <a:endParaRPr lang="en-US" sz="850" dirty="0"/>
          </a:p>
        </p:txBody>
      </p:sp>
      <p:sp>
        <p:nvSpPr>
          <p:cNvPr id="23" name="Text 21"/>
          <p:cNvSpPr txBox="1"/>
          <p:nvPr/>
        </p:nvSpPr>
        <p:spPr>
          <a:xfrm>
            <a:off x="6656832" y="3639312"/>
            <a:ext cx="4828032" cy="73152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Assumed solved for this exercise. If it is not, the release splits: review ships, coaching waits.</a:t>
            </a:r>
            <a:endParaRPr lang="en-US" sz="1150" dirty="0"/>
          </a:p>
        </p:txBody>
      </p:sp>
      <p:sp>
        <p:nvSpPr>
          <p:cNvPr id="24" name="Shape 22"/>
          <p:cNvSpPr/>
          <p:nvPr/>
        </p:nvSpPr>
        <p:spPr>
          <a:xfrm>
            <a:off x="658368" y="4608576"/>
            <a:ext cx="310896" cy="310896"/>
          </a:xfrm>
          <a:prstGeom prst="ellipse">
            <a:avLst/>
          </a:prstGeom>
          <a:solidFill>
            <a:srgbClr val="2B3038"/>
          </a:solidFill>
          <a:ln/>
        </p:spPr>
      </p:sp>
      <p:sp>
        <p:nvSpPr>
          <p:cNvPr id="25" name="Text 23"/>
          <p:cNvSpPr txBox="1"/>
          <p:nvPr/>
        </p:nvSpPr>
        <p:spPr>
          <a:xfrm>
            <a:off x="658368" y="4649724"/>
            <a:ext cx="310896"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4"/>
          <p:cNvSpPr txBox="1"/>
          <p:nvPr/>
        </p:nvSpPr>
        <p:spPr>
          <a:xfrm>
            <a:off x="1115568" y="4572000"/>
            <a:ext cx="3931920" cy="457200"/>
          </a:xfrm>
          <a:prstGeom prst="rect">
            <a:avLst/>
          </a:prstGeom>
          <a:noFill/>
          <a:ln/>
        </p:spPr>
        <p:txBody>
          <a:bodyPr wrap="square" lIns="0" tIns="0" rIns="0" bIns="0" rtlCol="0" anchor="t"/>
          <a:lstStyle/>
          <a:p>
            <a:pPr indent="0" marL="0">
              <a:lnSpc>
                <a:spcPts val="1700"/>
              </a:lnSpc>
              <a:buNone/>
            </a:pPr>
            <a:r>
              <a:rPr lang="en-US" sz="1300" b="1" dirty="0">
                <a:solidFill>
                  <a:srgbClr val="2B3038"/>
                </a:solidFill>
                <a:latin typeface="Cambria" pitchFamily="34" charset="0"/>
                <a:ea typeface="Cambria" pitchFamily="34" charset="-122"/>
                <a:cs typeface="Cambria" pitchFamily="34" charset="-120"/>
              </a:rPr>
              <a:t>What is the legal basis in each market?</a:t>
            </a:r>
            <a:endParaRPr lang="en-US" sz="1300" dirty="0"/>
          </a:p>
        </p:txBody>
      </p:sp>
      <p:sp>
        <p:nvSpPr>
          <p:cNvPr id="27" name="Text 25"/>
          <p:cNvSpPr txBox="1"/>
          <p:nvPr/>
        </p:nvSpPr>
        <p:spPr>
          <a:xfrm>
            <a:off x="5084064" y="4608576"/>
            <a:ext cx="859536" cy="219456"/>
          </a:xfrm>
          <a:prstGeom prst="rect">
            <a:avLst/>
          </a:prstGeom>
          <a:noFill/>
          <a:ln/>
        </p:spPr>
        <p:txBody>
          <a:bodyPr wrap="square" lIns="0" tIns="0" rIns="0" bIns="0" rtlCol="0" anchor="t"/>
          <a:lstStyle/>
          <a:p>
            <a:pPr algn="r" indent="0" marL="0">
              <a:buNone/>
            </a:pPr>
            <a:r>
              <a:rPr lang="en-US" sz="850" b="1" spc="80" kern="0" dirty="0">
                <a:solidFill>
                  <a:srgbClr val="C8621E"/>
                </a:solidFill>
                <a:latin typeface="Calibri" pitchFamily="34" charset="0"/>
                <a:ea typeface="Calibri" pitchFamily="34" charset="-122"/>
                <a:cs typeface="Calibri" pitchFamily="34" charset="-120"/>
              </a:rPr>
              <a:t>LEGAL</a:t>
            </a:r>
            <a:endParaRPr lang="en-US" sz="850" dirty="0"/>
          </a:p>
        </p:txBody>
      </p:sp>
      <p:sp>
        <p:nvSpPr>
          <p:cNvPr id="28" name="Text 26"/>
          <p:cNvSpPr txBox="1"/>
          <p:nvPr/>
        </p:nvSpPr>
        <p:spPr>
          <a:xfrm>
            <a:off x="1115568" y="5084064"/>
            <a:ext cx="4828032" cy="73152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Which markets can use footage for coaching at all. One that cannot needs a different product.</a:t>
            </a:r>
            <a:endParaRPr lang="en-US" sz="1150" dirty="0"/>
          </a:p>
        </p:txBody>
      </p:sp>
      <p:sp>
        <p:nvSpPr>
          <p:cNvPr id="29" name="Shape 27"/>
          <p:cNvSpPr/>
          <p:nvPr/>
        </p:nvSpPr>
        <p:spPr>
          <a:xfrm>
            <a:off x="6199632" y="4608576"/>
            <a:ext cx="310896" cy="310896"/>
          </a:xfrm>
          <a:prstGeom prst="ellipse">
            <a:avLst/>
          </a:prstGeom>
          <a:solidFill>
            <a:srgbClr val="2B3038"/>
          </a:solidFill>
          <a:ln/>
        </p:spPr>
      </p:sp>
      <p:sp>
        <p:nvSpPr>
          <p:cNvPr id="30" name="Text 28"/>
          <p:cNvSpPr txBox="1"/>
          <p:nvPr/>
        </p:nvSpPr>
        <p:spPr>
          <a:xfrm>
            <a:off x="6199632" y="4649724"/>
            <a:ext cx="310896"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1" name="Text 29"/>
          <p:cNvSpPr txBox="1"/>
          <p:nvPr/>
        </p:nvSpPr>
        <p:spPr>
          <a:xfrm>
            <a:off x="6656832" y="4572000"/>
            <a:ext cx="3931920" cy="457200"/>
          </a:xfrm>
          <a:prstGeom prst="rect">
            <a:avLst/>
          </a:prstGeom>
          <a:noFill/>
          <a:ln/>
        </p:spPr>
        <p:txBody>
          <a:bodyPr wrap="square" lIns="0" tIns="0" rIns="0" bIns="0" rtlCol="0" anchor="t"/>
          <a:lstStyle/>
          <a:p>
            <a:pPr indent="0" marL="0">
              <a:lnSpc>
                <a:spcPts val="1700"/>
              </a:lnSpc>
              <a:buNone/>
            </a:pPr>
            <a:r>
              <a:rPr lang="en-US" sz="1300" b="1" dirty="0">
                <a:solidFill>
                  <a:srgbClr val="2B3038"/>
                </a:solidFill>
                <a:latin typeface="Cambria" pitchFamily="34" charset="0"/>
                <a:ea typeface="Cambria" pitchFamily="34" charset="-122"/>
                <a:cs typeface="Cambria" pitchFamily="34" charset="-120"/>
              </a:rPr>
              <a:t>What does a manager's week actually look like?</a:t>
            </a:r>
            <a:endParaRPr lang="en-US" sz="1300" dirty="0"/>
          </a:p>
        </p:txBody>
      </p:sp>
      <p:sp>
        <p:nvSpPr>
          <p:cNvPr id="32" name="Text 30"/>
          <p:cNvSpPr txBox="1"/>
          <p:nvPr/>
        </p:nvSpPr>
        <p:spPr>
          <a:xfrm>
            <a:off x="10625328" y="4608576"/>
            <a:ext cx="859536" cy="219456"/>
          </a:xfrm>
          <a:prstGeom prst="rect">
            <a:avLst/>
          </a:prstGeom>
          <a:noFill/>
          <a:ln/>
        </p:spPr>
        <p:txBody>
          <a:bodyPr wrap="square" lIns="0" tIns="0" rIns="0" bIns="0" rtlCol="0" anchor="t"/>
          <a:lstStyle/>
          <a:p>
            <a:pPr algn="r" indent="0" marL="0">
              <a:buNone/>
            </a:pPr>
            <a:r>
              <a:rPr lang="en-US" sz="850" b="1" spc="80" kern="0" dirty="0">
                <a:solidFill>
                  <a:srgbClr val="C8621E"/>
                </a:solidFill>
                <a:latin typeface="Calibri" pitchFamily="34" charset="0"/>
                <a:ea typeface="Calibri" pitchFamily="34" charset="-122"/>
                <a:cs typeface="Calibri" pitchFamily="34" charset="-120"/>
              </a:rPr>
              <a:t>CUSTOMER</a:t>
            </a:r>
            <a:endParaRPr lang="en-US" sz="850" dirty="0"/>
          </a:p>
        </p:txBody>
      </p:sp>
      <p:sp>
        <p:nvSpPr>
          <p:cNvPr id="33" name="Text 31"/>
          <p:cNvSpPr txBox="1"/>
          <p:nvPr/>
        </p:nvSpPr>
        <p:spPr>
          <a:xfrm>
            <a:off x="6656832" y="5084064"/>
            <a:ext cx="4828032" cy="73152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What we are allowed to claim we replace, and the rhythm the set is built around.</a:t>
            </a:r>
            <a:endParaRPr lang="en-US" sz="1150" dirty="0"/>
          </a:p>
        </p:txBody>
      </p:sp>
      <p:sp>
        <p:nvSpPr>
          <p:cNvPr id="34" name="Text 32"/>
          <p:cNvSpPr txBox="1"/>
          <p:nvPr/>
        </p:nvSpPr>
        <p:spPr>
          <a:xfrm>
            <a:off x="658368" y="6053328"/>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A question whose answer only moves a date was never blocking. Four of these change the plan. The other two change what we are allowed to claim.</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HOW I WORK</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All of it came out of a repository you can open</a:t>
            </a:r>
            <a:endParaRPr lang="en-US" sz="3000" dirty="0"/>
          </a:p>
        </p:txBody>
      </p:sp>
      <p:sp>
        <p:nvSpPr>
          <p:cNvPr id="4" name="Text 2"/>
          <p:cNvSpPr txBox="1"/>
          <p:nvPr/>
        </p:nvSpPr>
        <p:spPr>
          <a:xfrm>
            <a:off x="658368" y="1645920"/>
            <a:ext cx="10844784" cy="457200"/>
          </a:xfrm>
          <a:prstGeom prst="rect">
            <a:avLst/>
          </a:prstGeom>
          <a:noFill/>
          <a:ln/>
        </p:spPr>
        <p:txBody>
          <a:bodyPr wrap="square" lIns="0" tIns="0" rIns="0" bIns="0" rtlCol="0" anchor="t"/>
          <a:lstStyle/>
          <a:p>
            <a:pPr indent="0" marL="0">
              <a:lnSpc>
                <a:spcPts val="1900"/>
              </a:lnSpc>
              <a:buNone/>
            </a:pPr>
            <a:r>
              <a:rPr lang="en-US" sz="1350" dirty="0">
                <a:solidFill>
                  <a:srgbClr val="5E666F"/>
                </a:solidFill>
                <a:latin typeface="Calibri" pitchFamily="34" charset="0"/>
                <a:ea typeface="Calibri" pitchFamily="34" charset="-122"/>
                <a:cs typeface="Calibri" pitchFamily="34" charset="-120"/>
              </a:rPr>
              <a:t>This is how I run a product function, not something built for this exercise. Every claim in this deck points at a file in here, and every file says who wrote it, who decided it, and whether it has been challenged yet.</a:t>
            </a:r>
            <a:endParaRPr lang="en-US" sz="1350" dirty="0"/>
          </a:p>
        </p:txBody>
      </p:sp>
      <p:sp>
        <p:nvSpPr>
          <p:cNvPr id="5" name="Shape 3"/>
          <p:cNvSpPr/>
          <p:nvPr/>
        </p:nvSpPr>
        <p:spPr>
          <a:xfrm>
            <a:off x="658368" y="2249424"/>
            <a:ext cx="3419856" cy="2926080"/>
          </a:xfrm>
          <a:prstGeom prst="rect">
            <a:avLst/>
          </a:prstGeom>
          <a:solidFill>
            <a:srgbClr val="F2F3F4"/>
          </a:solidFill>
          <a:ln w="9525">
            <a:solidFill>
              <a:srgbClr val="DDE0E3"/>
            </a:solidFill>
            <a:prstDash val="solid"/>
          </a:ln>
        </p:spPr>
      </p:sp>
      <p:sp>
        <p:nvSpPr>
          <p:cNvPr id="6" name="Text 4"/>
          <p:cNvSpPr txBox="1"/>
          <p:nvPr/>
        </p:nvSpPr>
        <p:spPr>
          <a:xfrm>
            <a:off x="914400" y="2468880"/>
            <a:ext cx="2926080" cy="310896"/>
          </a:xfrm>
          <a:prstGeom prst="rect">
            <a:avLst/>
          </a:prstGeom>
          <a:noFill/>
          <a:ln/>
        </p:spPr>
        <p:txBody>
          <a:bodyPr wrap="square" lIns="0" tIns="0" rIns="0" bIns="0" rtlCol="0" anchor="t"/>
          <a:lstStyle/>
          <a:p>
            <a:pPr indent="0" marL="0">
              <a:buNone/>
            </a:pPr>
            <a:r>
              <a:rPr lang="en-US" sz="1550" b="1" dirty="0">
                <a:solidFill>
                  <a:srgbClr val="2B3038"/>
                </a:solidFill>
                <a:latin typeface="Cambria" pitchFamily="34" charset="0"/>
                <a:ea typeface="Cambria" pitchFamily="34" charset="-122"/>
                <a:cs typeface="Cambria" pitchFamily="34" charset="-120"/>
              </a:rPr>
              <a:t>The documents</a:t>
            </a:r>
            <a:endParaRPr lang="en-US" sz="1550" dirty="0"/>
          </a:p>
        </p:txBody>
      </p:sp>
      <p:sp>
        <p:nvSpPr>
          <p:cNvPr id="7" name="Text 5"/>
          <p:cNvSpPr txBox="1"/>
          <p:nvPr/>
        </p:nvSpPr>
        <p:spPr>
          <a:xfrm>
            <a:off x="914400" y="2871216"/>
            <a:ext cx="2926080" cy="219456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26 assumptions, each with a confidence rating, what breaks if it is wrong, and how to check it.</a:t>
            </a:r>
            <a:endParaRPr lang="en-US" sz="1150" dirty="0"/>
          </a:p>
          <a:p>
            <a:pPr indent="0" marL="0">
              <a:lnSpc>
                <a:spcPts val="1500"/>
              </a:lnSpc>
              <a:buNone/>
            </a:pPr>
            <a:endParaRPr lang="en-US" sz="1150" dirty="0"/>
          </a:p>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15 decisions, each with the options it beat and the cost it accepts.</a:t>
            </a:r>
            <a:endParaRPr lang="en-US" sz="1150" dirty="0"/>
          </a:p>
          <a:p>
            <a:pPr indent="0" marL="0">
              <a:lnSpc>
                <a:spcPts val="1500"/>
              </a:lnSpc>
              <a:buNone/>
            </a:pPr>
            <a:endParaRPr lang="en-US" sz="1150" dirty="0"/>
          </a:p>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15 user stories, 15 risks, 10 open questions, 17 measures. 98 cross-referenced IDs in all.</a:t>
            </a:r>
            <a:endParaRPr lang="en-US" sz="1150" dirty="0"/>
          </a:p>
        </p:txBody>
      </p:sp>
      <p:sp>
        <p:nvSpPr>
          <p:cNvPr id="8" name="Shape 6"/>
          <p:cNvSpPr/>
          <p:nvPr/>
        </p:nvSpPr>
        <p:spPr>
          <a:xfrm>
            <a:off x="4334256" y="2249424"/>
            <a:ext cx="3419856" cy="2926080"/>
          </a:xfrm>
          <a:prstGeom prst="rect">
            <a:avLst/>
          </a:prstGeom>
          <a:solidFill>
            <a:srgbClr val="F2F3F4"/>
          </a:solidFill>
          <a:ln w="9525">
            <a:solidFill>
              <a:srgbClr val="DDE0E3"/>
            </a:solidFill>
            <a:prstDash val="solid"/>
          </a:ln>
        </p:spPr>
      </p:sp>
      <p:sp>
        <p:nvSpPr>
          <p:cNvPr id="9" name="Text 7"/>
          <p:cNvSpPr txBox="1"/>
          <p:nvPr/>
        </p:nvSpPr>
        <p:spPr>
          <a:xfrm>
            <a:off x="4590288" y="2468880"/>
            <a:ext cx="2926080" cy="310896"/>
          </a:xfrm>
          <a:prstGeom prst="rect">
            <a:avLst/>
          </a:prstGeom>
          <a:noFill/>
          <a:ln/>
        </p:spPr>
        <p:txBody>
          <a:bodyPr wrap="square" lIns="0" tIns="0" rIns="0" bIns="0" rtlCol="0" anchor="t"/>
          <a:lstStyle/>
          <a:p>
            <a:pPr indent="0" marL="0">
              <a:buNone/>
            </a:pPr>
            <a:r>
              <a:rPr lang="en-US" sz="1550" b="1" dirty="0">
                <a:solidFill>
                  <a:srgbClr val="2B3038"/>
                </a:solidFill>
                <a:latin typeface="Cambria" pitchFamily="34" charset="0"/>
                <a:ea typeface="Cambria" pitchFamily="34" charset="-122"/>
                <a:cs typeface="Cambria" pitchFamily="34" charset="-120"/>
              </a:rPr>
              <a:t>The skills</a:t>
            </a:r>
            <a:endParaRPr lang="en-US" sz="1550" dirty="0"/>
          </a:p>
        </p:txBody>
      </p:sp>
      <p:sp>
        <p:nvSpPr>
          <p:cNvPr id="10" name="Text 8"/>
          <p:cNvSpPr txBox="1"/>
          <p:nvPr/>
        </p:nvSpPr>
        <p:spPr>
          <a:xfrm>
            <a:off x="4590288" y="2871216"/>
            <a:ext cx="2926080" cy="219456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Nine recipes, one for each kind of document, setting out how it gets written and what makes a bad one.</a:t>
            </a:r>
            <a:endParaRPr lang="en-US" sz="1150" dirty="0"/>
          </a:p>
          <a:p>
            <a:pPr indent="0" marL="0">
              <a:lnSpc>
                <a:spcPts val="1500"/>
              </a:lnSpc>
              <a:buNone/>
            </a:pPr>
            <a:endParaRPr lang="en-US" sz="1150" dirty="0"/>
          </a:p>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Five came from my own working repository and are used daily on a live codebase. Four were written here, because this exercise needed kinds of document I did not already have a recipe for.</a:t>
            </a:r>
            <a:endParaRPr lang="en-US" sz="1150" dirty="0"/>
          </a:p>
        </p:txBody>
      </p:sp>
      <p:sp>
        <p:nvSpPr>
          <p:cNvPr id="11" name="Shape 9"/>
          <p:cNvSpPr/>
          <p:nvPr/>
        </p:nvSpPr>
        <p:spPr>
          <a:xfrm>
            <a:off x="8010144" y="2249424"/>
            <a:ext cx="3419856" cy="2926080"/>
          </a:xfrm>
          <a:prstGeom prst="rect">
            <a:avLst/>
          </a:prstGeom>
          <a:solidFill>
            <a:srgbClr val="FAEFE7"/>
          </a:solidFill>
          <a:ln w="9525">
            <a:solidFill>
              <a:srgbClr val="FAEFE7"/>
            </a:solidFill>
            <a:prstDash val="solid"/>
          </a:ln>
        </p:spPr>
      </p:sp>
      <p:sp>
        <p:nvSpPr>
          <p:cNvPr id="12" name="Text 10"/>
          <p:cNvSpPr txBox="1"/>
          <p:nvPr/>
        </p:nvSpPr>
        <p:spPr>
          <a:xfrm>
            <a:off x="8266176" y="2468880"/>
            <a:ext cx="2926080" cy="310896"/>
          </a:xfrm>
          <a:prstGeom prst="rect">
            <a:avLst/>
          </a:prstGeom>
          <a:noFill/>
          <a:ln/>
        </p:spPr>
        <p:txBody>
          <a:bodyPr wrap="square" lIns="0" tIns="0" rIns="0" bIns="0" rtlCol="0" anchor="t"/>
          <a:lstStyle/>
          <a:p>
            <a:pPr indent="0" marL="0">
              <a:buNone/>
            </a:pPr>
            <a:r>
              <a:rPr lang="en-US" sz="1550" b="1" dirty="0">
                <a:solidFill>
                  <a:srgbClr val="C8621E"/>
                </a:solidFill>
                <a:latin typeface="Cambria" pitchFamily="34" charset="0"/>
                <a:ea typeface="Cambria" pitchFamily="34" charset="-122"/>
                <a:cs typeface="Cambria" pitchFamily="34" charset="-120"/>
              </a:rPr>
              <a:t>The validator</a:t>
            </a:r>
            <a:endParaRPr lang="en-US" sz="1550" dirty="0"/>
          </a:p>
        </p:txBody>
      </p:sp>
      <p:sp>
        <p:nvSpPr>
          <p:cNvPr id="13" name="Text 11"/>
          <p:cNvSpPr txBox="1"/>
          <p:nvPr/>
        </p:nvSpPr>
        <p:spPr>
          <a:xfrm>
            <a:off x="8266176" y="2871216"/>
            <a:ext cx="2926080" cy="2194560"/>
          </a:xfrm>
          <a:prstGeom prst="rect">
            <a:avLst/>
          </a:prstGeom>
          <a:noFill/>
          <a:ln/>
        </p:spPr>
        <p:txBody>
          <a:bodyPr wrap="square" lIns="0" tIns="0" rIns="0" bIns="0" rtlCol="0" anchor="t"/>
          <a:lstStyle/>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A script that fails the build if a story moves no measure, a risk has no mitigation, a link points nowhere, or an assumption is never used.</a:t>
            </a:r>
            <a:endParaRPr lang="en-US" sz="1150" dirty="0"/>
          </a:p>
          <a:p>
            <a:pPr indent="0" marL="0">
              <a:lnSpc>
                <a:spcPts val="1500"/>
              </a:lnSpc>
              <a:buNone/>
            </a:pPr>
            <a:endParaRPr lang="en-US" sz="1150" dirty="0"/>
          </a:p>
          <a:p>
            <a:pPr indent="0" marL="0">
              <a:lnSpc>
                <a:spcPts val="1500"/>
              </a:lnSpc>
              <a:buNone/>
            </a:pPr>
            <a:r>
              <a:rPr lang="en-US" sz="1150" dirty="0">
                <a:solidFill>
                  <a:srgbClr val="5E666F"/>
                </a:solidFill>
                <a:latin typeface="Calibri" pitchFamily="34" charset="0"/>
                <a:ea typeface="Calibri" pitchFamily="34" charset="-122"/>
                <a:cs typeface="Calibri" pitchFamily="34" charset="-120"/>
              </a:rPr>
              <a:t>It runs on every push. It is the most automated thing here and every rule inside it was a human decision about what good looks like.</a:t>
            </a:r>
            <a:endParaRPr lang="en-US" sz="1150" dirty="0"/>
          </a:p>
        </p:txBody>
      </p:sp>
      <p:sp>
        <p:nvSpPr>
          <p:cNvPr id="14" name="Text 12"/>
          <p:cNvSpPr txBox="1"/>
          <p:nvPr/>
        </p:nvSpPr>
        <p:spPr>
          <a:xfrm>
            <a:off x="658368" y="5394960"/>
            <a:ext cx="10844784" cy="329184"/>
          </a:xfrm>
          <a:prstGeom prst="rect">
            <a:avLst/>
          </a:prstGeom>
          <a:noFill/>
          <a:ln/>
        </p:spPr>
        <p:txBody>
          <a:bodyPr wrap="square" lIns="0" tIns="0" rIns="0" bIns="0" rtlCol="0" anchor="t"/>
          <a:lstStyle/>
          <a:p>
            <a:pPr indent="0" marL="0">
              <a:buNone/>
            </a:pPr>
            <a:r>
              <a:rPr lang="en-US" sz="1300" b="1" dirty="0">
                <a:solidFill>
                  <a:srgbClr val="2B3038"/>
                </a:solidFill>
                <a:latin typeface="Calibri" pitchFamily="34" charset="0"/>
                <a:ea typeface="Calibri" pitchFamily="34" charset="-122"/>
                <a:cs typeface="Calibri" pitchFamily="34" charset="-120"/>
              </a:rPr>
              <a:t>Open it:   </a:t>
            </a:r>
            <a:pPr indent="0" marL="0">
              <a:buNone/>
            </a:pPr>
            <a:r>
              <a:rPr lang="en-US" sz="1300" u="sng" dirty="0">
                <a:solidFill>
                  <a:srgbClr val="C862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 repository</a:t>
            </a:r>
            <a:pPr indent="0" marL="0">
              <a:buNone/>
            </a:pPr>
            <a:r>
              <a:rPr lang="en-US" sz="1300" dirty="0">
                <a:solidFill>
                  <a:srgbClr val="2B3038"/>
                </a:solidFill>
                <a:latin typeface="Calibri" pitchFamily="34" charset="0"/>
                <a:ea typeface="Calibri" pitchFamily="34" charset="-122"/>
                <a:cs typeface="Calibri" pitchFamily="34" charset="-120"/>
              </a:rPr>
              <a:t>      </a:t>
            </a:r>
            <a:pPr indent="0" marL="0">
              <a:buNone/>
            </a:pPr>
            <a:r>
              <a:rPr lang="en-US" sz="1300" u="sng" dirty="0">
                <a:solidFill>
                  <a:srgbClr val="C8621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clickable prototype</a:t>
            </a:r>
            <a:pPr indent="0" marL="0">
              <a:buNone/>
            </a:pPr>
            <a:r>
              <a:rPr lang="en-US" sz="1300" dirty="0">
                <a:solidFill>
                  <a:srgbClr val="2B3038"/>
                </a:solidFill>
                <a:latin typeface="Calibri" pitchFamily="34" charset="0"/>
                <a:ea typeface="Calibri" pitchFamily="34" charset="-122"/>
                <a:cs typeface="Calibri" pitchFamily="34" charset="-120"/>
              </a:rPr>
              <a:t>      </a:t>
            </a:r>
            <a:pPr indent="0" marL="0">
              <a:buNone/>
            </a:pPr>
            <a:r>
              <a:rPr lang="en-US" sz="1300" u="sng" dirty="0">
                <a:solidFill>
                  <a:srgbClr val="C8621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 story map</a:t>
            </a:r>
            <a:pPr indent="0" marL="0">
              <a:buNone/>
            </a:pPr>
            <a:r>
              <a:rPr lang="en-US" sz="1300" dirty="0">
                <a:solidFill>
                  <a:srgbClr val="2B3038"/>
                </a:solidFill>
                <a:latin typeface="Calibri" pitchFamily="34" charset="0"/>
                <a:ea typeface="Calibri" pitchFamily="34" charset="-122"/>
                <a:cs typeface="Calibri" pitchFamily="34" charset="-120"/>
              </a:rPr>
              <a:t>      </a:t>
            </a:r>
            <a:pPr indent="0" marL="0">
              <a:buNone/>
            </a:pPr>
            <a:r>
              <a:rPr lang="en-US" sz="1300" u="sng" dirty="0">
                <a:solidFill>
                  <a:srgbClr val="C8621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 validator</a:t>
            </a:r>
            <a:endParaRPr lang="en-US" sz="1300" dirty="0"/>
          </a:p>
        </p:txBody>
      </p:sp>
      <p:sp>
        <p:nvSpPr>
          <p:cNvPr id="15" name="Text 13"/>
          <p:cNvSpPr txBox="1"/>
          <p:nvPr/>
        </p:nvSpPr>
        <p:spPr>
          <a:xfrm>
            <a:off x="658368" y="5852160"/>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About six hours of my own focused effort across two days, fitted around other work. The volume is agent output under my direction, and the commit history shows both halves of that honestly.</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WORKING WITH AI</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What the agents did, and what they could not decide</a:t>
            </a:r>
            <a:endParaRPr lang="en-US" sz="3000" dirty="0"/>
          </a:p>
        </p:txBody>
      </p:sp>
      <p:sp>
        <p:nvSpPr>
          <p:cNvPr id="4" name="Shape 2"/>
          <p:cNvSpPr/>
          <p:nvPr/>
        </p:nvSpPr>
        <p:spPr>
          <a:xfrm>
            <a:off x="658368" y="1719072"/>
            <a:ext cx="5303520" cy="2907792"/>
          </a:xfrm>
          <a:prstGeom prst="rect">
            <a:avLst/>
          </a:prstGeom>
          <a:solidFill>
            <a:srgbClr val="F2F3F4"/>
          </a:solidFill>
          <a:ln w="9525">
            <a:solidFill>
              <a:srgbClr val="DDE0E3"/>
            </a:solidFill>
            <a:prstDash val="solid"/>
          </a:ln>
        </p:spPr>
      </p:sp>
      <p:sp>
        <p:nvSpPr>
          <p:cNvPr id="5" name="Text 3"/>
          <p:cNvSpPr txBox="1"/>
          <p:nvPr/>
        </p:nvSpPr>
        <p:spPr>
          <a:xfrm>
            <a:off x="932688" y="1920240"/>
            <a:ext cx="4754880" cy="310896"/>
          </a:xfrm>
          <a:prstGeom prst="rect">
            <a:avLst/>
          </a:prstGeom>
          <a:noFill/>
          <a:ln/>
        </p:spPr>
        <p:txBody>
          <a:bodyPr wrap="square" lIns="0" tIns="0" rIns="0" bIns="0" rtlCol="0" anchor="t"/>
          <a:lstStyle/>
          <a:p>
            <a:pPr indent="0" marL="0">
              <a:buNone/>
            </a:pPr>
            <a:r>
              <a:rPr lang="en-US" sz="1500" b="1" dirty="0">
                <a:solidFill>
                  <a:srgbClr val="2B3038"/>
                </a:solidFill>
                <a:latin typeface="Cambria" pitchFamily="34" charset="0"/>
                <a:ea typeface="Cambria" pitchFamily="34" charset="-122"/>
                <a:cs typeface="Cambria" pitchFamily="34" charset="-120"/>
              </a:rPr>
              <a:t>What they did</a:t>
            </a:r>
            <a:endParaRPr lang="en-US" sz="1500" dirty="0"/>
          </a:p>
        </p:txBody>
      </p:sp>
      <p:sp>
        <p:nvSpPr>
          <p:cNvPr id="6" name="Text 4"/>
          <p:cNvSpPr txBox="1"/>
          <p:nvPr/>
        </p:nvSpPr>
        <p:spPr>
          <a:xfrm>
            <a:off x="932688" y="2340864"/>
            <a:ext cx="4754880" cy="219456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Gave me the options to choose between</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Wrote every document in the repository</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Kept 98 cross-referenced IDs in step</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Built and ran the validator that checks them</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Attacked the work, as a separate reviewer with no memory of writing it</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Built the prototype and the 43 tests that check it</a:t>
            </a:r>
            <a:endParaRPr lang="en-US" sz="1200" dirty="0"/>
          </a:p>
        </p:txBody>
      </p:sp>
      <p:sp>
        <p:nvSpPr>
          <p:cNvPr id="7" name="Shape 5"/>
          <p:cNvSpPr/>
          <p:nvPr/>
        </p:nvSpPr>
        <p:spPr>
          <a:xfrm>
            <a:off x="6199632" y="1719072"/>
            <a:ext cx="5303520" cy="2907792"/>
          </a:xfrm>
          <a:prstGeom prst="rect">
            <a:avLst/>
          </a:prstGeom>
          <a:solidFill>
            <a:srgbClr val="FAEFE7"/>
          </a:solidFill>
          <a:ln w="9525">
            <a:solidFill>
              <a:srgbClr val="FAEFE7"/>
            </a:solidFill>
            <a:prstDash val="solid"/>
          </a:ln>
        </p:spPr>
      </p:sp>
      <p:sp>
        <p:nvSpPr>
          <p:cNvPr id="8" name="Text 6"/>
          <p:cNvSpPr txBox="1"/>
          <p:nvPr/>
        </p:nvSpPr>
        <p:spPr>
          <a:xfrm>
            <a:off x="6473952" y="1920240"/>
            <a:ext cx="4754880" cy="310896"/>
          </a:xfrm>
          <a:prstGeom prst="rect">
            <a:avLst/>
          </a:prstGeom>
          <a:noFill/>
          <a:ln/>
        </p:spPr>
        <p:txBody>
          <a:bodyPr wrap="square" lIns="0" tIns="0" rIns="0" bIns="0" rtlCol="0" anchor="t"/>
          <a:lstStyle/>
          <a:p>
            <a:pPr indent="0" marL="0">
              <a:buNone/>
            </a:pPr>
            <a:r>
              <a:rPr lang="en-US" sz="1500" b="1" dirty="0">
                <a:solidFill>
                  <a:srgbClr val="C8621E"/>
                </a:solidFill>
                <a:latin typeface="Cambria" pitchFamily="34" charset="0"/>
                <a:ea typeface="Cambria" pitchFamily="34" charset="-122"/>
                <a:cs typeface="Cambria" pitchFamily="34" charset="-120"/>
              </a:rPr>
              <a:t>What they were not allowed to do</a:t>
            </a:r>
            <a:endParaRPr lang="en-US" sz="1500" dirty="0"/>
          </a:p>
        </p:txBody>
      </p:sp>
      <p:sp>
        <p:nvSpPr>
          <p:cNvPr id="9" name="Text 7"/>
          <p:cNvSpPr txBox="1"/>
          <p:nvPr/>
        </p:nvSpPr>
        <p:spPr>
          <a:xfrm>
            <a:off x="6473952" y="2340864"/>
            <a:ext cx="4754880" cy="219456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Choose the problem, or the person we build for</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Decide what gets cut from the first release</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Set what counts as high severity, which is a fairness question before it is a technical one</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Accept a risk on my behalf</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Close an open question</a:t>
            </a:r>
            <a:endParaRPr lang="en-US" sz="1200" dirty="0"/>
          </a:p>
          <a:p>
            <a:pPr marL="342900" indent="-342900">
              <a:lnSpc>
                <a:spcPts val="1500"/>
              </a:lnSpc>
              <a:spcAft>
                <a:spcPts val="500"/>
              </a:spcAft>
              <a:buSzPct val="100000"/>
              <a:buChar char="•"/>
            </a:pPr>
            <a:r>
              <a:rPr lang="en-US" sz="1200" dirty="0">
                <a:solidFill>
                  <a:srgbClr val="5E666F"/>
                </a:solidFill>
                <a:latin typeface="Calibri" pitchFamily="34" charset="0"/>
                <a:ea typeface="Calibri" pitchFamily="34" charset="-122"/>
                <a:cs typeface="Calibri" pitchFamily="34" charset="-120"/>
              </a:rPr>
              <a:t>Put a model anywhere a rule would do the job</a:t>
            </a:r>
            <a:endParaRPr lang="en-US" sz="1200" dirty="0"/>
          </a:p>
        </p:txBody>
      </p:sp>
      <p:sp>
        <p:nvSpPr>
          <p:cNvPr id="10" name="Text 8"/>
          <p:cNvSpPr txBox="1"/>
          <p:nvPr/>
        </p:nvSpPr>
        <p:spPr>
          <a:xfrm>
            <a:off x="658368" y="4846320"/>
            <a:ext cx="10844784" cy="731520"/>
          </a:xfrm>
          <a:prstGeom prst="rect">
            <a:avLst/>
          </a:prstGeom>
          <a:noFill/>
          <a:ln/>
        </p:spPr>
        <p:txBody>
          <a:bodyPr wrap="square" lIns="0" tIns="0" rIns="0" bIns="0" rtlCol="0" anchor="t"/>
          <a:lstStyle/>
          <a:p>
            <a:pPr indent="0" marL="0">
              <a:lnSpc>
                <a:spcPts val="1700"/>
              </a:lnSpc>
              <a:buNone/>
            </a:pPr>
            <a:r>
              <a:rPr lang="en-US" sz="1250" b="1" dirty="0">
                <a:solidFill>
                  <a:srgbClr val="5E666F"/>
                </a:solidFill>
                <a:latin typeface="Calibri" pitchFamily="34" charset="0"/>
                <a:ea typeface="Calibri" pitchFamily="34" charset="-122"/>
                <a:cs typeface="Calibri" pitchFamily="34" charset="-120"/>
              </a:rPr>
              <a:t>One thing worth admitting. </a:t>
            </a:r>
            <a:pPr indent="0" marL="0">
              <a:lnSpc>
                <a:spcPts val="1700"/>
              </a:lnSpc>
              <a:buNone/>
            </a:pPr>
            <a:r>
              <a:rPr lang="en-US" sz="1250" dirty="0">
                <a:solidFill>
                  <a:srgbClr val="5E666F"/>
                </a:solidFill>
                <a:latin typeface="Calibri" pitchFamily="34" charset="0"/>
                <a:ea typeface="Calibri" pitchFamily="34" charset="-122"/>
                <a:cs typeface="Calibri" pitchFamily="34" charset="-120"/>
              </a:rPr>
              <a:t>Time was short, so the agents did more of the early research than I would normally let them. The usual shape is the other way round: I reach the conclusions and hand those to the agent as context. Where it went the other way here, I wrote the output down as an assumption rather than a finding, which is why six of the twenty-six assumptions exist at all.</a:t>
            </a:r>
            <a:endParaRPr lang="en-US" sz="1250" dirty="0"/>
          </a:p>
        </p:txBody>
      </p:sp>
      <p:sp>
        <p:nvSpPr>
          <p:cNvPr id="11" name="Text 9"/>
          <p:cNvSpPr txBox="1"/>
          <p:nvPr/>
        </p:nvSpPr>
        <p:spPr>
          <a:xfrm>
            <a:off x="658368" y="5760720"/>
            <a:ext cx="10844784" cy="457200"/>
          </a:xfrm>
          <a:prstGeom prst="rect">
            <a:avLst/>
          </a:prstGeom>
          <a:noFill/>
          <a:ln/>
        </p:spPr>
        <p:txBody>
          <a:bodyPr wrap="square" lIns="0" tIns="0" rIns="0" bIns="0" rtlCol="0" anchor="t"/>
          <a:lstStyle/>
          <a:p>
            <a:pPr indent="0" marL="0">
              <a:lnSpc>
                <a:spcPts val="1400"/>
              </a:lnSpc>
              <a:buNone/>
            </a:pPr>
            <a:r>
              <a:rPr lang="en-US" sz="1100" dirty="0">
                <a:solidFill>
                  <a:srgbClr val="98A0A8"/>
                </a:solidFill>
                <a:latin typeface="Calibri" pitchFamily="34" charset="0"/>
                <a:ea typeface="Calibri" pitchFamily="34" charset="-122"/>
                <a:cs typeface="Calibri" pitchFamily="34" charset="-120"/>
              </a:rPr>
              <a:t>The imbalance is on purpose. Heavy agent use in the process, and a rule that nothing in the product gets a model just because a model was available.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84048"/>
            <a:ext cx="10058400" cy="237744"/>
          </a:xfrm>
          <a:prstGeom prst="rect">
            <a:avLst/>
          </a:prstGeom>
          <a:noFill/>
          <a:ln/>
        </p:spPr>
        <p:txBody>
          <a:bodyPr wrap="square" lIns="0" tIns="0" rIns="0" bIns="0" rtlCol="0" anchor="t"/>
          <a:lstStyle/>
          <a:p>
            <a:pPr indent="0" marL="0">
              <a:buNone/>
            </a:pPr>
            <a:r>
              <a:rPr lang="en-US" sz="1050" b="1" spc="160" kern="0" dirty="0">
                <a:solidFill>
                  <a:srgbClr val="C8621E"/>
                </a:solidFill>
                <a:latin typeface="Calibri" pitchFamily="34" charset="0"/>
                <a:ea typeface="Calibri" pitchFamily="34" charset="-122"/>
                <a:cs typeface="Calibri" pitchFamily="34" charset="-120"/>
              </a:rPr>
              <a:t>WHERE THE JUDGEMENT WAS</a:t>
            </a:r>
            <a:endParaRPr lang="en-US" sz="1050" dirty="0"/>
          </a:p>
        </p:txBody>
      </p:sp>
      <p:sp>
        <p:nvSpPr>
          <p:cNvPr id="3" name="Text 1"/>
          <p:cNvSpPr txBox="1"/>
          <p:nvPr/>
        </p:nvSpPr>
        <p:spPr>
          <a:xfrm>
            <a:off x="658368" y="676656"/>
            <a:ext cx="10844784" cy="960120"/>
          </a:xfrm>
          <a:prstGeom prst="rect">
            <a:avLst/>
          </a:prstGeom>
          <a:noFill/>
          <a:ln/>
        </p:spPr>
        <p:txBody>
          <a:bodyPr wrap="square" lIns="0" tIns="0" rIns="0" bIns="0" rtlCol="0" anchor="t"/>
          <a:lstStyle/>
          <a:p>
            <a:pPr indent="0" marL="0">
              <a:lnSpc>
                <a:spcPts val="3500"/>
              </a:lnSpc>
              <a:buNone/>
            </a:pPr>
            <a:r>
              <a:rPr lang="en-US" sz="3000" b="1" dirty="0">
                <a:solidFill>
                  <a:srgbClr val="2B3038"/>
                </a:solidFill>
                <a:latin typeface="Cambria" pitchFamily="34" charset="0"/>
                <a:ea typeface="Cambria" pitchFamily="34" charset="-122"/>
                <a:cs typeface="Cambria" pitchFamily="34" charset="-120"/>
              </a:rPr>
              <a:t>Five times the judgement had to be mine</a:t>
            </a:r>
            <a:endParaRPr lang="en-US" sz="3000" dirty="0"/>
          </a:p>
        </p:txBody>
      </p:sp>
      <p:sp>
        <p:nvSpPr>
          <p:cNvPr id="4" name="Text 2"/>
          <p:cNvSpPr txBox="1"/>
          <p:nvPr/>
        </p:nvSpPr>
        <p:spPr>
          <a:xfrm>
            <a:off x="658368" y="1664208"/>
            <a:ext cx="10844784" cy="548640"/>
          </a:xfrm>
          <a:prstGeom prst="rect">
            <a:avLst/>
          </a:prstGeom>
          <a:noFill/>
          <a:ln/>
        </p:spPr>
        <p:txBody>
          <a:bodyPr wrap="square" lIns="0" tIns="0" rIns="0" bIns="0" rtlCol="0" anchor="t"/>
          <a:lstStyle/>
          <a:p>
            <a:pPr indent="0" marL="0">
              <a:lnSpc>
                <a:spcPts val="1700"/>
              </a:lnSpc>
              <a:buNone/>
            </a:pPr>
            <a:r>
              <a:rPr lang="en-US" sz="1250" dirty="0">
                <a:solidFill>
                  <a:srgbClr val="5E666F"/>
                </a:solidFill>
                <a:latin typeface="Calibri" pitchFamily="34" charset="0"/>
                <a:ea typeface="Calibri" pitchFamily="34" charset="-122"/>
                <a:cs typeface="Calibri" pitchFamily="34" charset="-120"/>
              </a:rPr>
              <a:t>The judgement log records the decisions where an agent had a view worth arguing with: 29 entries, 9 of them overruled. It does not capture the steering, which happened in conversation before anything was written and is the larger part of the work. What follows is the part you can check.</a:t>
            </a:r>
            <a:endParaRPr lang="en-US" sz="1250" dirty="0"/>
          </a:p>
        </p:txBody>
      </p:sp>
      <p:sp>
        <p:nvSpPr>
          <p:cNvPr id="5" name="Shape 3"/>
          <p:cNvSpPr/>
          <p:nvPr/>
        </p:nvSpPr>
        <p:spPr>
          <a:xfrm>
            <a:off x="658368" y="2414016"/>
            <a:ext cx="2029968" cy="2743200"/>
          </a:xfrm>
          <a:prstGeom prst="rect">
            <a:avLst/>
          </a:prstGeom>
          <a:solidFill>
            <a:srgbClr val="F2F3F4"/>
          </a:solidFill>
          <a:ln w="9525">
            <a:solidFill>
              <a:srgbClr val="DDE0E3"/>
            </a:solidFill>
            <a:prstDash val="solid"/>
          </a:ln>
        </p:spPr>
      </p:sp>
      <p:sp>
        <p:nvSpPr>
          <p:cNvPr id="6" name="Text 4"/>
          <p:cNvSpPr txBox="1"/>
          <p:nvPr/>
        </p:nvSpPr>
        <p:spPr>
          <a:xfrm>
            <a:off x="841248" y="2578608"/>
            <a:ext cx="1463040" cy="237744"/>
          </a:xfrm>
          <a:prstGeom prst="rect">
            <a:avLst/>
          </a:prstGeom>
          <a:noFill/>
          <a:ln/>
        </p:spPr>
        <p:txBody>
          <a:bodyPr wrap="square" lIns="0" tIns="0" rIns="0" bIns="0" rtlCol="0" anchor="t"/>
          <a:lstStyle/>
          <a:p>
            <a:pPr indent="0" marL="0">
              <a:buNone/>
            </a:pPr>
            <a:r>
              <a:rPr lang="en-US" sz="1000" b="1" spc="100" kern="0" dirty="0">
                <a:solidFill>
                  <a:srgbClr val="C8621E"/>
                </a:solidFill>
                <a:latin typeface="Calibri" pitchFamily="34" charset="0"/>
                <a:ea typeface="Calibri" pitchFamily="34" charset="-122"/>
                <a:cs typeface="Calibri" pitchFamily="34" charset="-120"/>
              </a:rPr>
              <a:t>J-18</a:t>
            </a:r>
            <a:endParaRPr lang="en-US" sz="1000" dirty="0"/>
          </a:p>
        </p:txBody>
      </p:sp>
      <p:sp>
        <p:nvSpPr>
          <p:cNvPr id="7" name="Text 5"/>
          <p:cNvSpPr txBox="1"/>
          <p:nvPr/>
        </p:nvSpPr>
        <p:spPr>
          <a:xfrm>
            <a:off x="841248" y="2816352"/>
            <a:ext cx="1700784" cy="585216"/>
          </a:xfrm>
          <a:prstGeom prst="rect">
            <a:avLst/>
          </a:prstGeom>
          <a:noFill/>
          <a:ln/>
        </p:spPr>
        <p:txBody>
          <a:bodyPr wrap="square" lIns="0" tIns="0" rIns="0" bIns="0" rtlCol="0" anchor="t"/>
          <a:lstStyle/>
          <a:p>
            <a:pPr indent="0" marL="0">
              <a:lnSpc>
                <a:spcPts val="1600"/>
              </a:lnSpc>
              <a:buNone/>
            </a:pPr>
            <a:r>
              <a:rPr lang="en-US" sz="1250" b="1" dirty="0">
                <a:solidFill>
                  <a:srgbClr val="2B3038"/>
                </a:solidFill>
                <a:latin typeface="Cambria" pitchFamily="34" charset="0"/>
                <a:ea typeface="Cambria" pitchFamily="34" charset="-122"/>
                <a:cs typeface="Cambria" pitchFamily="34" charset="-120"/>
              </a:rPr>
              <a:t>A frame it missed</a:t>
            </a:r>
            <a:endParaRPr lang="en-US" sz="1250" dirty="0"/>
          </a:p>
        </p:txBody>
      </p:sp>
      <p:sp>
        <p:nvSpPr>
          <p:cNvPr id="8" name="Text 6"/>
          <p:cNvSpPr txBox="1"/>
          <p:nvPr/>
        </p:nvSpPr>
        <p:spPr>
          <a:xfrm>
            <a:off x="841248" y="3474720"/>
            <a:ext cx="1700784" cy="1792224"/>
          </a:xfrm>
          <a:prstGeom prst="rect">
            <a:avLst/>
          </a:prstGeom>
          <a:noFill/>
          <a:ln/>
        </p:spPr>
        <p:txBody>
          <a:bodyPr wrap="square" lIns="0" tIns="0" rIns="0" bIns="0" rtlCol="0" anchor="t"/>
          <a:lstStyle/>
          <a:p>
            <a:pPr indent="0" marL="0">
              <a:lnSpc>
                <a:spcPts val="1300"/>
              </a:lnSpc>
              <a:buNone/>
            </a:pPr>
            <a:r>
              <a:rPr lang="en-US" sz="1000" dirty="0">
                <a:solidFill>
                  <a:srgbClr val="5E666F"/>
                </a:solidFill>
                <a:latin typeface="Calibri" pitchFamily="34" charset="0"/>
                <a:ea typeface="Calibri" pitchFamily="34" charset="-122"/>
                <a:cs typeface="Calibri" pitchFamily="34" charset="-120"/>
              </a:rPr>
              <a:t>It had built a system that would coach a driver for braking to avoid a child. A tool that only ever finds failure makes being invisible the best a driver can achieve. Recognition is now half the product.</a:t>
            </a:r>
            <a:endParaRPr lang="en-US" sz="1000" dirty="0"/>
          </a:p>
        </p:txBody>
      </p:sp>
      <p:sp>
        <p:nvSpPr>
          <p:cNvPr id="9" name="Shape 7"/>
          <p:cNvSpPr/>
          <p:nvPr/>
        </p:nvSpPr>
        <p:spPr>
          <a:xfrm>
            <a:off x="2852928" y="2414016"/>
            <a:ext cx="2029968" cy="2743200"/>
          </a:xfrm>
          <a:prstGeom prst="rect">
            <a:avLst/>
          </a:prstGeom>
          <a:solidFill>
            <a:srgbClr val="F2F3F4"/>
          </a:solidFill>
          <a:ln w="9525">
            <a:solidFill>
              <a:srgbClr val="DDE0E3"/>
            </a:solidFill>
            <a:prstDash val="solid"/>
          </a:ln>
        </p:spPr>
      </p:sp>
      <p:sp>
        <p:nvSpPr>
          <p:cNvPr id="10" name="Text 8"/>
          <p:cNvSpPr txBox="1"/>
          <p:nvPr/>
        </p:nvSpPr>
        <p:spPr>
          <a:xfrm>
            <a:off x="3035808" y="2578608"/>
            <a:ext cx="1463040" cy="237744"/>
          </a:xfrm>
          <a:prstGeom prst="rect">
            <a:avLst/>
          </a:prstGeom>
          <a:noFill/>
          <a:ln/>
        </p:spPr>
        <p:txBody>
          <a:bodyPr wrap="square" lIns="0" tIns="0" rIns="0" bIns="0" rtlCol="0" anchor="t"/>
          <a:lstStyle/>
          <a:p>
            <a:pPr indent="0" marL="0">
              <a:buNone/>
            </a:pPr>
            <a:r>
              <a:rPr lang="en-US" sz="1000" b="1" spc="100" kern="0" dirty="0">
                <a:solidFill>
                  <a:srgbClr val="C8621E"/>
                </a:solidFill>
                <a:latin typeface="Calibri" pitchFamily="34" charset="0"/>
                <a:ea typeface="Calibri" pitchFamily="34" charset="-122"/>
                <a:cs typeface="Calibri" pitchFamily="34" charset="-120"/>
              </a:rPr>
              <a:t>J-17</a:t>
            </a:r>
            <a:endParaRPr lang="en-US" sz="1000" dirty="0"/>
          </a:p>
        </p:txBody>
      </p:sp>
      <p:sp>
        <p:nvSpPr>
          <p:cNvPr id="11" name="Text 9"/>
          <p:cNvSpPr txBox="1"/>
          <p:nvPr/>
        </p:nvSpPr>
        <p:spPr>
          <a:xfrm>
            <a:off x="3035808" y="2816352"/>
            <a:ext cx="1700784" cy="585216"/>
          </a:xfrm>
          <a:prstGeom prst="rect">
            <a:avLst/>
          </a:prstGeom>
          <a:noFill/>
          <a:ln/>
        </p:spPr>
        <p:txBody>
          <a:bodyPr wrap="square" lIns="0" tIns="0" rIns="0" bIns="0" rtlCol="0" anchor="t"/>
          <a:lstStyle/>
          <a:p>
            <a:pPr indent="0" marL="0">
              <a:lnSpc>
                <a:spcPts val="1600"/>
              </a:lnSpc>
              <a:buNone/>
            </a:pPr>
            <a:r>
              <a:rPr lang="en-US" sz="1250" b="1" dirty="0">
                <a:solidFill>
                  <a:srgbClr val="2B3038"/>
                </a:solidFill>
                <a:latin typeface="Cambria" pitchFamily="34" charset="0"/>
                <a:ea typeface="Cambria" pitchFamily="34" charset="-122"/>
                <a:cs typeface="Cambria" pitchFamily="34" charset="-120"/>
              </a:rPr>
              <a:t>A number it invented</a:t>
            </a:r>
            <a:endParaRPr lang="en-US" sz="1250" dirty="0"/>
          </a:p>
        </p:txBody>
      </p:sp>
      <p:sp>
        <p:nvSpPr>
          <p:cNvPr id="12" name="Text 10"/>
          <p:cNvSpPr txBox="1"/>
          <p:nvPr/>
        </p:nvSpPr>
        <p:spPr>
          <a:xfrm>
            <a:off x="3035808" y="3474720"/>
            <a:ext cx="1700784" cy="1792224"/>
          </a:xfrm>
          <a:prstGeom prst="rect">
            <a:avLst/>
          </a:prstGeom>
          <a:noFill/>
          <a:ln/>
        </p:spPr>
        <p:txBody>
          <a:bodyPr wrap="square" lIns="0" tIns="0" rIns="0" bIns="0" rtlCol="0" anchor="t"/>
          <a:lstStyle/>
          <a:p>
            <a:pPr indent="0" marL="0">
              <a:lnSpc>
                <a:spcPts val="1300"/>
              </a:lnSpc>
              <a:buNone/>
            </a:pPr>
            <a:r>
              <a:rPr lang="en-US" sz="1000" dirty="0">
                <a:solidFill>
                  <a:srgbClr val="5E666F"/>
                </a:solidFill>
                <a:latin typeface="Calibri" pitchFamily="34" charset="0"/>
                <a:ea typeface="Calibri" pitchFamily="34" charset="-122"/>
                <a:cs typeface="Calibri" pitchFamily="34" charset="-120"/>
              </a:rPr>
              <a:t>A fifteen-minute attention budget, quoted by four documents until it looked sourced, had hardened into a design target. I asked where it came from. It came from nowhere.</a:t>
            </a:r>
            <a:endParaRPr lang="en-US" sz="1000" dirty="0"/>
          </a:p>
        </p:txBody>
      </p:sp>
      <p:sp>
        <p:nvSpPr>
          <p:cNvPr id="13" name="Shape 11"/>
          <p:cNvSpPr/>
          <p:nvPr/>
        </p:nvSpPr>
        <p:spPr>
          <a:xfrm>
            <a:off x="5047488" y="2414016"/>
            <a:ext cx="2029968" cy="2743200"/>
          </a:xfrm>
          <a:prstGeom prst="rect">
            <a:avLst/>
          </a:prstGeom>
          <a:solidFill>
            <a:srgbClr val="F2F3F4"/>
          </a:solidFill>
          <a:ln w="9525">
            <a:solidFill>
              <a:srgbClr val="DDE0E3"/>
            </a:solidFill>
            <a:prstDash val="solid"/>
          </a:ln>
        </p:spPr>
      </p:sp>
      <p:sp>
        <p:nvSpPr>
          <p:cNvPr id="14" name="Text 12"/>
          <p:cNvSpPr txBox="1"/>
          <p:nvPr/>
        </p:nvSpPr>
        <p:spPr>
          <a:xfrm>
            <a:off x="5230368" y="2578608"/>
            <a:ext cx="1463040" cy="237744"/>
          </a:xfrm>
          <a:prstGeom prst="rect">
            <a:avLst/>
          </a:prstGeom>
          <a:noFill/>
          <a:ln/>
        </p:spPr>
        <p:txBody>
          <a:bodyPr wrap="square" lIns="0" tIns="0" rIns="0" bIns="0" rtlCol="0" anchor="t"/>
          <a:lstStyle/>
          <a:p>
            <a:pPr indent="0" marL="0">
              <a:buNone/>
            </a:pPr>
            <a:r>
              <a:rPr lang="en-US" sz="1000" b="1" spc="100" kern="0" dirty="0">
                <a:solidFill>
                  <a:srgbClr val="C8621E"/>
                </a:solidFill>
                <a:latin typeface="Calibri" pitchFamily="34" charset="0"/>
                <a:ea typeface="Calibri" pitchFamily="34" charset="-122"/>
                <a:cs typeface="Calibri" pitchFamily="34" charset="-120"/>
              </a:rPr>
              <a:t>J-26</a:t>
            </a:r>
            <a:endParaRPr lang="en-US" sz="1000" dirty="0"/>
          </a:p>
        </p:txBody>
      </p:sp>
      <p:sp>
        <p:nvSpPr>
          <p:cNvPr id="15" name="Text 13"/>
          <p:cNvSpPr txBox="1"/>
          <p:nvPr/>
        </p:nvSpPr>
        <p:spPr>
          <a:xfrm>
            <a:off x="5230368" y="2816352"/>
            <a:ext cx="1700784" cy="585216"/>
          </a:xfrm>
          <a:prstGeom prst="rect">
            <a:avLst/>
          </a:prstGeom>
          <a:noFill/>
          <a:ln/>
        </p:spPr>
        <p:txBody>
          <a:bodyPr wrap="square" lIns="0" tIns="0" rIns="0" bIns="0" rtlCol="0" anchor="t"/>
          <a:lstStyle/>
          <a:p>
            <a:pPr indent="0" marL="0">
              <a:lnSpc>
                <a:spcPts val="1600"/>
              </a:lnSpc>
              <a:buNone/>
            </a:pPr>
            <a:r>
              <a:rPr lang="en-US" sz="1250" b="1" dirty="0">
                <a:solidFill>
                  <a:srgbClr val="2B3038"/>
                </a:solidFill>
                <a:latin typeface="Cambria" pitchFamily="34" charset="0"/>
                <a:ea typeface="Cambria" pitchFamily="34" charset="-122"/>
                <a:cs typeface="Cambria" pitchFamily="34" charset="-120"/>
              </a:rPr>
              <a:t>A detail it invented</a:t>
            </a:r>
            <a:endParaRPr lang="en-US" sz="1250" dirty="0"/>
          </a:p>
        </p:txBody>
      </p:sp>
      <p:sp>
        <p:nvSpPr>
          <p:cNvPr id="16" name="Text 14"/>
          <p:cNvSpPr txBox="1"/>
          <p:nvPr/>
        </p:nvSpPr>
        <p:spPr>
          <a:xfrm>
            <a:off x="5230368" y="3474720"/>
            <a:ext cx="1700784" cy="1792224"/>
          </a:xfrm>
          <a:prstGeom prst="rect">
            <a:avLst/>
          </a:prstGeom>
          <a:noFill/>
          <a:ln/>
        </p:spPr>
        <p:txBody>
          <a:bodyPr wrap="square" lIns="0" tIns="0" rIns="0" bIns="0" rtlCol="0" anchor="t"/>
          <a:lstStyle/>
          <a:p>
            <a:pPr indent="0" marL="0">
              <a:lnSpc>
                <a:spcPts val="1300"/>
              </a:lnSpc>
              <a:buNone/>
            </a:pPr>
            <a:r>
              <a:rPr lang="en-US" sz="1000" dirty="0">
                <a:solidFill>
                  <a:srgbClr val="5E666F"/>
                </a:solidFill>
                <a:latin typeface="Calibri" pitchFamily="34" charset="0"/>
                <a:ea typeface="Calibri" pitchFamily="34" charset="-122"/>
                <a:cs typeface="Calibri" pitchFamily="34" charset="-120"/>
              </a:rPr>
              <a:t>Worked examples used a 42 mph zone. No such limit exists. It sat in a skill file, so other documents had copied it before anyone looked, and the prototype carried three of them.</a:t>
            </a:r>
            <a:endParaRPr lang="en-US" sz="1000" dirty="0"/>
          </a:p>
        </p:txBody>
      </p:sp>
      <p:sp>
        <p:nvSpPr>
          <p:cNvPr id="17" name="Shape 15"/>
          <p:cNvSpPr/>
          <p:nvPr/>
        </p:nvSpPr>
        <p:spPr>
          <a:xfrm>
            <a:off x="7242048" y="2414016"/>
            <a:ext cx="2029968" cy="2743200"/>
          </a:xfrm>
          <a:prstGeom prst="rect">
            <a:avLst/>
          </a:prstGeom>
          <a:solidFill>
            <a:srgbClr val="F2F3F4"/>
          </a:solidFill>
          <a:ln w="9525">
            <a:solidFill>
              <a:srgbClr val="DDE0E3"/>
            </a:solidFill>
            <a:prstDash val="solid"/>
          </a:ln>
        </p:spPr>
      </p:sp>
      <p:sp>
        <p:nvSpPr>
          <p:cNvPr id="18" name="Text 16"/>
          <p:cNvSpPr txBox="1"/>
          <p:nvPr/>
        </p:nvSpPr>
        <p:spPr>
          <a:xfrm>
            <a:off x="7424928" y="2578608"/>
            <a:ext cx="1463040" cy="237744"/>
          </a:xfrm>
          <a:prstGeom prst="rect">
            <a:avLst/>
          </a:prstGeom>
          <a:noFill/>
          <a:ln/>
        </p:spPr>
        <p:txBody>
          <a:bodyPr wrap="square" lIns="0" tIns="0" rIns="0" bIns="0" rtlCol="0" anchor="t"/>
          <a:lstStyle/>
          <a:p>
            <a:pPr indent="0" marL="0">
              <a:buNone/>
            </a:pPr>
            <a:r>
              <a:rPr lang="en-US" sz="1000" b="1" spc="100" kern="0" dirty="0">
                <a:solidFill>
                  <a:srgbClr val="C8621E"/>
                </a:solidFill>
                <a:latin typeface="Calibri" pitchFamily="34" charset="0"/>
                <a:ea typeface="Calibri" pitchFamily="34" charset="-122"/>
                <a:cs typeface="Calibri" pitchFamily="34" charset="-120"/>
              </a:rPr>
              <a:t>J-27</a:t>
            </a:r>
            <a:endParaRPr lang="en-US" sz="1000" dirty="0"/>
          </a:p>
        </p:txBody>
      </p:sp>
      <p:sp>
        <p:nvSpPr>
          <p:cNvPr id="19" name="Text 17"/>
          <p:cNvSpPr txBox="1"/>
          <p:nvPr/>
        </p:nvSpPr>
        <p:spPr>
          <a:xfrm>
            <a:off x="7424928" y="2816352"/>
            <a:ext cx="1700784" cy="585216"/>
          </a:xfrm>
          <a:prstGeom prst="rect">
            <a:avLst/>
          </a:prstGeom>
          <a:noFill/>
          <a:ln/>
        </p:spPr>
        <p:txBody>
          <a:bodyPr wrap="square" lIns="0" tIns="0" rIns="0" bIns="0" rtlCol="0" anchor="t"/>
          <a:lstStyle/>
          <a:p>
            <a:pPr indent="0" marL="0">
              <a:lnSpc>
                <a:spcPts val="1600"/>
              </a:lnSpc>
              <a:buNone/>
            </a:pPr>
            <a:r>
              <a:rPr lang="en-US" sz="1250" b="1" dirty="0">
                <a:solidFill>
                  <a:srgbClr val="2B3038"/>
                </a:solidFill>
                <a:latin typeface="Cambria" pitchFamily="34" charset="0"/>
                <a:ea typeface="Cambria" pitchFamily="34" charset="-122"/>
                <a:cs typeface="Cambria" pitchFamily="34" charset="-120"/>
              </a:rPr>
              <a:t>A lever it reached for</a:t>
            </a:r>
            <a:endParaRPr lang="en-US" sz="1250" dirty="0"/>
          </a:p>
        </p:txBody>
      </p:sp>
      <p:sp>
        <p:nvSpPr>
          <p:cNvPr id="20" name="Text 18"/>
          <p:cNvSpPr txBox="1"/>
          <p:nvPr/>
        </p:nvSpPr>
        <p:spPr>
          <a:xfrm>
            <a:off x="7424928" y="3474720"/>
            <a:ext cx="1700784" cy="1792224"/>
          </a:xfrm>
          <a:prstGeom prst="rect">
            <a:avLst/>
          </a:prstGeom>
          <a:noFill/>
          <a:ln/>
        </p:spPr>
        <p:txBody>
          <a:bodyPr wrap="square" lIns="0" tIns="0" rIns="0" bIns="0" rtlCol="0" anchor="t"/>
          <a:lstStyle/>
          <a:p>
            <a:pPr indent="0" marL="0">
              <a:lnSpc>
                <a:spcPts val="1300"/>
              </a:lnSpc>
              <a:buNone/>
            </a:pPr>
            <a:r>
              <a:rPr lang="en-US" sz="1000" dirty="0">
                <a:solidFill>
                  <a:srgbClr val="5E666F"/>
                </a:solidFill>
                <a:latin typeface="Calibri" pitchFamily="34" charset="0"/>
                <a:ea typeface="Calibri" pitchFamily="34" charset="-122"/>
                <a:cs typeface="Calibri" pitchFamily="34" charset="-120"/>
              </a:rPr>
              <a:t>It found a real imbalance and proposed adding friction to fix it. Marking an event as not the driver's fault means nothing to see here. Making someone type that out buys compliance text, not judgement.</a:t>
            </a:r>
            <a:endParaRPr lang="en-US" sz="1000" dirty="0"/>
          </a:p>
        </p:txBody>
      </p:sp>
      <p:sp>
        <p:nvSpPr>
          <p:cNvPr id="21" name="Shape 19"/>
          <p:cNvSpPr/>
          <p:nvPr/>
        </p:nvSpPr>
        <p:spPr>
          <a:xfrm>
            <a:off x="9436608" y="2414016"/>
            <a:ext cx="2029968" cy="2743200"/>
          </a:xfrm>
          <a:prstGeom prst="rect">
            <a:avLst/>
          </a:prstGeom>
          <a:solidFill>
            <a:srgbClr val="F2F3F4"/>
          </a:solidFill>
          <a:ln w="9525">
            <a:solidFill>
              <a:srgbClr val="DDE0E3"/>
            </a:solidFill>
            <a:prstDash val="solid"/>
          </a:ln>
        </p:spPr>
      </p:sp>
      <p:sp>
        <p:nvSpPr>
          <p:cNvPr id="22" name="Text 20"/>
          <p:cNvSpPr txBox="1"/>
          <p:nvPr/>
        </p:nvSpPr>
        <p:spPr>
          <a:xfrm>
            <a:off x="9619488" y="2578608"/>
            <a:ext cx="1463040" cy="237744"/>
          </a:xfrm>
          <a:prstGeom prst="rect">
            <a:avLst/>
          </a:prstGeom>
          <a:noFill/>
          <a:ln/>
        </p:spPr>
        <p:txBody>
          <a:bodyPr wrap="square" lIns="0" tIns="0" rIns="0" bIns="0" rtlCol="0" anchor="t"/>
          <a:lstStyle/>
          <a:p>
            <a:pPr indent="0" marL="0">
              <a:buNone/>
            </a:pPr>
            <a:r>
              <a:rPr lang="en-US" sz="1000" b="1" spc="100" kern="0" dirty="0">
                <a:solidFill>
                  <a:srgbClr val="C8621E"/>
                </a:solidFill>
                <a:latin typeface="Calibri" pitchFamily="34" charset="0"/>
                <a:ea typeface="Calibri" pitchFamily="34" charset="-122"/>
                <a:cs typeface="Calibri" pitchFamily="34" charset="-120"/>
              </a:rPr>
              <a:t>J-29</a:t>
            </a:r>
            <a:endParaRPr lang="en-US" sz="1000" dirty="0"/>
          </a:p>
        </p:txBody>
      </p:sp>
      <p:sp>
        <p:nvSpPr>
          <p:cNvPr id="23" name="Text 21"/>
          <p:cNvSpPr txBox="1"/>
          <p:nvPr/>
        </p:nvSpPr>
        <p:spPr>
          <a:xfrm>
            <a:off x="9619488" y="2816352"/>
            <a:ext cx="1700784" cy="585216"/>
          </a:xfrm>
          <a:prstGeom prst="rect">
            <a:avLst/>
          </a:prstGeom>
          <a:noFill/>
          <a:ln/>
        </p:spPr>
        <p:txBody>
          <a:bodyPr wrap="square" lIns="0" tIns="0" rIns="0" bIns="0" rtlCol="0" anchor="t"/>
          <a:lstStyle/>
          <a:p>
            <a:pPr indent="0" marL="0">
              <a:lnSpc>
                <a:spcPts val="1600"/>
              </a:lnSpc>
              <a:buNone/>
            </a:pPr>
            <a:r>
              <a:rPr lang="en-US" sz="1250" b="1" dirty="0">
                <a:solidFill>
                  <a:srgbClr val="2B3038"/>
                </a:solidFill>
                <a:latin typeface="Cambria" pitchFamily="34" charset="0"/>
                <a:ea typeface="Cambria" pitchFamily="34" charset="-122"/>
                <a:cs typeface="Cambria" pitchFamily="34" charset="-120"/>
              </a:rPr>
              <a:t>A question nobody asked</a:t>
            </a:r>
            <a:endParaRPr lang="en-US" sz="1250" dirty="0"/>
          </a:p>
        </p:txBody>
      </p:sp>
      <p:sp>
        <p:nvSpPr>
          <p:cNvPr id="24" name="Text 22"/>
          <p:cNvSpPr txBox="1"/>
          <p:nvPr/>
        </p:nvSpPr>
        <p:spPr>
          <a:xfrm>
            <a:off x="9619488" y="3474720"/>
            <a:ext cx="1700784" cy="1792224"/>
          </a:xfrm>
          <a:prstGeom prst="rect">
            <a:avLst/>
          </a:prstGeom>
          <a:noFill/>
          <a:ln/>
        </p:spPr>
        <p:txBody>
          <a:bodyPr wrap="square" lIns="0" tIns="0" rIns="0" bIns="0" rtlCol="0" anchor="t"/>
          <a:lstStyle/>
          <a:p>
            <a:pPr indent="0" marL="0">
              <a:lnSpc>
                <a:spcPts val="1300"/>
              </a:lnSpc>
              <a:buNone/>
            </a:pPr>
            <a:r>
              <a:rPr lang="en-US" sz="1000" dirty="0">
                <a:solidFill>
                  <a:srgbClr val="5E666F"/>
                </a:solidFill>
                <a:latin typeface="Calibri" pitchFamily="34" charset="0"/>
                <a:ea typeface="Calibri" pitchFamily="34" charset="-122"/>
                <a:cs typeface="Calibri" pitchFamily="34" charset="-120"/>
              </a:rPr>
              <a:t>Rereading after J-26: the whole fixture was British. Coventry street names, mph, UK plates, handed to a Dublin company. Not a wrong fact, a wrong audience, and no validator or adversarial pass can see that. It is a 42-vehicle Dublin fleet now.</a:t>
            </a:r>
            <a:endParaRPr lang="en-US" sz="1000" dirty="0"/>
          </a:p>
        </p:txBody>
      </p:sp>
      <p:sp>
        <p:nvSpPr>
          <p:cNvPr id="25" name="Shape 23"/>
          <p:cNvSpPr/>
          <p:nvPr/>
        </p:nvSpPr>
        <p:spPr>
          <a:xfrm>
            <a:off x="658368" y="5394960"/>
            <a:ext cx="10808208" cy="1005840"/>
          </a:xfrm>
          <a:prstGeom prst="rect">
            <a:avLst/>
          </a:prstGeom>
          <a:solidFill>
            <a:srgbClr val="FAEFE7"/>
          </a:solidFill>
          <a:ln w="9525">
            <a:solidFill>
              <a:srgbClr val="FAEFE7"/>
            </a:solidFill>
            <a:prstDash val="solid"/>
          </a:ln>
        </p:spPr>
      </p:sp>
      <p:sp>
        <p:nvSpPr>
          <p:cNvPr id="26" name="Text 24"/>
          <p:cNvSpPr txBox="1"/>
          <p:nvPr/>
        </p:nvSpPr>
        <p:spPr>
          <a:xfrm>
            <a:off x="932688" y="5559552"/>
            <a:ext cx="10259568" cy="786384"/>
          </a:xfrm>
          <a:prstGeom prst="rect">
            <a:avLst/>
          </a:prstGeom>
          <a:noFill/>
          <a:ln/>
        </p:spPr>
        <p:txBody>
          <a:bodyPr wrap="square" lIns="0" tIns="0" rIns="0" bIns="0" rtlCol="0" anchor="t"/>
          <a:lstStyle/>
          <a:p>
            <a:pPr indent="0" marL="0">
              <a:lnSpc>
                <a:spcPts val="1500"/>
              </a:lnSpc>
              <a:buNone/>
            </a:pPr>
            <a:r>
              <a:rPr lang="en-US" sz="1150" b="1" dirty="0">
                <a:solidFill>
                  <a:srgbClr val="C8621E"/>
                </a:solidFill>
                <a:latin typeface="Calibri" pitchFamily="34" charset="0"/>
                <a:ea typeface="Calibri" pitchFamily="34" charset="-122"/>
                <a:cs typeface="Calibri" pitchFamily="34" charset="-120"/>
              </a:rPr>
              <a:t>And the one a fresh reviewer found, not me. </a:t>
            </a:r>
            <a:pPr indent="0" marL="0">
              <a:lnSpc>
                <a:spcPts val="1500"/>
              </a:lnSpc>
              <a:buNone/>
            </a:pPr>
            <a:r>
              <a:rPr lang="en-US" sz="1150" dirty="0">
                <a:solidFill>
                  <a:srgbClr val="5E666F"/>
                </a:solidFill>
                <a:latin typeface="Calibri" pitchFamily="34" charset="0"/>
                <a:ea typeface="Calibri" pitchFamily="34" charset="-122"/>
                <a:cs typeface="Calibri" pitchFamily="34" charset="-120"/>
              </a:rPr>
              <a:t>My prototype was making things up: confirming a driver had avoided harm wrote a fixed sentence onto their record, the wrong day, the wrong road, the wrong thing done, under a named manager's confirmation with a clip attached. Found in eleven minutes by an agent that had never seen the work. Five review passes in all, 53 findings on the repository itself, and every one of them is written down there.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32A"/>
        </a:solidFill>
      </p:bgPr>
    </p:bg>
    <p:spTree>
      <p:nvGrpSpPr>
        <p:cNvPr id="1" name=""/>
        <p:cNvGrpSpPr/>
        <p:nvPr/>
      </p:nvGrpSpPr>
      <p:grpSpPr>
        <a:xfrm>
          <a:off x="0" y="0"/>
          <a:ext cx="0" cy="0"/>
          <a:chOff x="0" y="0"/>
          <a:chExt cx="0" cy="0"/>
        </a:xfrm>
      </p:grpSpPr>
      <p:sp>
        <p:nvSpPr>
          <p:cNvPr id="2" name="Text 0"/>
          <p:cNvSpPr txBox="1"/>
          <p:nvPr/>
        </p:nvSpPr>
        <p:spPr>
          <a:xfrm>
            <a:off x="658368" y="603504"/>
            <a:ext cx="10844784" cy="45720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Where each part of the brief is answered</a:t>
            </a:r>
            <a:endParaRPr lang="en-US" sz="2800" dirty="0"/>
          </a:p>
        </p:txBody>
      </p:sp>
      <p:sp>
        <p:nvSpPr>
          <p:cNvPr id="3" name="Text 1"/>
          <p:cNvSpPr txBox="1"/>
          <p:nvPr/>
        </p:nvSpPr>
        <p:spPr>
          <a:xfrm>
            <a:off x="658368" y="1371600"/>
            <a:ext cx="448056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1   Product brief and business case</a:t>
            </a:r>
            <a:endParaRPr lang="en-US" sz="1350" dirty="0"/>
          </a:p>
        </p:txBody>
      </p:sp>
      <p:sp>
        <p:nvSpPr>
          <p:cNvPr id="4" name="Text 2"/>
          <p:cNvSpPr txBox="1"/>
          <p:nvPr/>
        </p:nvSpPr>
        <p:spPr>
          <a:xfrm>
            <a:off x="5230368" y="1389888"/>
            <a:ext cx="1920240" cy="274320"/>
          </a:xfrm>
          <a:prstGeom prst="rect">
            <a:avLst/>
          </a:prstGeom>
          <a:noFill/>
          <a:ln/>
        </p:spPr>
        <p:txBody>
          <a:bodyPr wrap="square" lIns="0" tIns="0" rIns="0" bIns="0" rtlCol="0" anchor="t"/>
          <a:lstStyle/>
          <a:p>
            <a:pPr indent="0" marL="0">
              <a:buNone/>
            </a:pPr>
            <a:r>
              <a:rPr lang="en-US" sz="1200" dirty="0">
                <a:solidFill>
                  <a:srgbClr val="BFC7CF"/>
                </a:solidFill>
                <a:latin typeface="Calibri" pitchFamily="34" charset="0"/>
                <a:ea typeface="Calibri" pitchFamily="34" charset="-122"/>
                <a:cs typeface="Calibri" pitchFamily="34" charset="-120"/>
              </a:rPr>
              <a:t>Slides 2, 3, 4 and 14</a:t>
            </a:r>
            <a:endParaRPr lang="en-US" sz="1200" dirty="0"/>
          </a:p>
        </p:txBody>
      </p:sp>
      <p:sp>
        <p:nvSpPr>
          <p:cNvPr id="5" name="Text 3"/>
          <p:cNvSpPr txBox="1"/>
          <p:nvPr/>
        </p:nvSpPr>
        <p:spPr>
          <a:xfrm>
            <a:off x="7242048" y="1389888"/>
            <a:ext cx="4480560" cy="274320"/>
          </a:xfrm>
          <a:prstGeom prst="rect">
            <a:avLst/>
          </a:prstGeom>
          <a:noFill/>
          <a:ln/>
        </p:spPr>
        <p:txBody>
          <a:bodyPr wrap="square" lIns="0" tIns="0" rIns="0" bIns="0" rtlCol="0" anchor="t"/>
          <a:lstStyle/>
          <a:p>
            <a:pPr indent="0" marL="0">
              <a:buNone/>
            </a:pPr>
            <a:r>
              <a:rPr lang="en-US" sz="1200" u="sng" dirty="0">
                <a:solidFill>
                  <a:srgbClr val="BFC7C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brain/business-case.md</a:t>
            </a:r>
            <a:endParaRPr lang="en-US" sz="1200" dirty="0"/>
          </a:p>
        </p:txBody>
      </p:sp>
      <p:sp>
        <p:nvSpPr>
          <p:cNvPr id="6" name="Text 4"/>
          <p:cNvSpPr txBox="1"/>
          <p:nvPr/>
        </p:nvSpPr>
        <p:spPr>
          <a:xfrm>
            <a:off x="658368" y="1993392"/>
            <a:ext cx="448056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2   Solution outline across the stack</a:t>
            </a:r>
            <a:endParaRPr lang="en-US" sz="1350" dirty="0"/>
          </a:p>
        </p:txBody>
      </p:sp>
      <p:sp>
        <p:nvSpPr>
          <p:cNvPr id="7" name="Text 5"/>
          <p:cNvSpPr txBox="1"/>
          <p:nvPr/>
        </p:nvSpPr>
        <p:spPr>
          <a:xfrm>
            <a:off x="5230368" y="2011680"/>
            <a:ext cx="1920240" cy="274320"/>
          </a:xfrm>
          <a:prstGeom prst="rect">
            <a:avLst/>
          </a:prstGeom>
          <a:noFill/>
          <a:ln/>
        </p:spPr>
        <p:txBody>
          <a:bodyPr wrap="square" lIns="0" tIns="0" rIns="0" bIns="0" rtlCol="0" anchor="t"/>
          <a:lstStyle/>
          <a:p>
            <a:pPr indent="0" marL="0">
              <a:buNone/>
            </a:pPr>
            <a:r>
              <a:rPr lang="en-US" sz="1200" dirty="0">
                <a:solidFill>
                  <a:srgbClr val="BFC7CF"/>
                </a:solidFill>
                <a:latin typeface="Calibri" pitchFamily="34" charset="0"/>
                <a:ea typeface="Calibri" pitchFamily="34" charset="-122"/>
                <a:cs typeface="Calibri" pitchFamily="34" charset="-120"/>
              </a:rPr>
              <a:t>Slides 5 and 6</a:t>
            </a:r>
            <a:endParaRPr lang="en-US" sz="1200" dirty="0"/>
          </a:p>
        </p:txBody>
      </p:sp>
      <p:sp>
        <p:nvSpPr>
          <p:cNvPr id="8" name="Text 6"/>
          <p:cNvSpPr txBox="1"/>
          <p:nvPr/>
        </p:nvSpPr>
        <p:spPr>
          <a:xfrm>
            <a:off x="7242048" y="2011680"/>
            <a:ext cx="4480560" cy="274320"/>
          </a:xfrm>
          <a:prstGeom prst="rect">
            <a:avLst/>
          </a:prstGeom>
          <a:noFill/>
          <a:ln/>
        </p:spPr>
        <p:txBody>
          <a:bodyPr wrap="square" lIns="0" tIns="0" rIns="0" bIns="0" rtlCol="0" anchor="t"/>
          <a:lstStyle/>
          <a:p>
            <a:pPr indent="0" marL="0">
              <a:buNone/>
            </a:pPr>
            <a:r>
              <a:rPr lang="en-US" sz="1200" u="sng" dirty="0">
                <a:solidFill>
                  <a:srgbClr val="BFC7C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brain/stack-outline.md</a:t>
            </a:r>
            <a:endParaRPr lang="en-US" sz="1200" dirty="0"/>
          </a:p>
        </p:txBody>
      </p:sp>
      <p:sp>
        <p:nvSpPr>
          <p:cNvPr id="9" name="Text 7"/>
          <p:cNvSpPr txBox="1"/>
          <p:nvPr/>
        </p:nvSpPr>
        <p:spPr>
          <a:xfrm>
            <a:off x="658368" y="2615184"/>
            <a:ext cx="4480560" cy="274320"/>
          </a:xfrm>
          <a:prstGeom prst="rect">
            <a:avLst/>
          </a:prstGeom>
          <a:noFill/>
          <a:ln/>
        </p:spPr>
        <p:txBody>
          <a:bodyPr wrap="square" lIns="0" tIns="0" rIns="0" bIns="0" rtlCol="0" anchor="t"/>
          <a:lstStyle/>
          <a:p>
            <a:pPr indent="0" marL="0">
              <a:buNone/>
            </a:pPr>
            <a:r>
              <a:rPr lang="en-US" sz="1350" b="1" dirty="0">
                <a:solidFill>
                  <a:srgbClr val="C8621E"/>
                </a:solidFill>
                <a:latin typeface="Calibri" pitchFamily="34" charset="0"/>
                <a:ea typeface="Calibri" pitchFamily="34" charset="-122"/>
                <a:cs typeface="Calibri" pitchFamily="34" charset="-120"/>
              </a:rPr>
              <a:t>3   Detailed portal requirements</a:t>
            </a:r>
            <a:endParaRPr lang="en-US" sz="1350" dirty="0"/>
          </a:p>
        </p:txBody>
      </p:sp>
      <p:sp>
        <p:nvSpPr>
          <p:cNvPr id="10" name="Text 8"/>
          <p:cNvSpPr txBox="1"/>
          <p:nvPr/>
        </p:nvSpPr>
        <p:spPr>
          <a:xfrm>
            <a:off x="5230368" y="2633472"/>
            <a:ext cx="1920240" cy="274320"/>
          </a:xfrm>
          <a:prstGeom prst="rect">
            <a:avLst/>
          </a:prstGeom>
          <a:noFill/>
          <a:ln/>
        </p:spPr>
        <p:txBody>
          <a:bodyPr wrap="square" lIns="0" tIns="0" rIns="0" bIns="0" rtlCol="0" anchor="t"/>
          <a:lstStyle/>
          <a:p>
            <a:pPr indent="0" marL="0">
              <a:buNone/>
            </a:pPr>
            <a:r>
              <a:rPr lang="en-US" sz="1200" dirty="0">
                <a:solidFill>
                  <a:srgbClr val="BFC7CF"/>
                </a:solidFill>
                <a:latin typeface="Calibri" pitchFamily="34" charset="0"/>
                <a:ea typeface="Calibri" pitchFamily="34" charset="-122"/>
                <a:cs typeface="Calibri" pitchFamily="34" charset="-120"/>
              </a:rPr>
              <a:t>Slides 7 to 12</a:t>
            </a:r>
            <a:endParaRPr lang="en-US" sz="1200" dirty="0"/>
          </a:p>
        </p:txBody>
      </p:sp>
      <p:sp>
        <p:nvSpPr>
          <p:cNvPr id="11" name="Text 9"/>
          <p:cNvSpPr txBox="1"/>
          <p:nvPr/>
        </p:nvSpPr>
        <p:spPr>
          <a:xfrm>
            <a:off x="7242048" y="2633472"/>
            <a:ext cx="4480560" cy="274320"/>
          </a:xfrm>
          <a:prstGeom prst="rect">
            <a:avLst/>
          </a:prstGeom>
          <a:noFill/>
          <a:ln/>
        </p:spPr>
        <p:txBody>
          <a:bodyPr wrap="square" lIns="0" tIns="0" rIns="0" bIns="0" rtlCol="0" anchor="t"/>
          <a:lstStyle/>
          <a:p>
            <a:pPr indent="0" marL="0">
              <a:buNone/>
            </a:pPr>
            <a:r>
              <a:rPr lang="en-US" sz="1200" u="sng" dirty="0">
                <a:solidFill>
                  <a:srgbClr val="BFC7C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brain/requirements/</a:t>
            </a:r>
            <a:endParaRPr lang="en-US" sz="1200" dirty="0"/>
          </a:p>
        </p:txBody>
      </p:sp>
      <p:sp>
        <p:nvSpPr>
          <p:cNvPr id="12" name="Text 10"/>
          <p:cNvSpPr txBox="1"/>
          <p:nvPr/>
        </p:nvSpPr>
        <p:spPr>
          <a:xfrm>
            <a:off x="658368" y="3236976"/>
            <a:ext cx="448056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4   Prioritisation and phasing</a:t>
            </a:r>
            <a:endParaRPr lang="en-US" sz="1350" dirty="0"/>
          </a:p>
        </p:txBody>
      </p:sp>
      <p:sp>
        <p:nvSpPr>
          <p:cNvPr id="13" name="Text 11"/>
          <p:cNvSpPr txBox="1"/>
          <p:nvPr/>
        </p:nvSpPr>
        <p:spPr>
          <a:xfrm>
            <a:off x="5230368" y="3255264"/>
            <a:ext cx="1920240" cy="274320"/>
          </a:xfrm>
          <a:prstGeom prst="rect">
            <a:avLst/>
          </a:prstGeom>
          <a:noFill/>
          <a:ln/>
        </p:spPr>
        <p:txBody>
          <a:bodyPr wrap="square" lIns="0" tIns="0" rIns="0" bIns="0" rtlCol="0" anchor="t"/>
          <a:lstStyle/>
          <a:p>
            <a:pPr indent="0" marL="0">
              <a:buNone/>
            </a:pPr>
            <a:r>
              <a:rPr lang="en-US" sz="1200" dirty="0">
                <a:solidFill>
                  <a:srgbClr val="BFC7CF"/>
                </a:solidFill>
                <a:latin typeface="Calibri" pitchFamily="34" charset="0"/>
                <a:ea typeface="Calibri" pitchFamily="34" charset="-122"/>
                <a:cs typeface="Calibri" pitchFamily="34" charset="-120"/>
              </a:rPr>
              <a:t>Slides 7 and 13</a:t>
            </a:r>
            <a:endParaRPr lang="en-US" sz="1200" dirty="0"/>
          </a:p>
        </p:txBody>
      </p:sp>
      <p:sp>
        <p:nvSpPr>
          <p:cNvPr id="14" name="Text 12"/>
          <p:cNvSpPr txBox="1"/>
          <p:nvPr/>
        </p:nvSpPr>
        <p:spPr>
          <a:xfrm>
            <a:off x="7242048" y="3255264"/>
            <a:ext cx="4480560" cy="274320"/>
          </a:xfrm>
          <a:prstGeom prst="rect">
            <a:avLst/>
          </a:prstGeom>
          <a:noFill/>
          <a:ln/>
        </p:spPr>
        <p:txBody>
          <a:bodyPr wrap="square" lIns="0" tIns="0" rIns="0" bIns="0" rtlCol="0" anchor="t"/>
          <a:lstStyle/>
          <a:p>
            <a:pPr indent="0" marL="0">
              <a:buNone/>
            </a:pPr>
            <a:r>
              <a:rPr lang="en-US" sz="1200" u="sng" dirty="0">
                <a:solidFill>
                  <a:srgbClr val="BFC7C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brain/phasing.md</a:t>
            </a:r>
            <a:endParaRPr lang="en-US" sz="1200" dirty="0"/>
          </a:p>
        </p:txBody>
      </p:sp>
      <p:sp>
        <p:nvSpPr>
          <p:cNvPr id="15" name="Text 13"/>
          <p:cNvSpPr txBox="1"/>
          <p:nvPr/>
        </p:nvSpPr>
        <p:spPr>
          <a:xfrm>
            <a:off x="658368" y="3858768"/>
            <a:ext cx="448056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5   Risks, assumptions, open questions</a:t>
            </a:r>
            <a:endParaRPr lang="en-US" sz="1350" dirty="0"/>
          </a:p>
        </p:txBody>
      </p:sp>
      <p:sp>
        <p:nvSpPr>
          <p:cNvPr id="16" name="Text 14"/>
          <p:cNvSpPr txBox="1"/>
          <p:nvPr/>
        </p:nvSpPr>
        <p:spPr>
          <a:xfrm>
            <a:off x="5230368" y="3877056"/>
            <a:ext cx="1920240" cy="274320"/>
          </a:xfrm>
          <a:prstGeom prst="rect">
            <a:avLst/>
          </a:prstGeom>
          <a:noFill/>
          <a:ln/>
        </p:spPr>
        <p:txBody>
          <a:bodyPr wrap="square" lIns="0" tIns="0" rIns="0" bIns="0" rtlCol="0" anchor="t"/>
          <a:lstStyle/>
          <a:p>
            <a:pPr indent="0" marL="0">
              <a:buNone/>
            </a:pPr>
            <a:r>
              <a:rPr lang="en-US" sz="1200" dirty="0">
                <a:solidFill>
                  <a:srgbClr val="BFC7CF"/>
                </a:solidFill>
                <a:latin typeface="Calibri" pitchFamily="34" charset="0"/>
                <a:ea typeface="Calibri" pitchFamily="34" charset="-122"/>
                <a:cs typeface="Calibri" pitchFamily="34" charset="-120"/>
              </a:rPr>
              <a:t>Slides 3, 15 and 16</a:t>
            </a:r>
            <a:endParaRPr lang="en-US" sz="1200" dirty="0"/>
          </a:p>
        </p:txBody>
      </p:sp>
      <p:sp>
        <p:nvSpPr>
          <p:cNvPr id="17" name="Text 15"/>
          <p:cNvSpPr txBox="1"/>
          <p:nvPr/>
        </p:nvSpPr>
        <p:spPr>
          <a:xfrm>
            <a:off x="7242048" y="3877056"/>
            <a:ext cx="4480560" cy="274320"/>
          </a:xfrm>
          <a:prstGeom prst="rect">
            <a:avLst/>
          </a:prstGeom>
          <a:noFill/>
          <a:ln/>
        </p:spPr>
        <p:txBody>
          <a:bodyPr wrap="square" lIns="0" tIns="0" rIns="0" bIns="0" rtlCol="0" anchor="t"/>
          <a:lstStyle/>
          <a:p>
            <a:pPr indent="0" marL="0">
              <a:buNone/>
            </a:pPr>
            <a:r>
              <a:rPr lang="en-US" sz="1200" u="sng" dirty="0">
                <a:solidFill>
                  <a:srgbClr val="BFC7CF"/>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brain/risks-narrative.md</a:t>
            </a:r>
            <a:endParaRPr lang="en-US" sz="1200" dirty="0"/>
          </a:p>
        </p:txBody>
      </p:sp>
      <p:sp>
        <p:nvSpPr>
          <p:cNvPr id="18" name="Text 16"/>
          <p:cNvSpPr txBox="1"/>
          <p:nvPr/>
        </p:nvSpPr>
        <p:spPr>
          <a:xfrm>
            <a:off x="658368" y="4718304"/>
            <a:ext cx="448056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Working with AI</a:t>
            </a:r>
            <a:endParaRPr lang="en-US" sz="1350" dirty="0"/>
          </a:p>
        </p:txBody>
      </p:sp>
      <p:sp>
        <p:nvSpPr>
          <p:cNvPr id="19" name="Text 17"/>
          <p:cNvSpPr txBox="1"/>
          <p:nvPr/>
        </p:nvSpPr>
        <p:spPr>
          <a:xfrm>
            <a:off x="5230368" y="4736592"/>
            <a:ext cx="1920240" cy="274320"/>
          </a:xfrm>
          <a:prstGeom prst="rect">
            <a:avLst/>
          </a:prstGeom>
          <a:noFill/>
          <a:ln/>
        </p:spPr>
        <p:txBody>
          <a:bodyPr wrap="square" lIns="0" tIns="0" rIns="0" bIns="0" rtlCol="0" anchor="t"/>
          <a:lstStyle/>
          <a:p>
            <a:pPr indent="0" marL="0">
              <a:buNone/>
            </a:pPr>
            <a:r>
              <a:rPr lang="en-US" sz="1200" dirty="0">
                <a:solidFill>
                  <a:srgbClr val="BFC7CF"/>
                </a:solidFill>
                <a:latin typeface="Calibri" pitchFamily="34" charset="0"/>
                <a:ea typeface="Calibri" pitchFamily="34" charset="-122"/>
                <a:cs typeface="Calibri" pitchFamily="34" charset="-120"/>
              </a:rPr>
              <a:t>Slides 17 to 19</a:t>
            </a:r>
            <a:endParaRPr lang="en-US" sz="1200" dirty="0"/>
          </a:p>
        </p:txBody>
      </p:sp>
      <p:sp>
        <p:nvSpPr>
          <p:cNvPr id="20" name="Text 18"/>
          <p:cNvSpPr txBox="1"/>
          <p:nvPr/>
        </p:nvSpPr>
        <p:spPr>
          <a:xfrm>
            <a:off x="7242048" y="4736592"/>
            <a:ext cx="4480560" cy="274320"/>
          </a:xfrm>
          <a:prstGeom prst="rect">
            <a:avLst/>
          </a:prstGeom>
          <a:noFill/>
          <a:ln/>
        </p:spPr>
        <p:txBody>
          <a:bodyPr wrap="square" lIns="0" tIns="0" rIns="0" bIns="0" rtlCol="0" anchor="t"/>
          <a:lstStyle/>
          <a:p>
            <a:pPr indent="0" marL="0">
              <a:buNone/>
            </a:pPr>
            <a:r>
              <a:rPr lang="en-US" sz="1200" u="sng" dirty="0">
                <a:solidFill>
                  <a:srgbClr val="BFC7CF"/>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brain/judgement-log.md</a:t>
            </a:r>
            <a:endParaRPr lang="en-US" sz="1200" dirty="0"/>
          </a:p>
        </p:txBody>
      </p:sp>
      <p:sp>
        <p:nvSpPr>
          <p:cNvPr id="21" name="Shape 19"/>
          <p:cNvSpPr/>
          <p:nvPr/>
        </p:nvSpPr>
        <p:spPr>
          <a:xfrm>
            <a:off x="658368" y="5285232"/>
            <a:ext cx="822960" cy="32004"/>
          </a:xfrm>
          <a:prstGeom prst="rect">
            <a:avLst/>
          </a:prstGeom>
          <a:solidFill>
            <a:srgbClr val="C8621E"/>
          </a:solidFill>
          <a:ln w="12700">
            <a:solidFill>
              <a:srgbClr val="333333"/>
            </a:solidFill>
            <a:prstDash val="solid"/>
          </a:ln>
        </p:spPr>
      </p:sp>
      <p:sp>
        <p:nvSpPr>
          <p:cNvPr id="22" name="Text 20"/>
          <p:cNvSpPr txBox="1"/>
          <p:nvPr/>
        </p:nvSpPr>
        <p:spPr>
          <a:xfrm>
            <a:off x="658368" y="5541264"/>
            <a:ext cx="6949440" cy="658368"/>
          </a:xfrm>
          <a:prstGeom prst="rect">
            <a:avLst/>
          </a:prstGeom>
          <a:noFill/>
          <a:ln/>
        </p:spPr>
        <p:txBody>
          <a:bodyPr wrap="square" lIns="0" tIns="0" rIns="0" bIns="0" rtlCol="0" anchor="t"/>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If the assumption about how many events there are turns out to be wrong, so is the submission. Thirty days of data settles it, and I would want that before committing engineering.</a:t>
            </a:r>
            <a:endParaRPr lang="en-US" sz="1300" dirty="0"/>
          </a:p>
        </p:txBody>
      </p:sp>
      <p:sp>
        <p:nvSpPr>
          <p:cNvPr id="23" name="Text 21"/>
          <p:cNvSpPr txBox="1"/>
          <p:nvPr/>
        </p:nvSpPr>
        <p:spPr>
          <a:xfrm>
            <a:off x="8138160" y="5541264"/>
            <a:ext cx="3401568" cy="640080"/>
          </a:xfrm>
          <a:prstGeom prst="rect">
            <a:avLst/>
          </a:prstGeom>
          <a:noFill/>
          <a:ln/>
        </p:spPr>
        <p:txBody>
          <a:bodyPr wrap="square" lIns="0" tIns="0" rIns="0" bIns="0" rtlCol="0" anchor="t"/>
          <a:lstStyle/>
          <a:p>
            <a:pPr algn="r" indent="0" marL="0">
              <a:lnSpc>
                <a:spcPts val="1500"/>
              </a:lnSpc>
              <a:buNone/>
            </a:pPr>
            <a:r>
              <a:rPr lang="en-US" sz="1100" dirty="0">
                <a:solidFill>
                  <a:srgbClr val="AAB2BA"/>
                </a:solidFill>
                <a:latin typeface="Calibri" pitchFamily="34" charset="0"/>
                <a:ea typeface="Calibri" pitchFamily="34" charset="-122"/>
                <a:cs typeface="Calibri" pitchFamily="34" charset="-120"/>
              </a:rPr>
              <a:t>Danny Daley, September 2026
</a:t>
            </a:r>
            <a:pPr algn="r" indent="0" marL="0">
              <a:lnSpc>
                <a:spcPts val="1500"/>
              </a:lnSpc>
              <a:buNone/>
            </a:pPr>
            <a:r>
              <a:rPr lang="en-US" sz="1100" u="sng" dirty="0">
                <a:solidFill>
                  <a:srgbClr val="BFC7CF"/>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github.com/dannydaley76/cameramatics-product-brain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CameraMatics: event triage and coaching loop</dc:title>
  <dc:subject>PptxGenJS Presentation</dc:subject>
  <dc:creator>Danny Daley</dc:creator>
  <cp:lastModifiedBy>Danny Daley</cp:lastModifiedBy>
  <cp:revision>1</cp:revision>
  <dcterms:created xsi:type="dcterms:W3CDTF">2026-09-15T15:11:33Z</dcterms:created>
  <dcterms:modified xsi:type="dcterms:W3CDTF">2026-09-15T15:11:33Z</dcterms:modified>
</cp:coreProperties>
</file>