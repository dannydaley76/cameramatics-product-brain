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in one line. Detection is commodity; deciding which events deserve a human is the unsolved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reader stops here they still have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Sets expectation about volume before they see how much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of the whole submission: the process is the differentiator.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'did not' column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Danny: a lot of thinking was conversational and never reached the log. Said explicitly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evidence the method is real rather than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on the slide, not in an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ADR-0007 and the J-16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Bullet-level fluency across all three layers, as the brief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map orients before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1600200"/>
            <a:ext cx="7863840" cy="192024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Detection is solved.</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Attention is not.</a:t>
            </a:r>
            <a:endParaRPr lang="en-US" sz="4400" dirty="0"/>
          </a:p>
        </p:txBody>
      </p:sp>
      <p:sp>
        <p:nvSpPr>
          <p:cNvPr id="3" name="Text 1"/>
          <p:cNvSpPr txBox="1"/>
          <p:nvPr/>
        </p:nvSpPr>
        <p:spPr>
          <a:xfrm>
            <a:off x="658368" y="3703320"/>
            <a:ext cx="8046720" cy="365760"/>
          </a:xfrm>
          <a:prstGeom prst="rect">
            <a:avLst/>
          </a:prstGeom>
          <a:noFill/>
          <a:ln/>
        </p:spPr>
        <p:txBody>
          <a:bodyPr wrap="square" lIns="0" tIns="0" rIns="0" bIns="0" rtlCol="0" anchor="t"/>
          <a:lstStyle/>
          <a:p>
            <a:pPr indent="0" marL="0">
              <a:buNone/>
            </a:pPr>
            <a:r>
              <a:rPr lang="en-US" sz="1600" dirty="0">
                <a:solidFill>
                  <a:srgbClr val="C9CFD5"/>
                </a:solidFill>
                <a:latin typeface="Calibri" pitchFamily="34" charset="0"/>
                <a:ea typeface="Calibri" pitchFamily="34" charset="-122"/>
                <a:cs typeface="Calibri" pitchFamily="34" charset="-120"/>
              </a:rPr>
              <a:t>Event triage and coaching loop — a product design exercise for CameraMatics</a:t>
            </a:r>
            <a:endParaRPr lang="en-US" sz="1600" dirty="0"/>
          </a:p>
        </p:txBody>
      </p:sp>
      <p:sp>
        <p:nvSpPr>
          <p:cNvPr id="4" name="Shape 2"/>
          <p:cNvSpPr/>
          <p:nvPr/>
        </p:nvSpPr>
        <p:spPr>
          <a:xfrm>
            <a:off x="658368" y="4315968"/>
            <a:ext cx="822960" cy="32004"/>
          </a:xfrm>
          <a:prstGeom prst="rect">
            <a:avLst/>
          </a:prstGeom>
          <a:solidFill>
            <a:srgbClr val="C8621E"/>
          </a:solidFill>
          <a:ln w="12700">
            <a:solidFill>
              <a:srgbClr val="333333"/>
            </a:solidFill>
            <a:prstDash val="solid"/>
          </a:ln>
        </p:spPr>
      </p:sp>
      <p:sp>
        <p:nvSpPr>
          <p:cNvPr id="5" name="Text 3"/>
          <p:cNvSpPr txBox="1"/>
          <p:nvPr/>
        </p:nvSpPr>
        <p:spPr>
          <a:xfrm>
            <a:off x="658368" y="4572000"/>
            <a:ext cx="54864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Danny Daley</a:t>
            </a:r>
            <a:endParaRPr lang="en-US" sz="1500" dirty="0"/>
          </a:p>
        </p:txBody>
      </p:sp>
      <p:sp>
        <p:nvSpPr>
          <p:cNvPr id="6" name="Text 4"/>
          <p:cNvSpPr txBox="1"/>
          <p:nvPr/>
        </p:nvSpPr>
        <p:spPr>
          <a:xfrm>
            <a:off x="658368" y="4882896"/>
            <a:ext cx="5486400" cy="274320"/>
          </a:xfrm>
          <a:prstGeom prst="rect">
            <a:avLst/>
          </a:prstGeom>
          <a:noFill/>
          <a:ln/>
        </p:spPr>
        <p:txBody>
          <a:bodyPr wrap="square" lIns="0" tIns="0" rIns="0" bIns="0" rtlCol="0" anchor="t"/>
          <a:lstStyle/>
          <a:p>
            <a:pPr indent="0" marL="0">
              <a:buNone/>
            </a:pPr>
            <a:r>
              <a:rPr lang="en-US" sz="1300" dirty="0">
                <a:solidFill>
                  <a:srgbClr val="B6BEC6"/>
                </a:solidFill>
                <a:latin typeface="Calibri" pitchFamily="34" charset="0"/>
                <a:ea typeface="Calibri" pitchFamily="34" charset="-122"/>
                <a:cs typeface="Calibri" pitchFamily="34" charset="-120"/>
              </a:rPr>
              <a:t>September 2026</a:t>
            </a:r>
            <a:endParaRPr lang="en-US" sz="1300" dirty="0"/>
          </a:p>
        </p:txBody>
      </p:sp>
      <p:sp>
        <p:nvSpPr>
          <p:cNvPr id="7" name="Text 5"/>
          <p:cNvSpPr txBox="1"/>
          <p:nvPr/>
        </p:nvSpPr>
        <p:spPr>
          <a:xfrm>
            <a:off x="9052560" y="3703320"/>
            <a:ext cx="2487168" cy="1463040"/>
          </a:xfrm>
          <a:prstGeom prst="rect">
            <a:avLst/>
          </a:prstGeom>
          <a:noFill/>
          <a:ln/>
        </p:spPr>
        <p:txBody>
          <a:bodyPr wrap="square" lIns="0" tIns="0" rIns="0" bIns="0" rtlCol="0" anchor="t"/>
          <a:lstStyle/>
          <a:p>
            <a:pPr indent="0" marL="0">
              <a:lnSpc>
                <a:spcPts val="1600"/>
              </a:lnSpc>
              <a:buNone/>
            </a:pPr>
            <a:r>
              <a:rPr lang="en-US" sz="1100" dirty="0">
                <a:solidFill>
                  <a:srgbClr val="B6BEC6"/>
                </a:solidFill>
                <a:latin typeface="Calibri" pitchFamily="34" charset="0"/>
                <a:ea typeface="Calibri" pitchFamily="34" charset="-122"/>
                <a:cs typeface="Calibri" pitchFamily="34" charset="-120"/>
              </a:rPr>
              <a:t>Every number in this deck is either measured with a named source, or an entry in an assumption register with a confidence and a way to test it. Nothing in between.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ANSWER, UP FRONT</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A triage and coaching loop, not an event detector</a:t>
            </a:r>
            <a:endParaRPr lang="en-US" sz="3100" dirty="0"/>
          </a:p>
        </p:txBody>
      </p:sp>
      <p:sp>
        <p:nvSpPr>
          <p:cNvPr id="4" name="Shape 2"/>
          <p:cNvSpPr/>
          <p:nvPr/>
        </p:nvSpPr>
        <p:spPr>
          <a:xfrm>
            <a:off x="658368" y="1828800"/>
            <a:ext cx="3419856" cy="2706624"/>
          </a:xfrm>
          <a:prstGeom prst="rect">
            <a:avLst/>
          </a:prstGeom>
          <a:solidFill>
            <a:srgbClr val="F2F3F4"/>
          </a:solidFill>
          <a:ln w="9525">
            <a:solidFill>
              <a:srgbClr val="DDE0E3"/>
            </a:solidFill>
            <a:prstDash val="solid"/>
          </a:ln>
        </p:spPr>
      </p:sp>
      <p:sp>
        <p:nvSpPr>
          <p:cNvPr id="5" name="Text 3"/>
          <p:cNvSpPr txBox="1"/>
          <p:nvPr/>
        </p:nvSpPr>
        <p:spPr>
          <a:xfrm>
            <a:off x="896112"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What it does</a:t>
            </a:r>
            <a:endParaRPr lang="en-US" sz="1550" dirty="0"/>
          </a:p>
        </p:txBody>
      </p:sp>
      <p:sp>
        <p:nvSpPr>
          <p:cNvPr id="6" name="Text 4"/>
          <p:cNvSpPr txBox="1"/>
          <p:nvPr/>
        </p:nvSpPr>
        <p:spPr>
          <a:xfrm>
            <a:off x="896112" y="2743200"/>
            <a:ext cx="2944368" cy="1700784"/>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Every detected event is graded into one of four bands, each with its own action, and classified separately as risk, neutral or credit. The portal presents a weekly set that starts full and can be finished.</a:t>
            </a:r>
            <a:endParaRPr lang="en-US" sz="1300" dirty="0"/>
          </a:p>
        </p:txBody>
      </p:sp>
      <p:sp>
        <p:nvSpPr>
          <p:cNvPr id="7" name="Shape 5"/>
          <p:cNvSpPr/>
          <p:nvPr/>
        </p:nvSpPr>
        <p:spPr>
          <a:xfrm>
            <a:off x="4334256" y="1828800"/>
            <a:ext cx="3419856" cy="2706624"/>
          </a:xfrm>
          <a:prstGeom prst="rect">
            <a:avLst/>
          </a:prstGeom>
          <a:solidFill>
            <a:srgbClr val="F2F3F4"/>
          </a:solidFill>
          <a:ln w="9525">
            <a:solidFill>
              <a:srgbClr val="DDE0E3"/>
            </a:solidFill>
            <a:prstDash val="solid"/>
          </a:ln>
        </p:spPr>
      </p:sp>
      <p:sp>
        <p:nvSpPr>
          <p:cNvPr id="8" name="Text 6"/>
          <p:cNvSpPr txBox="1"/>
          <p:nvPr/>
        </p:nvSpPr>
        <p:spPr>
          <a:xfrm>
            <a:off x="4572000"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Why it is the right thing to build</a:t>
            </a:r>
            <a:endParaRPr lang="en-US" sz="1550" dirty="0"/>
          </a:p>
        </p:txBody>
      </p:sp>
      <p:sp>
        <p:nvSpPr>
          <p:cNvPr id="9" name="Text 7"/>
          <p:cNvSpPr txBox="1"/>
          <p:nvPr/>
        </p:nvSpPr>
        <p:spPr>
          <a:xfrm>
            <a:off x="4572000" y="2743200"/>
            <a:ext cx="2944368" cy="1700784"/>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A 100-vehicle fleet produces 50–450 detectable events a day. Most are technically correct and practically irrelevant. The manager reviews six of three hundred, then stops logging in. That is where every camera rollout dies.</a:t>
            </a:r>
            <a:endParaRPr lang="en-US" sz="1300" dirty="0"/>
          </a:p>
        </p:txBody>
      </p:sp>
      <p:sp>
        <p:nvSpPr>
          <p:cNvPr id="10" name="Shape 8"/>
          <p:cNvSpPr/>
          <p:nvPr/>
        </p:nvSpPr>
        <p:spPr>
          <a:xfrm>
            <a:off x="8010144" y="1828800"/>
            <a:ext cx="3419856" cy="2706624"/>
          </a:xfrm>
          <a:prstGeom prst="rect">
            <a:avLst/>
          </a:prstGeom>
          <a:solidFill>
            <a:srgbClr val="FAEFE7"/>
          </a:solidFill>
          <a:ln w="9525">
            <a:solidFill>
              <a:srgbClr val="FAEFE7"/>
            </a:solidFill>
            <a:prstDash val="solid"/>
          </a:ln>
        </p:spPr>
      </p:sp>
      <p:sp>
        <p:nvSpPr>
          <p:cNvPr id="11" name="Text 9"/>
          <p:cNvSpPr txBox="1"/>
          <p:nvPr/>
        </p:nvSpPr>
        <p:spPr>
          <a:xfrm>
            <a:off x="8247888" y="2066544"/>
            <a:ext cx="2944368" cy="603504"/>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line the design turns on</a:t>
            </a:r>
            <a:endParaRPr lang="en-US" sz="1550" dirty="0"/>
          </a:p>
        </p:txBody>
      </p:sp>
      <p:sp>
        <p:nvSpPr>
          <p:cNvPr id="12" name="Text 10"/>
          <p:cNvSpPr txBox="1"/>
          <p:nvPr/>
        </p:nvSpPr>
        <p:spPr>
          <a:xfrm>
            <a:off x="8247888" y="2743200"/>
            <a:ext cx="2944368" cy="1700784"/>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Praise the good, coach the bad. A system that only ever detects failure makes invisibility the best outcome a driver can achieve — which is how a safety tool becomes the thing the cab resents.</a:t>
            </a:r>
            <a:endParaRPr lang="en-US" sz="1300" dirty="0"/>
          </a:p>
        </p:txBody>
      </p:sp>
      <p:sp>
        <p:nvSpPr>
          <p:cNvPr id="13" name="Text 11"/>
          <p:cNvSpPr txBox="1"/>
          <p:nvPr/>
        </p:nvSpPr>
        <p:spPr>
          <a:xfrm>
            <a:off x="658368" y="4882896"/>
            <a:ext cx="10881360" cy="731520"/>
          </a:xfrm>
          <a:prstGeom prst="rect">
            <a:avLst/>
          </a:prstGeom>
          <a:noFill/>
          <a:ln/>
        </p:spPr>
        <p:txBody>
          <a:bodyPr wrap="square" lIns="0" tIns="0" rIns="0" bIns="0" rtlCol="0" anchor="t"/>
          <a:lstStyle/>
          <a:p>
            <a:pPr indent="0" marL="0">
              <a:buNone/>
            </a:pPr>
            <a:r>
              <a:rPr lang="en-US" sz="4000" b="1" dirty="0">
                <a:solidFill>
                  <a:srgbClr val="C8621E"/>
                </a:solidFill>
                <a:latin typeface="Cambria" pitchFamily="34" charset="0"/>
                <a:ea typeface="Cambria" pitchFamily="34" charset="-122"/>
                <a:cs typeface="Cambria" pitchFamily="34" charset="-120"/>
              </a:rPr>
              <a:t>50–450</a:t>
            </a:r>
            <a:pPr indent="0" marL="0">
              <a:buNone/>
            </a:pPr>
            <a:r>
              <a:rPr lang="en-US" sz="1400" dirty="0">
                <a:solidFill>
                  <a:srgbClr val="5E666F"/>
                </a:solidFill>
                <a:latin typeface="Calibri" pitchFamily="34" charset="0"/>
                <a:ea typeface="Calibri" pitchFamily="34" charset="-122"/>
                <a:cs typeface="Calibri" pitchFamily="34" charset="-120"/>
              </a:rPr>
              <a:t>  events a day, one fleet, one manager, and no way to tell which six matter.</a:t>
            </a:r>
            <a:endParaRPr lang="en-US" sz="4000" dirty="0"/>
          </a:p>
        </p:txBody>
      </p:sp>
      <p:sp>
        <p:nvSpPr>
          <p:cNvPr id="14" name="Text 12"/>
          <p:cNvSpPr txBox="1"/>
          <p:nvPr/>
        </p:nvSpPr>
        <p:spPr>
          <a:xfrm>
            <a:off x="658368" y="566928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Range, not a point estimate — A-02, low confidence, and the assumption whose falsity would end this.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TO READ THIS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 deck is the submission. The repository is the evidence.</a:t>
            </a:r>
            <a:endParaRPr lang="en-US" sz="3100" dirty="0"/>
          </a:p>
        </p:txBody>
      </p:sp>
      <p:sp>
        <p:nvSpPr>
          <p:cNvPr id="4" name="Shape 2"/>
          <p:cNvSpPr/>
          <p:nvPr/>
        </p:nvSpPr>
        <p:spPr>
          <a:xfrm>
            <a:off x="658368" y="1892808"/>
            <a:ext cx="310896" cy="310896"/>
          </a:xfrm>
          <a:prstGeom prst="ellipse">
            <a:avLst/>
          </a:prstGeom>
          <a:solidFill>
            <a:srgbClr val="2B3038"/>
          </a:solidFill>
          <a:ln/>
        </p:spPr>
      </p:sp>
      <p:sp>
        <p:nvSpPr>
          <p:cNvPr id="5" name="Text 3"/>
          <p:cNvSpPr txBox="1"/>
          <p:nvPr/>
        </p:nvSpPr>
        <p:spPr>
          <a:xfrm>
            <a:off x="658368" y="1933956"/>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88720" y="1783080"/>
            <a:ext cx="283464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The product brain</a:t>
            </a:r>
            <a:endParaRPr lang="en-US" sz="1500" dirty="0"/>
          </a:p>
        </p:txBody>
      </p:sp>
      <p:sp>
        <p:nvSpPr>
          <p:cNvPr id="7" name="Text 5"/>
          <p:cNvSpPr txBox="1"/>
          <p:nvPr/>
        </p:nvSpPr>
        <p:spPr>
          <a:xfrm>
            <a:off x="1188720" y="2093976"/>
            <a:ext cx="5577840" cy="457200"/>
          </a:xfrm>
          <a:prstGeom prst="rect">
            <a:avLst/>
          </a:prstGeom>
          <a:noFill/>
          <a:ln/>
        </p:spPr>
        <p:txBody>
          <a:bodyPr wrap="square" lIns="0" tIns="0" rIns="0" bIns="0" rtlCol="0" anchor="t"/>
          <a:lstStyle/>
          <a:p>
            <a:pPr indent="0" marL="0">
              <a:buNone/>
            </a:pPr>
            <a:r>
              <a:rPr lang="en-US" sz="1250" dirty="0">
                <a:solidFill>
                  <a:srgbClr val="5E666F"/>
                </a:solidFill>
                <a:latin typeface="Calibri" pitchFamily="34" charset="0"/>
                <a:ea typeface="Calibri" pitchFamily="34" charset="-122"/>
                <a:cs typeface="Calibri" pitchFamily="34" charset="-120"/>
              </a:rPr>
              <a:t>Public repo — every assumption, decision, story, metric and review</a:t>
            </a:r>
            <a:endParaRPr lang="en-US" sz="1250" dirty="0"/>
          </a:p>
        </p:txBody>
      </p:sp>
      <p:sp>
        <p:nvSpPr>
          <p:cNvPr id="8" name="Text 6"/>
          <p:cNvSpPr txBox="1"/>
          <p:nvPr/>
        </p:nvSpPr>
        <p:spPr>
          <a:xfrm>
            <a:off x="6967728" y="1837944"/>
            <a:ext cx="4663440" cy="365760"/>
          </a:xfrm>
          <a:prstGeom prst="rect">
            <a:avLst/>
          </a:prstGeom>
          <a:noFill/>
          <a:ln/>
        </p:spPr>
        <p:txBody>
          <a:bodyPr wrap="square" lIns="0" tIns="0" rIns="0" bIns="0" rtlCol="0" anchor="t"/>
          <a:lstStyle/>
          <a:p>
            <a:pPr indent="0" marL="0">
              <a:buNone/>
            </a:pPr>
            <a:r>
              <a:rPr lang="en-US" sz="1150" dirty="0">
                <a:solidFill>
                  <a:srgbClr val="C8621E"/>
                </a:solidFill>
                <a:latin typeface="Courier New" pitchFamily="34" charset="0"/>
                <a:ea typeface="Courier New" pitchFamily="34" charset="-122"/>
                <a:cs typeface="Courier New" pitchFamily="34" charset="-120"/>
              </a:rPr>
              <a:t>github.com/dannydaley76/cameramatics-product-brain</a:t>
            </a:r>
            <a:endParaRPr lang="en-US" sz="1150" dirty="0"/>
          </a:p>
        </p:txBody>
      </p:sp>
      <p:sp>
        <p:nvSpPr>
          <p:cNvPr id="9" name="Shape 7"/>
          <p:cNvSpPr/>
          <p:nvPr/>
        </p:nvSpPr>
        <p:spPr>
          <a:xfrm>
            <a:off x="658368" y="2916936"/>
            <a:ext cx="310896" cy="310896"/>
          </a:xfrm>
          <a:prstGeom prst="ellipse">
            <a:avLst/>
          </a:prstGeom>
          <a:solidFill>
            <a:srgbClr val="2B3038"/>
          </a:solidFill>
          <a:ln/>
        </p:spPr>
      </p:sp>
      <p:sp>
        <p:nvSpPr>
          <p:cNvPr id="10" name="Text 8"/>
          <p:cNvSpPr txBox="1"/>
          <p:nvPr/>
        </p:nvSpPr>
        <p:spPr>
          <a:xfrm>
            <a:off x="658368" y="295808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188720" y="2807208"/>
            <a:ext cx="283464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The prototype</a:t>
            </a:r>
            <a:endParaRPr lang="en-US" sz="1500" dirty="0"/>
          </a:p>
        </p:txBody>
      </p:sp>
      <p:sp>
        <p:nvSpPr>
          <p:cNvPr id="12" name="Text 10"/>
          <p:cNvSpPr txBox="1"/>
          <p:nvPr/>
        </p:nvSpPr>
        <p:spPr>
          <a:xfrm>
            <a:off x="1188720" y="3118104"/>
            <a:ext cx="5577840" cy="457200"/>
          </a:xfrm>
          <a:prstGeom prst="rect">
            <a:avLst/>
          </a:prstGeom>
          <a:noFill/>
          <a:ln/>
        </p:spPr>
        <p:txBody>
          <a:bodyPr wrap="square" lIns="0" tIns="0" rIns="0" bIns="0" rtlCol="0" anchor="t"/>
          <a:lstStyle/>
          <a:p>
            <a:pPr indent="0" marL="0">
              <a:buNone/>
            </a:pPr>
            <a:r>
              <a:rPr lang="en-US" sz="1250" dirty="0">
                <a:solidFill>
                  <a:srgbClr val="5E666F"/>
                </a:solidFill>
                <a:latin typeface="Calibri" pitchFamily="34" charset="0"/>
                <a:ea typeface="Calibri" pitchFamily="34" charset="-122"/>
                <a:cs typeface="Calibri" pitchFamily="34" charset="-120"/>
              </a:rPr>
              <a:t>Low fidelity, real behaviour. Work through the group of five events</a:t>
            </a:r>
            <a:endParaRPr lang="en-US" sz="1250" dirty="0"/>
          </a:p>
        </p:txBody>
      </p:sp>
      <p:sp>
        <p:nvSpPr>
          <p:cNvPr id="13" name="Text 11"/>
          <p:cNvSpPr txBox="1"/>
          <p:nvPr/>
        </p:nvSpPr>
        <p:spPr>
          <a:xfrm>
            <a:off x="6967728" y="2862072"/>
            <a:ext cx="4663440" cy="365760"/>
          </a:xfrm>
          <a:prstGeom prst="rect">
            <a:avLst/>
          </a:prstGeom>
          <a:noFill/>
          <a:ln/>
        </p:spPr>
        <p:txBody>
          <a:bodyPr wrap="square" lIns="0" tIns="0" rIns="0" bIns="0" rtlCol="0" anchor="t"/>
          <a:lstStyle/>
          <a:p>
            <a:pPr indent="0" marL="0">
              <a:buNone/>
            </a:pPr>
            <a:r>
              <a:rPr lang="en-US" sz="1150" dirty="0">
                <a:solidFill>
                  <a:srgbClr val="C8621E"/>
                </a:solidFill>
                <a:latin typeface="Courier New" pitchFamily="34" charset="0"/>
                <a:ea typeface="Courier New" pitchFamily="34" charset="-122"/>
                <a:cs typeface="Courier New" pitchFamily="34" charset="-120"/>
              </a:rPr>
              <a:t>prototype/index.html</a:t>
            </a:r>
            <a:endParaRPr lang="en-US" sz="1150" dirty="0"/>
          </a:p>
        </p:txBody>
      </p:sp>
      <p:sp>
        <p:nvSpPr>
          <p:cNvPr id="14" name="Shape 12"/>
          <p:cNvSpPr/>
          <p:nvPr/>
        </p:nvSpPr>
        <p:spPr>
          <a:xfrm>
            <a:off x="658368" y="3941064"/>
            <a:ext cx="310896" cy="310896"/>
          </a:xfrm>
          <a:prstGeom prst="ellipse">
            <a:avLst/>
          </a:prstGeom>
          <a:solidFill>
            <a:srgbClr val="2B3038"/>
          </a:solidFill>
          <a:ln/>
        </p:spPr>
      </p:sp>
      <p:sp>
        <p:nvSpPr>
          <p:cNvPr id="15" name="Text 13"/>
          <p:cNvSpPr txBox="1"/>
          <p:nvPr/>
        </p:nvSpPr>
        <p:spPr>
          <a:xfrm>
            <a:off x="658368" y="398221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88720" y="3831336"/>
            <a:ext cx="283464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The story map</a:t>
            </a:r>
            <a:endParaRPr lang="en-US" sz="1500" dirty="0"/>
          </a:p>
        </p:txBody>
      </p:sp>
      <p:sp>
        <p:nvSpPr>
          <p:cNvPr id="17" name="Text 15"/>
          <p:cNvSpPr txBox="1"/>
          <p:nvPr/>
        </p:nvSpPr>
        <p:spPr>
          <a:xfrm>
            <a:off x="1188720" y="4142232"/>
            <a:ext cx="5577840" cy="457200"/>
          </a:xfrm>
          <a:prstGeom prst="rect">
            <a:avLst/>
          </a:prstGeom>
          <a:noFill/>
          <a:ln/>
        </p:spPr>
        <p:txBody>
          <a:bodyPr wrap="square" lIns="0" tIns="0" rIns="0" bIns="0" rtlCol="0" anchor="t"/>
          <a:lstStyle/>
          <a:p>
            <a:pPr indent="0" marL="0">
              <a:buNone/>
            </a:pPr>
            <a:r>
              <a:rPr lang="en-US" sz="1250" dirty="0">
                <a:solidFill>
                  <a:srgbClr val="5E666F"/>
                </a:solidFill>
                <a:latin typeface="Calibri" pitchFamily="34" charset="0"/>
                <a:ea typeface="Calibri" pitchFamily="34" charset="-122"/>
                <a:cs typeface="Calibri" pitchFamily="34" charset="-120"/>
              </a:rPr>
              <a:t>The whole capability on one page, sliced by release</a:t>
            </a:r>
            <a:endParaRPr lang="en-US" sz="1250" dirty="0"/>
          </a:p>
        </p:txBody>
      </p:sp>
      <p:sp>
        <p:nvSpPr>
          <p:cNvPr id="18" name="Text 16"/>
          <p:cNvSpPr txBox="1"/>
          <p:nvPr/>
        </p:nvSpPr>
        <p:spPr>
          <a:xfrm>
            <a:off x="6967728" y="3886200"/>
            <a:ext cx="4663440" cy="365760"/>
          </a:xfrm>
          <a:prstGeom prst="rect">
            <a:avLst/>
          </a:prstGeom>
          <a:noFill/>
          <a:ln/>
        </p:spPr>
        <p:txBody>
          <a:bodyPr wrap="square" lIns="0" tIns="0" rIns="0" bIns="0" rtlCol="0" anchor="t"/>
          <a:lstStyle/>
          <a:p>
            <a:pPr indent="0" marL="0">
              <a:buNone/>
            </a:pPr>
            <a:r>
              <a:rPr lang="en-US" sz="1150" dirty="0">
                <a:solidFill>
                  <a:srgbClr val="C8621E"/>
                </a:solidFill>
                <a:latin typeface="Courier New" pitchFamily="34" charset="0"/>
                <a:ea typeface="Courier New" pitchFamily="34" charset="-122"/>
                <a:cs typeface="Courier New" pitchFamily="34" charset="-120"/>
              </a:rPr>
              <a:t>storymap/index.html</a:t>
            </a:r>
            <a:endParaRPr lang="en-US" sz="1150" dirty="0"/>
          </a:p>
        </p:txBody>
      </p:sp>
      <p:sp>
        <p:nvSpPr>
          <p:cNvPr id="19" name="Shape 17"/>
          <p:cNvSpPr/>
          <p:nvPr/>
        </p:nvSpPr>
        <p:spPr>
          <a:xfrm>
            <a:off x="658368" y="5074920"/>
            <a:ext cx="10844784" cy="1024128"/>
          </a:xfrm>
          <a:prstGeom prst="rect">
            <a:avLst/>
          </a:prstGeom>
          <a:solidFill>
            <a:srgbClr val="F2F3F4"/>
          </a:solidFill>
          <a:ln w="9525">
            <a:solidFill>
              <a:srgbClr val="DDE0E3"/>
            </a:solidFill>
            <a:prstDash val="solid"/>
          </a:ln>
        </p:spPr>
      </p:sp>
      <p:sp>
        <p:nvSpPr>
          <p:cNvPr id="20" name="Text 18"/>
          <p:cNvSpPr txBox="1"/>
          <p:nvPr/>
        </p:nvSpPr>
        <p:spPr>
          <a:xfrm>
            <a:off x="932688" y="5303520"/>
            <a:ext cx="10296144" cy="64008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About four hours of focused effort, spread across a week alongside other work.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volume is agent output under direction. The commit history shows both halves honestly — the elapsed days, and the bursts inside them that nobody produces by hand.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THIS WAS MADE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Six stages, and what each one had to produce</a:t>
            </a:r>
            <a:endParaRPr lang="en-US" sz="3100" dirty="0"/>
          </a:p>
        </p:txBody>
      </p:sp>
      <p:sp>
        <p:nvSpPr>
          <p:cNvPr id="4" name="Shape 2"/>
          <p:cNvSpPr/>
          <p:nvPr/>
        </p:nvSpPr>
        <p:spPr>
          <a:xfrm>
            <a:off x="658368" y="1737360"/>
            <a:ext cx="3419856" cy="1755648"/>
          </a:xfrm>
          <a:prstGeom prst="rect">
            <a:avLst/>
          </a:prstGeom>
          <a:solidFill>
            <a:srgbClr val="F2F3F4"/>
          </a:solidFill>
          <a:ln w="9525">
            <a:solidFill>
              <a:srgbClr val="DDE0E3"/>
            </a:solidFill>
            <a:prstDash val="solid"/>
          </a:ln>
        </p:spPr>
      </p:sp>
      <p:sp>
        <p:nvSpPr>
          <p:cNvPr id="5" name="Shape 3"/>
          <p:cNvSpPr/>
          <p:nvPr/>
        </p:nvSpPr>
        <p:spPr>
          <a:xfrm>
            <a:off x="896112" y="1975104"/>
            <a:ext cx="310896" cy="310896"/>
          </a:xfrm>
          <a:prstGeom prst="ellipse">
            <a:avLst/>
          </a:prstGeom>
          <a:solidFill>
            <a:srgbClr val="2B3038"/>
          </a:solidFill>
          <a:ln/>
        </p:spPr>
      </p:sp>
      <p:sp>
        <p:nvSpPr>
          <p:cNvPr id="6" name="Text 4"/>
          <p:cNvSpPr txBox="1"/>
          <p:nvPr/>
        </p:nvSpPr>
        <p:spPr>
          <a:xfrm>
            <a:off x="896112" y="201625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98448" y="2011680"/>
            <a:ext cx="2560320" cy="274320"/>
          </a:xfrm>
          <a:prstGeom prst="rect">
            <a:avLst/>
          </a:prstGeom>
          <a:noFill/>
          <a:ln/>
        </p:spPr>
        <p:txBody>
          <a:bodyPr wrap="square" lIns="0" tIns="0" rIns="0" bIns="0" rtlCol="0" anchor="t"/>
          <a:lstStyle/>
          <a:p>
            <a:pPr indent="0" marL="0">
              <a:buNone/>
            </a:pPr>
            <a:r>
              <a:rPr lang="en-US" sz="1450" b="1" dirty="0">
                <a:solidFill>
                  <a:srgbClr val="2B3038"/>
                </a:solidFill>
                <a:latin typeface="Cambria" pitchFamily="34" charset="0"/>
                <a:ea typeface="Cambria" pitchFamily="34" charset="-122"/>
                <a:cs typeface="Cambria" pitchFamily="34" charset="-120"/>
              </a:rPr>
              <a:t>Discovery</a:t>
            </a:r>
            <a:endParaRPr lang="en-US" sz="1450" dirty="0"/>
          </a:p>
        </p:txBody>
      </p:sp>
      <p:sp>
        <p:nvSpPr>
          <p:cNvPr id="8" name="Text 6"/>
          <p:cNvSpPr txBox="1"/>
          <p:nvPr/>
        </p:nvSpPr>
        <p:spPr>
          <a:xfrm>
            <a:off x="896112" y="2450592"/>
            <a:ext cx="2944368" cy="86868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Annotated brief, company analysis,</a:t>
            </a:r>
            <a:endParaRPr lang="en-US" sz="1200" dirty="0"/>
          </a:p>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25 assumptions, 10 open questions</a:t>
            </a:r>
            <a:endParaRPr lang="en-US" sz="1200" dirty="0"/>
          </a:p>
        </p:txBody>
      </p:sp>
      <p:sp>
        <p:nvSpPr>
          <p:cNvPr id="9" name="Shape 7"/>
          <p:cNvSpPr/>
          <p:nvPr/>
        </p:nvSpPr>
        <p:spPr>
          <a:xfrm>
            <a:off x="4334256" y="1737360"/>
            <a:ext cx="3419856" cy="1755648"/>
          </a:xfrm>
          <a:prstGeom prst="rect">
            <a:avLst/>
          </a:prstGeom>
          <a:solidFill>
            <a:srgbClr val="F2F3F4"/>
          </a:solidFill>
          <a:ln w="9525">
            <a:solidFill>
              <a:srgbClr val="DDE0E3"/>
            </a:solidFill>
            <a:prstDash val="solid"/>
          </a:ln>
        </p:spPr>
      </p:sp>
      <p:sp>
        <p:nvSpPr>
          <p:cNvPr id="10" name="Shape 8"/>
          <p:cNvSpPr/>
          <p:nvPr/>
        </p:nvSpPr>
        <p:spPr>
          <a:xfrm>
            <a:off x="4572000" y="1975104"/>
            <a:ext cx="310896" cy="310896"/>
          </a:xfrm>
          <a:prstGeom prst="ellipse">
            <a:avLst/>
          </a:prstGeom>
          <a:solidFill>
            <a:srgbClr val="2B3038"/>
          </a:solidFill>
          <a:ln/>
        </p:spPr>
      </p:sp>
      <p:sp>
        <p:nvSpPr>
          <p:cNvPr id="11" name="Text 9"/>
          <p:cNvSpPr txBox="1"/>
          <p:nvPr/>
        </p:nvSpPr>
        <p:spPr>
          <a:xfrm>
            <a:off x="4572000" y="201625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974336" y="2011680"/>
            <a:ext cx="2560320" cy="274320"/>
          </a:xfrm>
          <a:prstGeom prst="rect">
            <a:avLst/>
          </a:prstGeom>
          <a:noFill/>
          <a:ln/>
        </p:spPr>
        <p:txBody>
          <a:bodyPr wrap="square" lIns="0" tIns="0" rIns="0" bIns="0" rtlCol="0" anchor="t"/>
          <a:lstStyle/>
          <a:p>
            <a:pPr indent="0" marL="0">
              <a:buNone/>
            </a:pPr>
            <a:r>
              <a:rPr lang="en-US" sz="1450" b="1" dirty="0">
                <a:solidFill>
                  <a:srgbClr val="2B3038"/>
                </a:solidFill>
                <a:latin typeface="Cambria" pitchFamily="34" charset="0"/>
                <a:ea typeface="Cambria" pitchFamily="34" charset="-122"/>
                <a:cs typeface="Cambria" pitchFamily="34" charset="-120"/>
              </a:rPr>
              <a:t>Solution design</a:t>
            </a:r>
            <a:endParaRPr lang="en-US" sz="1450" dirty="0"/>
          </a:p>
        </p:txBody>
      </p:sp>
      <p:sp>
        <p:nvSpPr>
          <p:cNvPr id="13" name="Text 11"/>
          <p:cNvSpPr txBox="1"/>
          <p:nvPr/>
        </p:nvSpPr>
        <p:spPr>
          <a:xfrm>
            <a:off x="4572000" y="2450592"/>
            <a:ext cx="2944368" cy="86868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14 decision records, each with the</a:t>
            </a:r>
            <a:endParaRPr lang="en-US" sz="1200" dirty="0"/>
          </a:p>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alternatives it beat</a:t>
            </a:r>
            <a:endParaRPr lang="en-US" sz="1200" dirty="0"/>
          </a:p>
        </p:txBody>
      </p:sp>
      <p:sp>
        <p:nvSpPr>
          <p:cNvPr id="14" name="Shape 12"/>
          <p:cNvSpPr/>
          <p:nvPr/>
        </p:nvSpPr>
        <p:spPr>
          <a:xfrm>
            <a:off x="8010144" y="1737360"/>
            <a:ext cx="3419856" cy="1755648"/>
          </a:xfrm>
          <a:prstGeom prst="rect">
            <a:avLst/>
          </a:prstGeom>
          <a:solidFill>
            <a:srgbClr val="F2F3F4"/>
          </a:solidFill>
          <a:ln w="9525">
            <a:solidFill>
              <a:srgbClr val="DDE0E3"/>
            </a:solidFill>
            <a:prstDash val="solid"/>
          </a:ln>
        </p:spPr>
      </p:sp>
      <p:sp>
        <p:nvSpPr>
          <p:cNvPr id="15" name="Shape 13"/>
          <p:cNvSpPr/>
          <p:nvPr/>
        </p:nvSpPr>
        <p:spPr>
          <a:xfrm>
            <a:off x="8247888" y="1975104"/>
            <a:ext cx="310896" cy="310896"/>
          </a:xfrm>
          <a:prstGeom prst="ellipse">
            <a:avLst/>
          </a:prstGeom>
          <a:solidFill>
            <a:srgbClr val="2B3038"/>
          </a:solidFill>
          <a:ln/>
        </p:spPr>
      </p:sp>
      <p:sp>
        <p:nvSpPr>
          <p:cNvPr id="16" name="Text 14"/>
          <p:cNvSpPr txBox="1"/>
          <p:nvPr/>
        </p:nvSpPr>
        <p:spPr>
          <a:xfrm>
            <a:off x="8247888" y="201625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650224" y="2011680"/>
            <a:ext cx="2560320" cy="274320"/>
          </a:xfrm>
          <a:prstGeom prst="rect">
            <a:avLst/>
          </a:prstGeom>
          <a:noFill/>
          <a:ln/>
        </p:spPr>
        <p:txBody>
          <a:bodyPr wrap="square" lIns="0" tIns="0" rIns="0" bIns="0" rtlCol="0" anchor="t"/>
          <a:lstStyle/>
          <a:p>
            <a:pPr indent="0" marL="0">
              <a:buNone/>
            </a:pPr>
            <a:r>
              <a:rPr lang="en-US" sz="1450" b="1" dirty="0">
                <a:solidFill>
                  <a:srgbClr val="2B3038"/>
                </a:solidFill>
                <a:latin typeface="Cambria" pitchFamily="34" charset="0"/>
                <a:ea typeface="Cambria" pitchFamily="34" charset="-122"/>
                <a:cs typeface="Cambria" pitchFamily="34" charset="-120"/>
              </a:rPr>
              <a:t>Requirements</a:t>
            </a:r>
            <a:endParaRPr lang="en-US" sz="1450" dirty="0"/>
          </a:p>
        </p:txBody>
      </p:sp>
      <p:sp>
        <p:nvSpPr>
          <p:cNvPr id="18" name="Text 16"/>
          <p:cNvSpPr txBox="1"/>
          <p:nvPr/>
        </p:nvSpPr>
        <p:spPr>
          <a:xfrm>
            <a:off x="8247888" y="2450592"/>
            <a:ext cx="2944368" cy="86868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PRD, 4 epics, 15 stories with</a:t>
            </a:r>
            <a:endParaRPr lang="en-US" sz="1200" dirty="0"/>
          </a:p>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acceptance criteria, a working prototype</a:t>
            </a:r>
            <a:endParaRPr lang="en-US" sz="1200" dirty="0"/>
          </a:p>
        </p:txBody>
      </p:sp>
      <p:sp>
        <p:nvSpPr>
          <p:cNvPr id="19" name="Shape 17"/>
          <p:cNvSpPr/>
          <p:nvPr/>
        </p:nvSpPr>
        <p:spPr>
          <a:xfrm>
            <a:off x="658368" y="3767328"/>
            <a:ext cx="3419856" cy="1755648"/>
          </a:xfrm>
          <a:prstGeom prst="rect">
            <a:avLst/>
          </a:prstGeom>
          <a:solidFill>
            <a:srgbClr val="F2F3F4"/>
          </a:solidFill>
          <a:ln w="9525">
            <a:solidFill>
              <a:srgbClr val="DDE0E3"/>
            </a:solidFill>
            <a:prstDash val="solid"/>
          </a:ln>
        </p:spPr>
      </p:sp>
      <p:sp>
        <p:nvSpPr>
          <p:cNvPr id="20" name="Shape 18"/>
          <p:cNvSpPr/>
          <p:nvPr/>
        </p:nvSpPr>
        <p:spPr>
          <a:xfrm>
            <a:off x="896112" y="4005072"/>
            <a:ext cx="310896" cy="310896"/>
          </a:xfrm>
          <a:prstGeom prst="ellipse">
            <a:avLst/>
          </a:prstGeom>
          <a:solidFill>
            <a:srgbClr val="2B3038"/>
          </a:solidFill>
          <a:ln/>
        </p:spPr>
      </p:sp>
      <p:sp>
        <p:nvSpPr>
          <p:cNvPr id="21" name="Text 19"/>
          <p:cNvSpPr txBox="1"/>
          <p:nvPr/>
        </p:nvSpPr>
        <p:spPr>
          <a:xfrm>
            <a:off x="896112" y="4046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298448" y="4041648"/>
            <a:ext cx="2560320" cy="274320"/>
          </a:xfrm>
          <a:prstGeom prst="rect">
            <a:avLst/>
          </a:prstGeom>
          <a:noFill/>
          <a:ln/>
        </p:spPr>
        <p:txBody>
          <a:bodyPr wrap="square" lIns="0" tIns="0" rIns="0" bIns="0" rtlCol="0" anchor="t"/>
          <a:lstStyle/>
          <a:p>
            <a:pPr indent="0" marL="0">
              <a:buNone/>
            </a:pPr>
            <a:r>
              <a:rPr lang="en-US" sz="1450" b="1" dirty="0">
                <a:solidFill>
                  <a:srgbClr val="2B3038"/>
                </a:solidFill>
                <a:latin typeface="Cambria" pitchFamily="34" charset="0"/>
                <a:ea typeface="Cambria" pitchFamily="34" charset="-122"/>
                <a:cs typeface="Cambria" pitchFamily="34" charset="-120"/>
              </a:rPr>
              <a:t>Challenge</a:t>
            </a:r>
            <a:endParaRPr lang="en-US" sz="1450" dirty="0"/>
          </a:p>
        </p:txBody>
      </p:sp>
      <p:sp>
        <p:nvSpPr>
          <p:cNvPr id="23" name="Text 21"/>
          <p:cNvSpPr txBox="1"/>
          <p:nvPr/>
        </p:nvSpPr>
        <p:spPr>
          <a:xfrm>
            <a:off x="896112" y="4480560"/>
            <a:ext cx="2944368" cy="86868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3 adversarial passes by a fresh reader.</a:t>
            </a:r>
            <a:endParaRPr lang="en-US" sz="1200" dirty="0"/>
          </a:p>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All three returned “Not yet”</a:t>
            </a:r>
            <a:endParaRPr lang="en-US" sz="1200" dirty="0"/>
          </a:p>
        </p:txBody>
      </p:sp>
      <p:sp>
        <p:nvSpPr>
          <p:cNvPr id="24" name="Shape 22"/>
          <p:cNvSpPr/>
          <p:nvPr/>
        </p:nvSpPr>
        <p:spPr>
          <a:xfrm>
            <a:off x="4334256" y="3767328"/>
            <a:ext cx="3419856" cy="1755648"/>
          </a:xfrm>
          <a:prstGeom prst="rect">
            <a:avLst/>
          </a:prstGeom>
          <a:solidFill>
            <a:srgbClr val="F2F3F4"/>
          </a:solidFill>
          <a:ln w="9525">
            <a:solidFill>
              <a:srgbClr val="DDE0E3"/>
            </a:solidFill>
            <a:prstDash val="solid"/>
          </a:ln>
        </p:spPr>
      </p:sp>
      <p:sp>
        <p:nvSpPr>
          <p:cNvPr id="25" name="Shape 23"/>
          <p:cNvSpPr/>
          <p:nvPr/>
        </p:nvSpPr>
        <p:spPr>
          <a:xfrm>
            <a:off x="4572000" y="4005072"/>
            <a:ext cx="310896" cy="310896"/>
          </a:xfrm>
          <a:prstGeom prst="ellipse">
            <a:avLst/>
          </a:prstGeom>
          <a:solidFill>
            <a:srgbClr val="2B3038"/>
          </a:solidFill>
          <a:ln/>
        </p:spPr>
      </p:sp>
      <p:sp>
        <p:nvSpPr>
          <p:cNvPr id="26" name="Text 24"/>
          <p:cNvSpPr txBox="1"/>
          <p:nvPr/>
        </p:nvSpPr>
        <p:spPr>
          <a:xfrm>
            <a:off x="4572000" y="4046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4974336" y="4041648"/>
            <a:ext cx="2560320" cy="274320"/>
          </a:xfrm>
          <a:prstGeom prst="rect">
            <a:avLst/>
          </a:prstGeom>
          <a:noFill/>
          <a:ln/>
        </p:spPr>
        <p:txBody>
          <a:bodyPr wrap="square" lIns="0" tIns="0" rIns="0" bIns="0" rtlCol="0" anchor="t"/>
          <a:lstStyle/>
          <a:p>
            <a:pPr indent="0" marL="0">
              <a:buNone/>
            </a:pPr>
            <a:r>
              <a:rPr lang="en-US" sz="1450" b="1" dirty="0">
                <a:solidFill>
                  <a:srgbClr val="2B3038"/>
                </a:solidFill>
                <a:latin typeface="Cambria" pitchFamily="34" charset="0"/>
                <a:ea typeface="Cambria" pitchFamily="34" charset="-122"/>
                <a:cs typeface="Cambria" pitchFamily="34" charset="-120"/>
              </a:rPr>
              <a:t>Delivery planning</a:t>
            </a:r>
            <a:endParaRPr lang="en-US" sz="1450" dirty="0"/>
          </a:p>
        </p:txBody>
      </p:sp>
      <p:sp>
        <p:nvSpPr>
          <p:cNvPr id="28" name="Text 26"/>
          <p:cNvSpPr txBox="1"/>
          <p:nvPr/>
        </p:nvSpPr>
        <p:spPr>
          <a:xfrm>
            <a:off x="4572000" y="4480560"/>
            <a:ext cx="2944368" cy="86868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Phasing against the dependency chain,</a:t>
            </a:r>
            <a:endParaRPr lang="en-US" sz="1200" dirty="0"/>
          </a:p>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and a story map</a:t>
            </a:r>
            <a:endParaRPr lang="en-US" sz="1200" dirty="0"/>
          </a:p>
        </p:txBody>
      </p:sp>
      <p:sp>
        <p:nvSpPr>
          <p:cNvPr id="29" name="Shape 27"/>
          <p:cNvSpPr/>
          <p:nvPr/>
        </p:nvSpPr>
        <p:spPr>
          <a:xfrm>
            <a:off x="8010144" y="3767328"/>
            <a:ext cx="3419856" cy="1755648"/>
          </a:xfrm>
          <a:prstGeom prst="rect">
            <a:avLst/>
          </a:prstGeom>
          <a:solidFill>
            <a:srgbClr val="F2F3F4"/>
          </a:solidFill>
          <a:ln w="9525">
            <a:solidFill>
              <a:srgbClr val="DDE0E3"/>
            </a:solidFill>
            <a:prstDash val="solid"/>
          </a:ln>
        </p:spPr>
      </p:sp>
      <p:sp>
        <p:nvSpPr>
          <p:cNvPr id="30" name="Shape 28"/>
          <p:cNvSpPr/>
          <p:nvPr/>
        </p:nvSpPr>
        <p:spPr>
          <a:xfrm>
            <a:off x="8247888" y="4005072"/>
            <a:ext cx="310896" cy="310896"/>
          </a:xfrm>
          <a:prstGeom prst="ellipse">
            <a:avLst/>
          </a:prstGeom>
          <a:solidFill>
            <a:srgbClr val="2B3038"/>
          </a:solidFill>
          <a:ln/>
        </p:spPr>
      </p:sp>
      <p:sp>
        <p:nvSpPr>
          <p:cNvPr id="31" name="Text 29"/>
          <p:cNvSpPr txBox="1"/>
          <p:nvPr/>
        </p:nvSpPr>
        <p:spPr>
          <a:xfrm>
            <a:off x="8247888" y="4046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650224" y="4041648"/>
            <a:ext cx="2560320" cy="274320"/>
          </a:xfrm>
          <a:prstGeom prst="rect">
            <a:avLst/>
          </a:prstGeom>
          <a:noFill/>
          <a:ln/>
        </p:spPr>
        <p:txBody>
          <a:bodyPr wrap="square" lIns="0" tIns="0" rIns="0" bIns="0" rtlCol="0" anchor="t"/>
          <a:lstStyle/>
          <a:p>
            <a:pPr indent="0" marL="0">
              <a:buNone/>
            </a:pPr>
            <a:r>
              <a:rPr lang="en-US" sz="1450" b="1" dirty="0">
                <a:solidFill>
                  <a:srgbClr val="2B3038"/>
                </a:solidFill>
                <a:latin typeface="Cambria" pitchFamily="34" charset="0"/>
                <a:ea typeface="Cambria" pitchFamily="34" charset="-122"/>
                <a:cs typeface="Cambria" pitchFamily="34" charset="-120"/>
              </a:rPr>
              <a:t>Validation</a:t>
            </a:r>
            <a:endParaRPr lang="en-US" sz="1450" dirty="0"/>
          </a:p>
        </p:txBody>
      </p:sp>
      <p:sp>
        <p:nvSpPr>
          <p:cNvPr id="33" name="Text 31"/>
          <p:cNvSpPr txBox="1"/>
          <p:nvPr/>
        </p:nvSpPr>
        <p:spPr>
          <a:xfrm>
            <a:off x="8247888" y="4480560"/>
            <a:ext cx="2944368" cy="86868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17 metrics with counter-metrics, and</a:t>
            </a:r>
            <a:endParaRPr lang="en-US" sz="1200" dirty="0"/>
          </a:p>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what would tell me I was wrong</a:t>
            </a:r>
            <a:endParaRPr lang="en-US" sz="1200" dirty="0"/>
          </a:p>
        </p:txBody>
      </p:sp>
      <p:sp>
        <p:nvSpPr>
          <p:cNvPr id="34" name="Text 32"/>
          <p:cNvSpPr txBox="1"/>
          <p:nvPr/>
        </p:nvSpPr>
        <p:spPr>
          <a:xfrm>
            <a:off x="658368" y="6236208"/>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Every artefact states who drafted it, who decided it, and whether the adversarial pass ran. Those are fields, not a covering note.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WORKING WITH AI</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What the agents did, and what they could not decide</a:t>
            </a:r>
            <a:endParaRPr lang="en-US" sz="3100" dirty="0"/>
          </a:p>
        </p:txBody>
      </p:sp>
      <p:sp>
        <p:nvSpPr>
          <p:cNvPr id="4" name="Shape 2"/>
          <p:cNvSpPr/>
          <p:nvPr/>
        </p:nvSpPr>
        <p:spPr>
          <a:xfrm>
            <a:off x="658368" y="1719072"/>
            <a:ext cx="5303520" cy="2907792"/>
          </a:xfrm>
          <a:prstGeom prst="rect">
            <a:avLst/>
          </a:prstGeom>
          <a:solidFill>
            <a:srgbClr val="F2F3F4"/>
          </a:solidFill>
          <a:ln w="9525">
            <a:solidFill>
              <a:srgbClr val="DDE0E3"/>
            </a:solidFill>
            <a:prstDash val="solid"/>
          </a:ln>
        </p:spPr>
      </p:sp>
      <p:sp>
        <p:nvSpPr>
          <p:cNvPr id="5" name="Text 3"/>
          <p:cNvSpPr txBox="1"/>
          <p:nvPr/>
        </p:nvSpPr>
        <p:spPr>
          <a:xfrm>
            <a:off x="932688" y="1920240"/>
            <a:ext cx="4754880" cy="310896"/>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What they did</a:t>
            </a:r>
            <a:endParaRPr lang="en-US" sz="1500" dirty="0"/>
          </a:p>
        </p:txBody>
      </p:sp>
      <p:sp>
        <p:nvSpPr>
          <p:cNvPr id="6" name="Text 4"/>
          <p:cNvSpPr txBox="1"/>
          <p:nvPr/>
        </p:nvSpPr>
        <p:spPr>
          <a:xfrm>
            <a:off x="932688"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Generated the option sets I chose between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Drafted every document in the repository</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Held roughly fifty cross-referenced IDs consistent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Enforced the schema — the validator is committed, not described</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Attacked the work, as a separate reviewer with no memory of writing it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the prototype and the 43 tests that check it</a:t>
            </a:r>
            <a:endParaRPr lang="en-US" sz="1200" dirty="0"/>
          </a:p>
        </p:txBody>
      </p:sp>
      <p:sp>
        <p:nvSpPr>
          <p:cNvPr id="7" name="Shape 5"/>
          <p:cNvSpPr/>
          <p:nvPr/>
        </p:nvSpPr>
        <p:spPr>
          <a:xfrm>
            <a:off x="6199632" y="1719072"/>
            <a:ext cx="5303520" cy="2907792"/>
          </a:xfrm>
          <a:prstGeom prst="rect">
            <a:avLst/>
          </a:prstGeom>
          <a:solidFill>
            <a:srgbClr val="FAEFE7"/>
          </a:solidFill>
          <a:ln w="9525">
            <a:solidFill>
              <a:srgbClr val="FAEFE7"/>
            </a:solidFill>
            <a:prstDash val="solid"/>
          </a:ln>
        </p:spPr>
      </p:sp>
      <p:sp>
        <p:nvSpPr>
          <p:cNvPr id="8" name="Text 6"/>
          <p:cNvSpPr txBox="1"/>
          <p:nvPr/>
        </p:nvSpPr>
        <p:spPr>
          <a:xfrm>
            <a:off x="6473952" y="1920240"/>
            <a:ext cx="475488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What they did not</a:t>
            </a:r>
            <a:endParaRPr lang="en-US" sz="1500" dirty="0"/>
          </a:p>
        </p:txBody>
      </p:sp>
      <p:sp>
        <p:nvSpPr>
          <p:cNvPr id="9" name="Text 7"/>
          <p:cNvSpPr txBox="1"/>
          <p:nvPr/>
        </p:nvSpPr>
        <p:spPr>
          <a:xfrm>
            <a:off x="6473952"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Choose the spine, or the primary user</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Decide what was cut from v1</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Set what counts as high severity — an ethical call before a modelling one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Accept a risk on my behalf</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Close an open question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Put a model anywhere in the product a rule would do</a:t>
            </a:r>
            <a:endParaRPr lang="en-US" sz="1200" dirty="0"/>
          </a:p>
        </p:txBody>
      </p:sp>
      <p:sp>
        <p:nvSpPr>
          <p:cNvPr id="10" name="Text 8"/>
          <p:cNvSpPr txBox="1"/>
          <p:nvPr/>
        </p:nvSpPr>
        <p:spPr>
          <a:xfrm>
            <a:off x="658368" y="4846320"/>
            <a:ext cx="10844784" cy="73152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One honest caveat.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Time constraints meant the agents did more of the primary research than I would normally allow — the usual shape is the reverse, where I draw the conclusions and feed those to the agent as context. Where it inverted here, the output is registered as an assumption rather than a finding, which is why six of the twenty-five assumptions exist at all.</a:t>
            </a:r>
            <a:endParaRPr lang="en-US" sz="1250" dirty="0"/>
          </a:p>
        </p:txBody>
      </p:sp>
      <p:sp>
        <p:nvSpPr>
          <p:cNvPr id="11" name="Text 9"/>
          <p:cNvSpPr txBox="1"/>
          <p:nvPr/>
        </p:nvSpPr>
        <p:spPr>
          <a:xfrm>
            <a:off x="658368" y="5742432"/>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Note the asymmetry, because it is deliberate: heavy agent use in the process, and a rule in canon that nothing in the product gets a model because a model was available.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WHERE THE JUDGEMENT WAS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Three times I overruled it</a:t>
            </a:r>
            <a:endParaRPr lang="en-US" sz="3100" dirty="0"/>
          </a:p>
        </p:txBody>
      </p:sp>
      <p:sp>
        <p:nvSpPr>
          <p:cNvPr id="4" name="Text 2"/>
          <p:cNvSpPr txBox="1"/>
          <p:nvPr/>
        </p:nvSpPr>
        <p:spPr>
          <a:xfrm>
            <a:off x="658368" y="1719072"/>
            <a:ext cx="10844784" cy="694944"/>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The judgement log records the decisions where an agent had a position worth disagreeing with — 27 entries, 8 of them overrules, 1 still unratified. It does not record the steering: the framing that happened in conversation before anything was drafted, which is the larger part and the part that decided what the agent produced at all. What follows is the checkable subset.</a:t>
            </a:r>
            <a:endParaRPr lang="en-US" sz="1300" dirty="0"/>
          </a:p>
        </p:txBody>
      </p:sp>
      <p:sp>
        <p:nvSpPr>
          <p:cNvPr id="5" name="Shape 3"/>
          <p:cNvSpPr/>
          <p:nvPr/>
        </p:nvSpPr>
        <p:spPr>
          <a:xfrm>
            <a:off x="658368" y="2615184"/>
            <a:ext cx="3419856" cy="2834640"/>
          </a:xfrm>
          <a:prstGeom prst="rect">
            <a:avLst/>
          </a:prstGeom>
          <a:solidFill>
            <a:srgbClr val="F2F3F4"/>
          </a:solidFill>
          <a:ln w="9525">
            <a:solidFill>
              <a:srgbClr val="DDE0E3"/>
            </a:solidFill>
            <a:prstDash val="solid"/>
          </a:ln>
        </p:spPr>
      </p:sp>
      <p:sp>
        <p:nvSpPr>
          <p:cNvPr id="6" name="Text 4"/>
          <p:cNvSpPr txBox="1"/>
          <p:nvPr/>
        </p:nvSpPr>
        <p:spPr>
          <a:xfrm>
            <a:off x="914400" y="2816352"/>
            <a:ext cx="1463040" cy="237744"/>
          </a:xfrm>
          <a:prstGeom prst="rect">
            <a:avLst/>
          </a:prstGeom>
          <a:noFill/>
          <a:ln/>
        </p:spPr>
        <p:txBody>
          <a:bodyPr wrap="square" lIns="0" tIns="0" rIns="0" bIns="0" rtlCol="0" anchor="t"/>
          <a:lstStyle/>
          <a:p>
            <a:pPr indent="0" marL="0">
              <a:buNone/>
            </a:pPr>
            <a:r>
              <a:rPr lang="en-US" sz="1050" b="1" spc="100" kern="0" dirty="0">
                <a:solidFill>
                  <a:srgbClr val="C8621E"/>
                </a:solidFill>
                <a:latin typeface="Calibri" pitchFamily="34" charset="0"/>
                <a:ea typeface="Calibri" pitchFamily="34" charset="-122"/>
                <a:cs typeface="Calibri" pitchFamily="34" charset="-120"/>
              </a:rPr>
              <a:t>J-18</a:t>
            </a:r>
            <a:endParaRPr lang="en-US" sz="1050" dirty="0"/>
          </a:p>
        </p:txBody>
      </p:sp>
      <p:sp>
        <p:nvSpPr>
          <p:cNvPr id="7" name="Text 5"/>
          <p:cNvSpPr txBox="1"/>
          <p:nvPr/>
        </p:nvSpPr>
        <p:spPr>
          <a:xfrm>
            <a:off x="914400" y="3090672"/>
            <a:ext cx="2926080" cy="640080"/>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Praise the good, coach the bad</a:t>
            </a:r>
            <a:endParaRPr lang="en-US" sz="1550" dirty="0"/>
          </a:p>
        </p:txBody>
      </p:sp>
      <p:sp>
        <p:nvSpPr>
          <p:cNvPr id="8" name="Text 6"/>
          <p:cNvSpPr txBox="1"/>
          <p:nvPr/>
        </p:nvSpPr>
        <p:spPr>
          <a:xfrm>
            <a:off x="914400" y="3785616"/>
            <a:ext cx="2926080" cy="160934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agent had built a system that would coach a driver for braking to avoid a child. A detector that only finds failure makes invisibility the best a driver can achieve. Recognition is now half the product.</a:t>
            </a:r>
            <a:endParaRPr lang="en-US" sz="1250" dirty="0"/>
          </a:p>
        </p:txBody>
      </p:sp>
      <p:sp>
        <p:nvSpPr>
          <p:cNvPr id="9" name="Shape 7"/>
          <p:cNvSpPr/>
          <p:nvPr/>
        </p:nvSpPr>
        <p:spPr>
          <a:xfrm>
            <a:off x="4334256" y="2615184"/>
            <a:ext cx="3419856" cy="2834640"/>
          </a:xfrm>
          <a:prstGeom prst="rect">
            <a:avLst/>
          </a:prstGeom>
          <a:solidFill>
            <a:srgbClr val="F2F3F4"/>
          </a:solidFill>
          <a:ln w="9525">
            <a:solidFill>
              <a:srgbClr val="DDE0E3"/>
            </a:solidFill>
            <a:prstDash val="solid"/>
          </a:ln>
        </p:spPr>
      </p:sp>
      <p:sp>
        <p:nvSpPr>
          <p:cNvPr id="10" name="Text 8"/>
          <p:cNvSpPr txBox="1"/>
          <p:nvPr/>
        </p:nvSpPr>
        <p:spPr>
          <a:xfrm>
            <a:off x="4590288" y="2816352"/>
            <a:ext cx="1463040" cy="237744"/>
          </a:xfrm>
          <a:prstGeom prst="rect">
            <a:avLst/>
          </a:prstGeom>
          <a:noFill/>
          <a:ln/>
        </p:spPr>
        <p:txBody>
          <a:bodyPr wrap="square" lIns="0" tIns="0" rIns="0" bIns="0" rtlCol="0" anchor="t"/>
          <a:lstStyle/>
          <a:p>
            <a:pPr indent="0" marL="0">
              <a:buNone/>
            </a:pPr>
            <a:r>
              <a:rPr lang="en-US" sz="1050" b="1" spc="100" kern="0" dirty="0">
                <a:solidFill>
                  <a:srgbClr val="C8621E"/>
                </a:solidFill>
                <a:latin typeface="Calibri" pitchFamily="34" charset="0"/>
                <a:ea typeface="Calibri" pitchFamily="34" charset="-122"/>
                <a:cs typeface="Calibri" pitchFamily="34" charset="-120"/>
              </a:rPr>
              <a:t>J-17</a:t>
            </a:r>
            <a:endParaRPr lang="en-US" sz="1050" dirty="0"/>
          </a:p>
        </p:txBody>
      </p:sp>
      <p:sp>
        <p:nvSpPr>
          <p:cNvPr id="11" name="Text 9"/>
          <p:cNvSpPr txBox="1"/>
          <p:nvPr/>
        </p:nvSpPr>
        <p:spPr>
          <a:xfrm>
            <a:off x="4590288" y="3090672"/>
            <a:ext cx="2926080" cy="640080"/>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number it invented</a:t>
            </a:r>
            <a:endParaRPr lang="en-US" sz="1550" dirty="0"/>
          </a:p>
        </p:txBody>
      </p:sp>
      <p:sp>
        <p:nvSpPr>
          <p:cNvPr id="12" name="Text 10"/>
          <p:cNvSpPr txBox="1"/>
          <p:nvPr/>
        </p:nvSpPr>
        <p:spPr>
          <a:xfrm>
            <a:off x="4590288" y="3785616"/>
            <a:ext cx="2926080" cy="160934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A fifteen-minute attention budget, cited across four documents until it looked sourced, hardened into a design target. I asked where it came from. It came from nowhere, and the register now records the withdrawal.</a:t>
            </a:r>
            <a:endParaRPr lang="en-US" sz="1250" dirty="0"/>
          </a:p>
        </p:txBody>
      </p:sp>
      <p:sp>
        <p:nvSpPr>
          <p:cNvPr id="13" name="Shape 11"/>
          <p:cNvSpPr/>
          <p:nvPr/>
        </p:nvSpPr>
        <p:spPr>
          <a:xfrm>
            <a:off x="8010144" y="2615184"/>
            <a:ext cx="3419856" cy="2834640"/>
          </a:xfrm>
          <a:prstGeom prst="rect">
            <a:avLst/>
          </a:prstGeom>
          <a:solidFill>
            <a:srgbClr val="F2F3F4"/>
          </a:solidFill>
          <a:ln w="9525">
            <a:solidFill>
              <a:srgbClr val="DDE0E3"/>
            </a:solidFill>
            <a:prstDash val="solid"/>
          </a:ln>
        </p:spPr>
      </p:sp>
      <p:sp>
        <p:nvSpPr>
          <p:cNvPr id="14" name="Text 12"/>
          <p:cNvSpPr txBox="1"/>
          <p:nvPr/>
        </p:nvSpPr>
        <p:spPr>
          <a:xfrm>
            <a:off x="8266176" y="2816352"/>
            <a:ext cx="1463040" cy="237744"/>
          </a:xfrm>
          <a:prstGeom prst="rect">
            <a:avLst/>
          </a:prstGeom>
          <a:noFill/>
          <a:ln/>
        </p:spPr>
        <p:txBody>
          <a:bodyPr wrap="square" lIns="0" tIns="0" rIns="0" bIns="0" rtlCol="0" anchor="t"/>
          <a:lstStyle/>
          <a:p>
            <a:pPr indent="0" marL="0">
              <a:buNone/>
            </a:pPr>
            <a:r>
              <a:rPr lang="en-US" sz="1050" b="1" spc="100" kern="0" dirty="0">
                <a:solidFill>
                  <a:srgbClr val="C8621E"/>
                </a:solidFill>
                <a:latin typeface="Calibri" pitchFamily="34" charset="0"/>
                <a:ea typeface="Calibri" pitchFamily="34" charset="-122"/>
                <a:cs typeface="Calibri" pitchFamily="34" charset="-120"/>
              </a:rPr>
              <a:t>J-27</a:t>
            </a:r>
            <a:endParaRPr lang="en-US" sz="1050" dirty="0"/>
          </a:p>
        </p:txBody>
      </p:sp>
      <p:sp>
        <p:nvSpPr>
          <p:cNvPr id="15" name="Text 13"/>
          <p:cNvSpPr txBox="1"/>
          <p:nvPr/>
        </p:nvSpPr>
        <p:spPr>
          <a:xfrm>
            <a:off x="8266176" y="3090672"/>
            <a:ext cx="2926080" cy="640080"/>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lever it reached for</a:t>
            </a:r>
            <a:endParaRPr lang="en-US" sz="1550" dirty="0"/>
          </a:p>
        </p:txBody>
      </p:sp>
      <p:sp>
        <p:nvSpPr>
          <p:cNvPr id="16" name="Text 14"/>
          <p:cNvSpPr txBox="1"/>
          <p:nvPr/>
        </p:nvSpPr>
        <p:spPr>
          <a:xfrm>
            <a:off x="8266176" y="3785616"/>
            <a:ext cx="2926080" cy="160934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It measured a real asymmetry and proposed adding friction. Neutral means “nothing to see here” — charging someone to type that buys compliance text, not judgement. The fix was elsewhere.</a:t>
            </a:r>
            <a:endParaRPr lang="en-US" sz="1250" dirty="0"/>
          </a:p>
        </p:txBody>
      </p:sp>
      <p:sp>
        <p:nvSpPr>
          <p:cNvPr id="17" name="Text 15"/>
          <p:cNvSpPr txBox="1"/>
          <p:nvPr/>
        </p:nvSpPr>
        <p:spPr>
          <a:xfrm>
            <a:off x="658368" y="566928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A frame it missed, a fact it invented, a lever it reached for. Each entry names the class of error, because the pattern is more useful than the instance.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CHALLENGE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Then I had a fresh agent try to destroy it. Three times.</a:t>
            </a:r>
            <a:endParaRPr lang="en-US" sz="3100" dirty="0"/>
          </a:p>
        </p:txBody>
      </p:sp>
      <p:sp>
        <p:nvSpPr>
          <p:cNvPr id="4" name="Shape 2"/>
          <p:cNvSpPr/>
          <p:nvPr/>
        </p:nvSpPr>
        <p:spPr>
          <a:xfrm>
            <a:off x="658368" y="1737360"/>
            <a:ext cx="3419856" cy="1097280"/>
          </a:xfrm>
          <a:prstGeom prst="rect">
            <a:avLst/>
          </a:prstGeom>
          <a:solidFill>
            <a:srgbClr val="F2F3F4"/>
          </a:solidFill>
          <a:ln w="9525">
            <a:solidFill>
              <a:srgbClr val="DDE0E3"/>
            </a:solidFill>
            <a:prstDash val="solid"/>
          </a:ln>
        </p:spPr>
      </p:sp>
      <p:sp>
        <p:nvSpPr>
          <p:cNvPr id="5" name="Text 3"/>
          <p:cNvSpPr txBox="1"/>
          <p:nvPr/>
        </p:nvSpPr>
        <p:spPr>
          <a:xfrm>
            <a:off x="914400" y="1901952"/>
            <a:ext cx="2926080"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Requirements and decisions</a:t>
            </a:r>
            <a:endParaRPr lang="en-US" sz="1350" dirty="0"/>
          </a:p>
        </p:txBody>
      </p:sp>
      <p:sp>
        <p:nvSpPr>
          <p:cNvPr id="6" name="Text 4"/>
          <p:cNvSpPr txBox="1"/>
          <p:nvPr/>
        </p:nvSpPr>
        <p:spPr>
          <a:xfrm>
            <a:off x="914400" y="2212848"/>
            <a:ext cx="2103120" cy="274320"/>
          </a:xfrm>
          <a:prstGeom prst="rect">
            <a:avLst/>
          </a:prstGeom>
          <a:noFill/>
          <a:ln/>
        </p:spPr>
        <p:txBody>
          <a:bodyPr wrap="square" lIns="0" tIns="0" rIns="0" bIns="0" rtlCol="0" anchor="t"/>
          <a:lstStyle/>
          <a:p>
            <a:pPr indent="0" marL="0">
              <a:buNone/>
            </a:pPr>
            <a:r>
              <a:rPr lang="en-US" sz="1200" dirty="0">
                <a:solidFill>
                  <a:srgbClr val="5E666F"/>
                </a:solidFill>
                <a:latin typeface="Calibri" pitchFamily="34" charset="0"/>
                <a:ea typeface="Calibri" pitchFamily="34" charset="-122"/>
                <a:cs typeface="Calibri" pitchFamily="34" charset="-120"/>
              </a:rPr>
              <a:t>18 attacks, 16 survived</a:t>
            </a:r>
            <a:endParaRPr lang="en-US" sz="1200" dirty="0"/>
          </a:p>
        </p:txBody>
      </p:sp>
      <p:sp>
        <p:nvSpPr>
          <p:cNvPr id="7" name="Text 5"/>
          <p:cNvSpPr txBox="1"/>
          <p:nvPr/>
        </p:nvSpPr>
        <p:spPr>
          <a:xfrm>
            <a:off x="2871216" y="2194560"/>
            <a:ext cx="1005840" cy="274320"/>
          </a:xfrm>
          <a:prstGeom prst="rect">
            <a:avLst/>
          </a:prstGeom>
          <a:noFill/>
          <a:ln/>
        </p:spPr>
        <p:txBody>
          <a:bodyPr wrap="square" lIns="0" tIns="0" rIns="0" bIns="0" rtlCol="0" anchor="t"/>
          <a:lstStyle/>
          <a:p>
            <a:pPr algn="r" indent="0" marL="0">
              <a:buNone/>
            </a:pPr>
            <a:r>
              <a:rPr lang="en-US" sz="1100" b="1" spc="100" kern="0" dirty="0">
                <a:solidFill>
                  <a:srgbClr val="C8621E"/>
                </a:solidFill>
                <a:latin typeface="Calibri" pitchFamily="34" charset="0"/>
                <a:ea typeface="Calibri" pitchFamily="34" charset="-122"/>
                <a:cs typeface="Calibri" pitchFamily="34" charset="-120"/>
              </a:rPr>
              <a:t>NOT YET</a:t>
            </a:r>
            <a:endParaRPr lang="en-US" sz="1100" dirty="0"/>
          </a:p>
        </p:txBody>
      </p:sp>
      <p:sp>
        <p:nvSpPr>
          <p:cNvPr id="8" name="Shape 6"/>
          <p:cNvSpPr/>
          <p:nvPr/>
        </p:nvSpPr>
        <p:spPr>
          <a:xfrm>
            <a:off x="4334256" y="1737360"/>
            <a:ext cx="3419856" cy="1097280"/>
          </a:xfrm>
          <a:prstGeom prst="rect">
            <a:avLst/>
          </a:prstGeom>
          <a:solidFill>
            <a:srgbClr val="F2F3F4"/>
          </a:solidFill>
          <a:ln w="9525">
            <a:solidFill>
              <a:srgbClr val="DDE0E3"/>
            </a:solidFill>
            <a:prstDash val="solid"/>
          </a:ln>
        </p:spPr>
      </p:sp>
      <p:sp>
        <p:nvSpPr>
          <p:cNvPr id="9" name="Text 7"/>
          <p:cNvSpPr txBox="1"/>
          <p:nvPr/>
        </p:nvSpPr>
        <p:spPr>
          <a:xfrm>
            <a:off x="4590288" y="1901952"/>
            <a:ext cx="2926080"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prototype</a:t>
            </a:r>
            <a:endParaRPr lang="en-US" sz="1350" dirty="0"/>
          </a:p>
        </p:txBody>
      </p:sp>
      <p:sp>
        <p:nvSpPr>
          <p:cNvPr id="10" name="Text 8"/>
          <p:cNvSpPr txBox="1"/>
          <p:nvPr/>
        </p:nvSpPr>
        <p:spPr>
          <a:xfrm>
            <a:off x="4590288" y="2212848"/>
            <a:ext cx="2103120" cy="274320"/>
          </a:xfrm>
          <a:prstGeom prst="rect">
            <a:avLst/>
          </a:prstGeom>
          <a:noFill/>
          <a:ln/>
        </p:spPr>
        <p:txBody>
          <a:bodyPr wrap="square" lIns="0" tIns="0" rIns="0" bIns="0" rtlCol="0" anchor="t"/>
          <a:lstStyle/>
          <a:p>
            <a:pPr indent="0" marL="0">
              <a:buNone/>
            </a:pPr>
            <a:r>
              <a:rPr lang="en-US" sz="1200" dirty="0">
                <a:solidFill>
                  <a:srgbClr val="5E666F"/>
                </a:solidFill>
                <a:latin typeface="Calibri" pitchFamily="34" charset="0"/>
                <a:ea typeface="Calibri" pitchFamily="34" charset="-122"/>
                <a:cs typeface="Calibri" pitchFamily="34" charset="-120"/>
              </a:rPr>
              <a:t>20 findings, driven in a browser</a:t>
            </a:r>
            <a:endParaRPr lang="en-US" sz="1200" dirty="0"/>
          </a:p>
        </p:txBody>
      </p:sp>
      <p:sp>
        <p:nvSpPr>
          <p:cNvPr id="11" name="Text 9"/>
          <p:cNvSpPr txBox="1"/>
          <p:nvPr/>
        </p:nvSpPr>
        <p:spPr>
          <a:xfrm>
            <a:off x="6547104" y="2194560"/>
            <a:ext cx="1005840" cy="274320"/>
          </a:xfrm>
          <a:prstGeom prst="rect">
            <a:avLst/>
          </a:prstGeom>
          <a:noFill/>
          <a:ln/>
        </p:spPr>
        <p:txBody>
          <a:bodyPr wrap="square" lIns="0" tIns="0" rIns="0" bIns="0" rtlCol="0" anchor="t"/>
          <a:lstStyle/>
          <a:p>
            <a:pPr algn="r" indent="0" marL="0">
              <a:buNone/>
            </a:pPr>
            <a:r>
              <a:rPr lang="en-US" sz="1100" b="1" spc="100" kern="0" dirty="0">
                <a:solidFill>
                  <a:srgbClr val="C8621E"/>
                </a:solidFill>
                <a:latin typeface="Calibri" pitchFamily="34" charset="0"/>
                <a:ea typeface="Calibri" pitchFamily="34" charset="-122"/>
                <a:cs typeface="Calibri" pitchFamily="34" charset="-120"/>
              </a:rPr>
              <a:t>NOT YET</a:t>
            </a:r>
            <a:endParaRPr lang="en-US" sz="1100" dirty="0"/>
          </a:p>
        </p:txBody>
      </p:sp>
      <p:sp>
        <p:nvSpPr>
          <p:cNvPr id="12" name="Shape 10"/>
          <p:cNvSpPr/>
          <p:nvPr/>
        </p:nvSpPr>
        <p:spPr>
          <a:xfrm>
            <a:off x="8010144" y="1737360"/>
            <a:ext cx="3419856" cy="1097280"/>
          </a:xfrm>
          <a:prstGeom prst="rect">
            <a:avLst/>
          </a:prstGeom>
          <a:solidFill>
            <a:srgbClr val="F2F3F4"/>
          </a:solidFill>
          <a:ln w="9525">
            <a:solidFill>
              <a:srgbClr val="DDE0E3"/>
            </a:solidFill>
            <a:prstDash val="solid"/>
          </a:ln>
        </p:spPr>
      </p:sp>
      <p:sp>
        <p:nvSpPr>
          <p:cNvPr id="13" name="Text 11"/>
          <p:cNvSpPr txBox="1"/>
          <p:nvPr/>
        </p:nvSpPr>
        <p:spPr>
          <a:xfrm>
            <a:off x="8266176" y="1901952"/>
            <a:ext cx="2926080"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three newest decisions</a:t>
            </a:r>
            <a:endParaRPr lang="en-US" sz="1350" dirty="0"/>
          </a:p>
        </p:txBody>
      </p:sp>
      <p:sp>
        <p:nvSpPr>
          <p:cNvPr id="14" name="Text 12"/>
          <p:cNvSpPr txBox="1"/>
          <p:nvPr/>
        </p:nvSpPr>
        <p:spPr>
          <a:xfrm>
            <a:off x="8266176" y="2212848"/>
            <a:ext cx="2103120" cy="274320"/>
          </a:xfrm>
          <a:prstGeom prst="rect">
            <a:avLst/>
          </a:prstGeom>
          <a:noFill/>
          <a:ln/>
        </p:spPr>
        <p:txBody>
          <a:bodyPr wrap="square" lIns="0" tIns="0" rIns="0" bIns="0" rtlCol="0" anchor="t"/>
          <a:lstStyle/>
          <a:p>
            <a:pPr indent="0" marL="0">
              <a:buNone/>
            </a:pPr>
            <a:r>
              <a:rPr lang="en-US" sz="1200" dirty="0">
                <a:solidFill>
                  <a:srgbClr val="5E666F"/>
                </a:solidFill>
                <a:latin typeface="Calibri" pitchFamily="34" charset="0"/>
                <a:ea typeface="Calibri" pitchFamily="34" charset="-122"/>
                <a:cs typeface="Calibri" pitchFamily="34" charset="-120"/>
              </a:rPr>
              <a:t>15 findings, 1 signed off</a:t>
            </a:r>
            <a:endParaRPr lang="en-US" sz="1200" dirty="0"/>
          </a:p>
        </p:txBody>
      </p:sp>
      <p:sp>
        <p:nvSpPr>
          <p:cNvPr id="15" name="Text 13"/>
          <p:cNvSpPr txBox="1"/>
          <p:nvPr/>
        </p:nvSpPr>
        <p:spPr>
          <a:xfrm>
            <a:off x="10222992" y="2194560"/>
            <a:ext cx="1005840" cy="274320"/>
          </a:xfrm>
          <a:prstGeom prst="rect">
            <a:avLst/>
          </a:prstGeom>
          <a:noFill/>
          <a:ln/>
        </p:spPr>
        <p:txBody>
          <a:bodyPr wrap="square" lIns="0" tIns="0" rIns="0" bIns="0" rtlCol="0" anchor="t"/>
          <a:lstStyle/>
          <a:p>
            <a:pPr algn="r" indent="0" marL="0">
              <a:buNone/>
            </a:pPr>
            <a:r>
              <a:rPr lang="en-US" sz="1100" b="1" spc="100" kern="0" dirty="0">
                <a:solidFill>
                  <a:srgbClr val="C8621E"/>
                </a:solidFill>
                <a:latin typeface="Calibri" pitchFamily="34" charset="0"/>
                <a:ea typeface="Calibri" pitchFamily="34" charset="-122"/>
                <a:cs typeface="Calibri" pitchFamily="34" charset="-120"/>
              </a:rPr>
              <a:t>NOT YET</a:t>
            </a:r>
            <a:endParaRPr lang="en-US" sz="1100" dirty="0"/>
          </a:p>
        </p:txBody>
      </p:sp>
      <p:sp>
        <p:nvSpPr>
          <p:cNvPr id="16" name="Shape 14"/>
          <p:cNvSpPr/>
          <p:nvPr/>
        </p:nvSpPr>
        <p:spPr>
          <a:xfrm>
            <a:off x="658368" y="3182112"/>
            <a:ext cx="10844784" cy="2286000"/>
          </a:xfrm>
          <a:prstGeom prst="rect">
            <a:avLst/>
          </a:prstGeom>
          <a:solidFill>
            <a:srgbClr val="FAEFE7"/>
          </a:solidFill>
          <a:ln w="9525">
            <a:solidFill>
              <a:srgbClr val="FAEFE7"/>
            </a:solidFill>
            <a:prstDash val="solid"/>
          </a:ln>
        </p:spPr>
      </p:sp>
      <p:sp>
        <p:nvSpPr>
          <p:cNvPr id="17" name="Text 15"/>
          <p:cNvSpPr txBox="1"/>
          <p:nvPr/>
        </p:nvSpPr>
        <p:spPr>
          <a:xfrm>
            <a:off x="969264" y="3419856"/>
            <a:ext cx="548640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The finding worth reading</a:t>
            </a:r>
            <a:endParaRPr lang="en-US" sz="1500" dirty="0"/>
          </a:p>
        </p:txBody>
      </p:sp>
      <p:sp>
        <p:nvSpPr>
          <p:cNvPr id="18" name="Text 16"/>
          <p:cNvSpPr txBox="1"/>
          <p:nvPr/>
        </p:nvSpPr>
        <p:spPr>
          <a:xfrm>
            <a:off x="969264" y="3803904"/>
            <a:ext cx="10222992" cy="841248"/>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My prototype was fabricating. Confirming that a driver had avoided harm wrote a hardcoded sentence onto their record — the wrong day, the wrong road, the wrong act — under a named manager's confirmation, with a clip attached. In the artefact whose entire job was proving that this repository does not invent evidence.</a:t>
            </a:r>
            <a:endParaRPr lang="en-US" sz="1300" dirty="0"/>
          </a:p>
        </p:txBody>
      </p:sp>
      <p:sp>
        <p:nvSpPr>
          <p:cNvPr id="19" name="Text 17"/>
          <p:cNvSpPr txBox="1"/>
          <p:nvPr/>
        </p:nvSpPr>
        <p:spPr>
          <a:xfrm>
            <a:off x="969264" y="4718304"/>
            <a:ext cx="10222992" cy="457200"/>
          </a:xfrm>
          <a:prstGeom prst="rect">
            <a:avLst/>
          </a:prstGeom>
          <a:noFill/>
          <a:ln/>
        </p:spPr>
        <p:txBody>
          <a:bodyPr wrap="square" lIns="0" tIns="0" rIns="0" bIns="0" rtlCol="0" anchor="t"/>
          <a:lstStyle/>
          <a:p>
            <a:pPr indent="0" marL="0">
              <a:buNone/>
            </a:pPr>
            <a:r>
              <a:rPr lang="en-US" sz="1300" b="1" dirty="0">
                <a:solidFill>
                  <a:srgbClr val="2B3038"/>
                </a:solidFill>
                <a:latin typeface="Calibri" pitchFamily="34" charset="0"/>
                <a:ea typeface="Calibri" pitchFamily="34" charset="-122"/>
                <a:cs typeface="Calibri" pitchFamily="34" charset="-120"/>
              </a:rPr>
              <a:t>Found in eleven minutes by a reader who had never seen the work. Fixed, and both the finding and the fix are in the repository.</a:t>
            </a:r>
            <a:endParaRPr lang="en-US" sz="1300" dirty="0"/>
          </a:p>
        </p:txBody>
      </p:sp>
      <p:sp>
        <p:nvSpPr>
          <p:cNvPr id="20" name="Text 18"/>
          <p:cNvSpPr txBox="1"/>
          <p:nvPr/>
        </p:nvSpPr>
        <p:spPr>
          <a:xfrm>
            <a:off x="658368" y="566928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An unreviewed artefact and a reviewed one are different objects, and the difference is never silent. That rule is in canon, and this is what it bought.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PROBLEM</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 firehose, and the six events</a:t>
            </a:r>
            <a:endParaRPr lang="en-US" sz="3100" dirty="0"/>
          </a:p>
        </p:txBody>
      </p:sp>
      <p:sp>
        <p:nvSpPr>
          <p:cNvPr id="4" name="Text 2"/>
          <p:cNvSpPr txBox="1"/>
          <p:nvPr/>
        </p:nvSpPr>
        <p:spPr>
          <a:xfrm>
            <a:off x="658368" y="1682496"/>
            <a:ext cx="6858000" cy="1005840"/>
          </a:xfrm>
          <a:prstGeom prst="rect">
            <a:avLst/>
          </a:prstGeom>
          <a:noFill/>
          <a:ln/>
        </p:spPr>
        <p:txBody>
          <a:bodyPr wrap="square" lIns="0" tIns="0" rIns="0" bIns="0" rtlCol="0" anchor="t"/>
          <a:lstStyle/>
          <a:p>
            <a:pPr indent="0" marL="0">
              <a:lnSpc>
                <a:spcPts val="1900"/>
              </a:lnSpc>
              <a:buNone/>
            </a:pPr>
            <a:r>
              <a:rPr lang="en-US" sz="1400" dirty="0">
                <a:solidFill>
                  <a:srgbClr val="5E666F"/>
                </a:solidFill>
                <a:latin typeface="Calibri" pitchFamily="34" charset="0"/>
                <a:ea typeface="Calibri" pitchFamily="34" charset="-122"/>
                <a:cs typeface="Calibri" pitchFamily="34" charset="-120"/>
              </a:rPr>
              <a:t>Detection is table stakes and increasingly commodity at the edge. CameraMatics already detects fatigue, distraction, phone use, tailgating and vulnerable road users. What is missing is deciding which of those events deserves a person — and proving the conversation changed anything.</a:t>
            </a:r>
            <a:endParaRPr lang="en-US" sz="1400" dirty="0"/>
          </a:p>
        </p:txBody>
      </p:sp>
      <p:sp>
        <p:nvSpPr>
          <p:cNvPr id="5" name="Text 3"/>
          <p:cNvSpPr txBox="1"/>
          <p:nvPr/>
        </p:nvSpPr>
        <p:spPr>
          <a:xfrm>
            <a:off x="658368" y="2761488"/>
            <a:ext cx="6858000" cy="731520"/>
          </a:xfrm>
          <a:prstGeom prst="rect">
            <a:avLst/>
          </a:prstGeom>
          <a:noFill/>
          <a:ln/>
        </p:spPr>
        <p:txBody>
          <a:bodyPr wrap="square" lIns="0" tIns="0" rIns="0" bIns="0" rtlCol="0" anchor="t"/>
          <a:lstStyle/>
          <a:p>
            <a:pPr indent="0" marL="0">
              <a:lnSpc>
                <a:spcPts val="2200"/>
              </a:lnSpc>
              <a:buNone/>
            </a:pPr>
            <a:r>
              <a:rPr lang="en-US" sz="1500" b="1" dirty="0">
                <a:solidFill>
                  <a:srgbClr val="2B3038"/>
                </a:solidFill>
                <a:latin typeface="Cambria" pitchFamily="34" charset="0"/>
                <a:ea typeface="Cambria" pitchFamily="34" charset="-122"/>
                <a:cs typeface="Cambria" pitchFamily="34" charset="-120"/>
              </a:rPr>
              <a:t>The manager logs in, sees hundreds, reviews six, and stops logging in. That is not a training problem. It is the product working exactly as built.</a:t>
            </a:r>
            <a:endParaRPr lang="en-US" sz="1500" dirty="0"/>
          </a:p>
        </p:txBody>
      </p:sp>
      <p:sp>
        <p:nvSpPr>
          <p:cNvPr id="6" name="Text 4"/>
          <p:cNvSpPr txBox="1"/>
          <p:nvPr/>
        </p:nvSpPr>
        <p:spPr>
          <a:xfrm>
            <a:off x="658368" y="3657600"/>
            <a:ext cx="6858000" cy="548640"/>
          </a:xfrm>
          <a:prstGeom prst="rect">
            <a:avLst/>
          </a:prstGeom>
          <a:noFill/>
          <a:ln/>
        </p:spPr>
        <p:txBody>
          <a:bodyPr wrap="square" lIns="0" tIns="0" rIns="0" bIns="0" rtlCol="0" anchor="t"/>
          <a:lstStyle/>
          <a:p>
            <a:pPr indent="0" marL="0">
              <a:lnSpc>
                <a:spcPts val="1900"/>
              </a:lnSpc>
              <a:buNone/>
            </a:pPr>
            <a:r>
              <a:rPr lang="en-US" sz="1400" i="1" dirty="0">
                <a:solidFill>
                  <a:srgbClr val="C8621E"/>
                </a:solidFill>
                <a:latin typeface="Calibri" pitchFamily="34" charset="0"/>
                <a:ea typeface="Calibri" pitchFamily="34" charset="-122"/>
                <a:cs typeface="Calibri" pitchFamily="34" charset="-120"/>
              </a:rPr>
              <a:t>So the unit of work is not an event. It is a weekly review session that starts full and ends empty.</a:t>
            </a:r>
            <a:endParaRPr lang="en-US" sz="1400" dirty="0"/>
          </a:p>
        </p:txBody>
      </p:sp>
      <p:sp>
        <p:nvSpPr>
          <p:cNvPr id="7" name="Shape 5"/>
          <p:cNvSpPr/>
          <p:nvPr/>
        </p:nvSpPr>
        <p:spPr>
          <a:xfrm>
            <a:off x="7863840" y="1682496"/>
            <a:ext cx="3639312" cy="3931920"/>
          </a:xfrm>
          <a:prstGeom prst="rect">
            <a:avLst/>
          </a:prstGeom>
          <a:solidFill>
            <a:srgbClr val="F2F3F4"/>
          </a:solidFill>
          <a:ln w="9525">
            <a:solidFill>
              <a:srgbClr val="DDE0E3"/>
            </a:solidFill>
            <a:prstDash val="solid"/>
          </a:ln>
        </p:spPr>
      </p:sp>
      <p:sp>
        <p:nvSpPr>
          <p:cNvPr id="8" name="Text 6"/>
          <p:cNvSpPr txBox="1"/>
          <p:nvPr/>
        </p:nvSpPr>
        <p:spPr>
          <a:xfrm>
            <a:off x="8138160" y="1883664"/>
            <a:ext cx="3108960"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What this rests on</a:t>
            </a:r>
            <a:endParaRPr lang="en-US" sz="1350" dirty="0"/>
          </a:p>
        </p:txBody>
      </p:sp>
      <p:sp>
        <p:nvSpPr>
          <p:cNvPr id="9" name="Text 7"/>
          <p:cNvSpPr txBox="1"/>
          <p:nvPr/>
        </p:nvSpPr>
        <p:spPr>
          <a:xfrm>
            <a:off x="8138160" y="2212848"/>
            <a:ext cx="3108960" cy="4572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Derived from 120 words of brief and public product pages. No insider data.</a:t>
            </a:r>
            <a:endParaRPr lang="en-US" sz="1150" dirty="0"/>
          </a:p>
        </p:txBody>
      </p:sp>
      <p:sp>
        <p:nvSpPr>
          <p:cNvPr id="10" name="Text 8"/>
          <p:cNvSpPr txBox="1"/>
          <p:nvPr/>
        </p:nvSpPr>
        <p:spPr>
          <a:xfrm>
            <a:off x="8138160" y="2798064"/>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A-02</a:t>
            </a:r>
            <a:endParaRPr lang="en-US" sz="1100" dirty="0"/>
          </a:p>
        </p:txBody>
      </p:sp>
      <p:sp>
        <p:nvSpPr>
          <p:cNvPr id="11" name="Text 9"/>
          <p:cNvSpPr txBox="1"/>
          <p:nvPr/>
        </p:nvSpPr>
        <p:spPr>
          <a:xfrm>
            <a:off x="8138160" y="3035808"/>
            <a:ext cx="3108960" cy="658368"/>
          </a:xfrm>
          <a:prstGeom prst="rect">
            <a:avLst/>
          </a:prstGeom>
          <a:noFill/>
          <a:ln/>
        </p:spPr>
        <p:txBody>
          <a:bodyPr wrap="square" lIns="0" tIns="0" rIns="0" bIns="0" rtlCol="0" anchor="t"/>
          <a:lstStyle/>
          <a:p>
            <a:pPr indent="0" marL="0">
              <a:lnSpc>
                <a:spcPts val="1400"/>
              </a:lnSpc>
              <a:buNone/>
            </a:pPr>
            <a:r>
              <a:rPr lang="en-US" sz="1050" dirty="0">
                <a:solidFill>
                  <a:srgbClr val="5E666F"/>
                </a:solidFill>
                <a:latin typeface="Calibri" pitchFamily="34" charset="0"/>
                <a:ea typeface="Calibri" pitchFamily="34" charset="-122"/>
                <a:cs typeface="Calibri" pitchFamily="34" charset="-120"/>
              </a:rPr>
              <a:t>Event volume, 0.5–3 per vehicle per day. If it is an order of magnitude lower, this is a detection-breadth product and the brief gets rewritten.</a:t>
            </a:r>
            <a:endParaRPr lang="en-US" sz="1050" dirty="0"/>
          </a:p>
        </p:txBody>
      </p:sp>
      <p:sp>
        <p:nvSpPr>
          <p:cNvPr id="12" name="Text 10"/>
          <p:cNvSpPr txBox="1"/>
          <p:nvPr/>
        </p:nvSpPr>
        <p:spPr>
          <a:xfrm>
            <a:off x="8138160" y="3730752"/>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A-13</a:t>
            </a:r>
            <a:endParaRPr lang="en-US" sz="1100" dirty="0"/>
          </a:p>
        </p:txBody>
      </p:sp>
      <p:sp>
        <p:nvSpPr>
          <p:cNvPr id="13" name="Text 11"/>
          <p:cNvSpPr txBox="1"/>
          <p:nvPr/>
        </p:nvSpPr>
        <p:spPr>
          <a:xfrm>
            <a:off x="8138160" y="3968496"/>
            <a:ext cx="3108960" cy="658368"/>
          </a:xfrm>
          <a:prstGeom prst="rect">
            <a:avLst/>
          </a:prstGeom>
          <a:noFill/>
          <a:ln/>
        </p:spPr>
        <p:txBody>
          <a:bodyPr wrap="square" lIns="0" tIns="0" rIns="0" bIns="0" rtlCol="0" anchor="t"/>
          <a:lstStyle/>
          <a:p>
            <a:pPr indent="0" marL="0">
              <a:lnSpc>
                <a:spcPts val="1400"/>
              </a:lnSpc>
              <a:buNone/>
            </a:pPr>
            <a:r>
              <a:rPr lang="en-US" sz="1050" dirty="0">
                <a:solidFill>
                  <a:srgbClr val="5E666F"/>
                </a:solidFill>
                <a:latin typeface="Calibri" pitchFamily="34" charset="0"/>
                <a:ea typeface="Calibri" pitchFamily="34" charset="-122"/>
                <a:cs typeface="Calibri" pitchFamily="34" charset="-120"/>
              </a:rPr>
              <a:t>No triage exists today. If it does, the requirements survive and the story collapses.</a:t>
            </a:r>
            <a:endParaRPr lang="en-US" sz="1050" dirty="0"/>
          </a:p>
        </p:txBody>
      </p:sp>
      <p:sp>
        <p:nvSpPr>
          <p:cNvPr id="14" name="Text 12"/>
          <p:cNvSpPr txBox="1"/>
          <p:nvPr/>
        </p:nvSpPr>
        <p:spPr>
          <a:xfrm>
            <a:off x="8138160" y="4663440"/>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A-20</a:t>
            </a:r>
            <a:endParaRPr lang="en-US" sz="1100" dirty="0"/>
          </a:p>
        </p:txBody>
      </p:sp>
      <p:sp>
        <p:nvSpPr>
          <p:cNvPr id="15" name="Text 13"/>
          <p:cNvSpPr txBox="1"/>
          <p:nvPr/>
        </p:nvSpPr>
        <p:spPr>
          <a:xfrm>
            <a:off x="8138160" y="4901184"/>
            <a:ext cx="3108960" cy="658368"/>
          </a:xfrm>
          <a:prstGeom prst="rect">
            <a:avLst/>
          </a:prstGeom>
          <a:noFill/>
          <a:ln/>
        </p:spPr>
        <p:txBody>
          <a:bodyPr wrap="square" lIns="0" tIns="0" rIns="0" bIns="0" rtlCol="0" anchor="t"/>
          <a:lstStyle/>
          <a:p>
            <a:pPr indent="0" marL="0">
              <a:lnSpc>
                <a:spcPts val="1400"/>
              </a:lnSpc>
              <a:buNone/>
            </a:pPr>
            <a:r>
              <a:rPr lang="en-US" sz="1050" dirty="0">
                <a:solidFill>
                  <a:srgbClr val="5E666F"/>
                </a:solidFill>
                <a:latin typeface="Calibri" pitchFamily="34" charset="0"/>
                <a:ea typeface="Calibri" pitchFamily="34" charset="-122"/>
                <a:cs typeface="Calibri" pitchFamily="34" charset="-120"/>
              </a:rPr>
              <a:t>Collision cost concentrates in a minority of drivers. The premise of the commercial case.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SPINE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Grade and route. Nothing is discarded.</a:t>
            </a:r>
            <a:endParaRPr lang="en-US" sz="3100" dirty="0"/>
          </a:p>
        </p:txBody>
      </p:sp>
      <p:sp>
        <p:nvSpPr>
          <p:cNvPr id="4" name="Shape 2"/>
          <p:cNvSpPr/>
          <p:nvPr/>
        </p:nvSpPr>
        <p:spPr>
          <a:xfrm>
            <a:off x="658368" y="1783080"/>
            <a:ext cx="1371600" cy="768096"/>
          </a:xfrm>
          <a:prstGeom prst="rect">
            <a:avLst/>
          </a:prstGeom>
          <a:solidFill>
            <a:srgbClr val="2B3038"/>
          </a:solidFill>
          <a:ln w="12700">
            <a:solidFill>
              <a:srgbClr val="2B3038"/>
            </a:solidFill>
            <a:prstDash val="solid"/>
          </a:ln>
        </p:spPr>
      </p:sp>
      <p:sp>
        <p:nvSpPr>
          <p:cNvPr id="5" name="Text 3"/>
          <p:cNvSpPr txBox="1"/>
          <p:nvPr/>
        </p:nvSpPr>
        <p:spPr>
          <a:xfrm>
            <a:off x="658368" y="202082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Critical</a:t>
            </a:r>
            <a:endParaRPr lang="en-US" sz="1400" dirty="0"/>
          </a:p>
        </p:txBody>
      </p:sp>
      <p:sp>
        <p:nvSpPr>
          <p:cNvPr id="6" name="Text 4"/>
          <p:cNvSpPr txBox="1"/>
          <p:nvPr/>
        </p:nvSpPr>
        <p:spPr>
          <a:xfrm>
            <a:off x="2286000" y="196596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Interrupt. Clip uploads unconditionally, and an email carrying almost nothing.</a:t>
            </a:r>
            <a:endParaRPr lang="en-US" sz="1300" dirty="0"/>
          </a:p>
        </p:txBody>
      </p:sp>
      <p:sp>
        <p:nvSpPr>
          <p:cNvPr id="7" name="Shape 5"/>
          <p:cNvSpPr/>
          <p:nvPr/>
        </p:nvSpPr>
        <p:spPr>
          <a:xfrm>
            <a:off x="658368" y="2788920"/>
            <a:ext cx="1371600" cy="768096"/>
          </a:xfrm>
          <a:prstGeom prst="rect">
            <a:avLst/>
          </a:prstGeom>
          <a:solidFill>
            <a:srgbClr val="6C757D"/>
          </a:solidFill>
          <a:ln w="12700">
            <a:solidFill>
              <a:srgbClr val="6C757D"/>
            </a:solidFill>
            <a:prstDash val="solid"/>
          </a:ln>
        </p:spPr>
      </p:sp>
      <p:sp>
        <p:nvSpPr>
          <p:cNvPr id="8" name="Text 6"/>
          <p:cNvSpPr txBox="1"/>
          <p:nvPr/>
        </p:nvSpPr>
        <p:spPr>
          <a:xfrm>
            <a:off x="658368" y="302666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High</a:t>
            </a:r>
            <a:endParaRPr lang="en-US" sz="1400" dirty="0"/>
          </a:p>
        </p:txBody>
      </p:sp>
      <p:sp>
        <p:nvSpPr>
          <p:cNvPr id="9" name="Text 7"/>
          <p:cNvSpPr txBox="1"/>
          <p:nvPr/>
        </p:nvSpPr>
        <p:spPr>
          <a:xfrm>
            <a:off x="2286000" y="297180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This week's review set. A person watches the clip and decides.</a:t>
            </a:r>
            <a:endParaRPr lang="en-US" sz="1300" dirty="0"/>
          </a:p>
        </p:txBody>
      </p:sp>
      <p:sp>
        <p:nvSpPr>
          <p:cNvPr id="10" name="Shape 8"/>
          <p:cNvSpPr/>
          <p:nvPr/>
        </p:nvSpPr>
        <p:spPr>
          <a:xfrm>
            <a:off x="658368" y="3794760"/>
            <a:ext cx="1371600" cy="768096"/>
          </a:xfrm>
          <a:prstGeom prst="rect">
            <a:avLst/>
          </a:prstGeom>
          <a:solidFill>
            <a:srgbClr val="AEB4BA"/>
          </a:solidFill>
          <a:ln w="12700">
            <a:solidFill>
              <a:srgbClr val="AEB4BA"/>
            </a:solidFill>
            <a:prstDash val="solid"/>
          </a:ln>
        </p:spPr>
      </p:sp>
      <p:sp>
        <p:nvSpPr>
          <p:cNvPr id="11" name="Text 9"/>
          <p:cNvSpPr txBox="1"/>
          <p:nvPr/>
        </p:nvSpPr>
        <p:spPr>
          <a:xfrm>
            <a:off x="658368" y="403250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Medium</a:t>
            </a:r>
            <a:endParaRPr lang="en-US" sz="1400" dirty="0"/>
          </a:p>
        </p:txBody>
      </p:sp>
      <p:sp>
        <p:nvSpPr>
          <p:cNvPr id="12" name="Text 10"/>
          <p:cNvSpPr txBox="1"/>
          <p:nvPr/>
        </p:nvSpPr>
        <p:spPr>
          <a:xfrm>
            <a:off x="2286000" y="397764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Passed to the driver as a group. No conversation.</a:t>
            </a:r>
            <a:endParaRPr lang="en-US" sz="1300" dirty="0"/>
          </a:p>
        </p:txBody>
      </p:sp>
      <p:sp>
        <p:nvSpPr>
          <p:cNvPr id="13" name="Shape 11"/>
          <p:cNvSpPr/>
          <p:nvPr/>
        </p:nvSpPr>
        <p:spPr>
          <a:xfrm>
            <a:off x="658368" y="4800600"/>
            <a:ext cx="1371600" cy="768096"/>
          </a:xfrm>
          <a:prstGeom prst="rect">
            <a:avLst/>
          </a:prstGeom>
          <a:solidFill>
            <a:srgbClr val="DFE2E5"/>
          </a:solidFill>
          <a:ln w="12700">
            <a:solidFill>
              <a:srgbClr val="DFE2E5"/>
            </a:solidFill>
            <a:prstDash val="solid"/>
          </a:ln>
        </p:spPr>
      </p:sp>
      <p:sp>
        <p:nvSpPr>
          <p:cNvPr id="14" name="Text 12"/>
          <p:cNvSpPr txBox="1"/>
          <p:nvPr/>
        </p:nvSpPr>
        <p:spPr>
          <a:xfrm>
            <a:off x="658368" y="503834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Low</a:t>
            </a:r>
            <a:endParaRPr lang="en-US" sz="1400" dirty="0"/>
          </a:p>
        </p:txBody>
      </p:sp>
      <p:sp>
        <p:nvSpPr>
          <p:cNvPr id="15" name="Text 13"/>
          <p:cNvSpPr txBox="1"/>
          <p:nvPr/>
        </p:nvSpPr>
        <p:spPr>
          <a:xfrm>
            <a:off x="2286000" y="498348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Recorded. Contributes to the record and the trend. Nobody is asked to look.</a:t>
            </a:r>
            <a:endParaRPr lang="en-US" sz="1300" dirty="0"/>
          </a:p>
        </p:txBody>
      </p:sp>
      <p:sp>
        <p:nvSpPr>
          <p:cNvPr id="16" name="Shape 14"/>
          <p:cNvSpPr/>
          <p:nvPr/>
        </p:nvSpPr>
        <p:spPr>
          <a:xfrm>
            <a:off x="7589520" y="1783080"/>
            <a:ext cx="3913632" cy="3968496"/>
          </a:xfrm>
          <a:prstGeom prst="rect">
            <a:avLst/>
          </a:prstGeom>
          <a:solidFill>
            <a:srgbClr val="FAEFE7"/>
          </a:solidFill>
          <a:ln w="9525">
            <a:solidFill>
              <a:srgbClr val="FAEFE7"/>
            </a:solidFill>
            <a:prstDash val="solid"/>
          </a:ln>
        </p:spPr>
      </p:sp>
      <p:sp>
        <p:nvSpPr>
          <p:cNvPr id="17" name="Text 15"/>
          <p:cNvSpPr txBox="1"/>
          <p:nvPr/>
        </p:nvSpPr>
        <p:spPr>
          <a:xfrm>
            <a:off x="7863840" y="2011680"/>
            <a:ext cx="3383280" cy="548640"/>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This started as a suppression model</a:t>
            </a:r>
            <a:endParaRPr lang="en-US" sz="1500" dirty="0"/>
          </a:p>
        </p:txBody>
      </p:sp>
      <p:sp>
        <p:nvSpPr>
          <p:cNvPr id="18" name="Text 16"/>
          <p:cNvSpPr txBox="1"/>
          <p:nvPr/>
        </p:nvSpPr>
        <p:spPr>
          <a:xfrm>
            <a:off x="7863840" y="2615184"/>
            <a:ext cx="3383280" cy="301752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Most events are noise, so filter them out and show the rest. That was the agent's design and it was the wrong frame.</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Under it, the critical failure is “we hid something real”, which nobody can check because the evidence is what was hidden.</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Grading moves the failure to “we graded a conversation down to a notification” — which is checkable, because the event is still there.</a:t>
            </a:r>
            <a:endParaRPr lang="en-US" sz="1250" dirty="0"/>
          </a:p>
        </p:txBody>
      </p:sp>
      <p:sp>
        <p:nvSpPr>
          <p:cNvPr id="19" name="Text 17"/>
          <p:cNvSpPr txBox="1"/>
          <p:nvPr/>
        </p:nvSpPr>
        <p:spPr>
          <a:xfrm>
            <a:off x="658368" y="598932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Severity decides how much attention. A separate axis decides what kind of event it was — risk, not their doing, or something they got right.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ACROSS THE STACK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 device decides what to send, the cloud what to show</a:t>
            </a:r>
            <a:endParaRPr lang="en-US" sz="3100" dirty="0"/>
          </a:p>
        </p:txBody>
      </p:sp>
      <p:sp>
        <p:nvSpPr>
          <p:cNvPr id="4" name="Shape 2"/>
          <p:cNvSpPr/>
          <p:nvPr/>
        </p:nvSpPr>
        <p:spPr>
          <a:xfrm>
            <a:off x="658368" y="1719072"/>
            <a:ext cx="3419856" cy="3840480"/>
          </a:xfrm>
          <a:prstGeom prst="rect">
            <a:avLst/>
          </a:prstGeom>
          <a:solidFill>
            <a:srgbClr val="F2F3F4"/>
          </a:solidFill>
          <a:ln w="9525">
            <a:solidFill>
              <a:srgbClr val="DDE0E3"/>
            </a:solidFill>
            <a:prstDash val="solid"/>
          </a:ln>
        </p:spPr>
      </p:sp>
      <p:sp>
        <p:nvSpPr>
          <p:cNvPr id="5" name="Text 3"/>
          <p:cNvSpPr txBox="1"/>
          <p:nvPr/>
        </p:nvSpPr>
        <p:spPr>
          <a:xfrm>
            <a:off x="914400"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In-cab device</a:t>
            </a:r>
            <a:endParaRPr lang="en-US" sz="1500" dirty="0"/>
          </a:p>
        </p:txBody>
      </p:sp>
      <p:sp>
        <p:nvSpPr>
          <p:cNvPr id="6" name="Text 4"/>
          <p:cNvSpPr txBox="1"/>
          <p:nvPr/>
        </p:nvSpPr>
        <p:spPr>
          <a:xfrm>
            <a:off x="914400"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Detect the v1 triggers on-device in real time. Attach every signal the device has, whichever one fired. Buffer continuously so a clip can be fetched days later.</a:t>
            </a:r>
            <a:endParaRPr lang="en-US" sz="1150" dirty="0"/>
          </a:p>
        </p:txBody>
      </p:sp>
      <p:sp>
        <p:nvSpPr>
          <p:cNvPr id="7" name="Text 5"/>
          <p:cNvSpPr txBox="1"/>
          <p:nvPr/>
        </p:nvSpPr>
        <p:spPr>
          <a:xfrm>
            <a:off x="914400" y="3712464"/>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8" name="Text 6"/>
          <p:cNvSpPr txBox="1"/>
          <p:nvPr/>
        </p:nvSpPr>
        <p:spPr>
          <a:xfrm>
            <a:off x="914400" y="3968496"/>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Cellular is contractually capped, so severity gates upload — metadata always, clips when they earn it. Anything collision-grade goes now; that is the one case where cost does not get a vote.</a:t>
            </a:r>
            <a:endParaRPr lang="en-US" sz="1150" dirty="0"/>
          </a:p>
        </p:txBody>
      </p:sp>
      <p:sp>
        <p:nvSpPr>
          <p:cNvPr id="9" name="Shape 7"/>
          <p:cNvSpPr/>
          <p:nvPr/>
        </p:nvSpPr>
        <p:spPr>
          <a:xfrm>
            <a:off x="4334256" y="1719072"/>
            <a:ext cx="3419856" cy="3840480"/>
          </a:xfrm>
          <a:prstGeom prst="rect">
            <a:avLst/>
          </a:prstGeom>
          <a:solidFill>
            <a:srgbClr val="F2F3F4"/>
          </a:solidFill>
          <a:ln w="9525">
            <a:solidFill>
              <a:srgbClr val="DDE0E3"/>
            </a:solidFill>
            <a:prstDash val="solid"/>
          </a:ln>
        </p:spPr>
      </p:sp>
      <p:sp>
        <p:nvSpPr>
          <p:cNvPr id="10" name="Text 8"/>
          <p:cNvSpPr txBox="1"/>
          <p:nvPr/>
        </p:nvSpPr>
        <p:spPr>
          <a:xfrm>
            <a:off x="4590288"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Cloud platform</a:t>
            </a:r>
            <a:endParaRPr lang="en-US" sz="1500" dirty="0"/>
          </a:p>
        </p:txBody>
      </p:sp>
      <p:sp>
        <p:nvSpPr>
          <p:cNvPr id="11" name="Text 9"/>
          <p:cNvSpPr txBox="1"/>
          <p:nvPr/>
        </p:nvSpPr>
        <p:spPr>
          <a:xfrm>
            <a:off x="4590288"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Ingest idempotently from queue-and-forward devices. Group related detections into one event. Grade, route, and record why. Orchestrate video and never lie about its state.</a:t>
            </a:r>
            <a:endParaRPr lang="en-US" sz="1150" dirty="0"/>
          </a:p>
        </p:txBody>
      </p:sp>
      <p:sp>
        <p:nvSpPr>
          <p:cNvPr id="12" name="Text 10"/>
          <p:cNvSpPr txBox="1"/>
          <p:nvPr/>
        </p:nvSpPr>
        <p:spPr>
          <a:xfrm>
            <a:off x="4590288" y="3712464"/>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3" name="Text 11"/>
          <p:cNvSpPr txBox="1"/>
          <p:nvPr/>
        </p:nvSpPr>
        <p:spPr>
          <a:xfrm>
            <a:off x="4590288" y="3968496"/>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Grading lives here, not in firmware, because these rules will change weekly in the first quarter and a firmware release is the wrong unit of iteration for a number we are guessing.</a:t>
            </a:r>
            <a:endParaRPr lang="en-US" sz="1150" dirty="0"/>
          </a:p>
        </p:txBody>
      </p:sp>
      <p:sp>
        <p:nvSpPr>
          <p:cNvPr id="14" name="Shape 12"/>
          <p:cNvSpPr/>
          <p:nvPr/>
        </p:nvSpPr>
        <p:spPr>
          <a:xfrm>
            <a:off x="8010144" y="1719072"/>
            <a:ext cx="3419856" cy="3840480"/>
          </a:xfrm>
          <a:prstGeom prst="rect">
            <a:avLst/>
          </a:prstGeom>
          <a:solidFill>
            <a:srgbClr val="F2F3F4"/>
          </a:solidFill>
          <a:ln w="9525">
            <a:solidFill>
              <a:srgbClr val="DDE0E3"/>
            </a:solidFill>
            <a:prstDash val="solid"/>
          </a:ln>
        </p:spPr>
      </p:sp>
      <p:sp>
        <p:nvSpPr>
          <p:cNvPr id="15" name="Text 13"/>
          <p:cNvSpPr txBox="1"/>
          <p:nvPr/>
        </p:nvSpPr>
        <p:spPr>
          <a:xfrm>
            <a:off x="8266176"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Web portal</a:t>
            </a:r>
            <a:endParaRPr lang="en-US" sz="1500" dirty="0"/>
          </a:p>
        </p:txBody>
      </p:sp>
      <p:sp>
        <p:nvSpPr>
          <p:cNvPr id="16" name="Text 14"/>
          <p:cNvSpPr txBox="1"/>
          <p:nvPr/>
        </p:nvSpPr>
        <p:spPr>
          <a:xfrm>
            <a:off x="8266176"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finite ranked set that can be finished. Honest footage states. A coaching action cheap enough that logging it beats not logging it.</a:t>
            </a:r>
            <a:endParaRPr lang="en-US" sz="1150" dirty="0"/>
          </a:p>
        </p:txBody>
      </p:sp>
      <p:sp>
        <p:nvSpPr>
          <p:cNvPr id="17" name="Text 15"/>
          <p:cNvSpPr txBox="1"/>
          <p:nvPr/>
        </p:nvSpPr>
        <p:spPr>
          <a:xfrm>
            <a:off x="8266176" y="3712464"/>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8" name="Text 16"/>
          <p:cNvSpPr txBox="1"/>
          <p:nvPr/>
        </p:nvSpPr>
        <p:spPr>
          <a:xfrm>
            <a:off x="8266176" y="3968496"/>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ranks nothing itself and offers no configuration. Deciding what deserves attention is our job, not a slider we hand to the customer.</a:t>
            </a:r>
            <a:endParaRPr lang="en-US" sz="1150" dirty="0"/>
          </a:p>
        </p:txBody>
      </p:sp>
      <p:sp>
        <p:nvSpPr>
          <p:cNvPr id="19" name="Text 17"/>
          <p:cNvSpPr txBox="1"/>
          <p:nvPr/>
        </p:nvSpPr>
        <p:spPr>
          <a:xfrm>
            <a:off x="658368" y="576072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And the portal decides nothing — it shows a short list honestly. Full outline, constraints and open dependencies in the repository.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PORTAL — WHERE THE DEPTH GOES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 manager's week, and everything underneath it</a:t>
            </a:r>
            <a:endParaRPr lang="en-US" sz="3100" dirty="0"/>
          </a:p>
        </p:txBody>
      </p:sp>
      <p:pic>
        <p:nvPicPr>
          <p:cNvPr id="4" name="Image 0" descr="/home/claude/shots/storymap.png">    </p:cNvPr>
          <p:cNvPicPr>
            <a:picLocks noChangeAspect="1"/>
          </p:cNvPicPr>
          <p:nvPr/>
        </p:nvPicPr>
        <p:blipFill>
          <a:blip r:embed="rId1"/>
          <a:stretch>
            <a:fillRect/>
          </a:stretch>
        </p:blipFill>
        <p:spPr>
          <a:xfrm>
            <a:off x="1965960" y="1627632"/>
            <a:ext cx="8229600" cy="4407408"/>
          </a:xfrm>
          <a:prstGeom prst="rect">
            <a:avLst/>
          </a:prstGeom>
        </p:spPr>
      </p:pic>
      <p:sp>
        <p:nvSpPr>
          <p:cNvPr id="5" name="Text 2"/>
          <p:cNvSpPr txBox="1"/>
          <p:nvPr/>
        </p:nvSpPr>
        <p:spPr>
          <a:xfrm>
            <a:off x="658368" y="612648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Backbone left to right, stories underneath. This is the v1 row — a complete walk across the whole backbone, which is what “the unit of value is the loop” looks like drawn rather than argued. The v1.1 and later rows, and a link from every card to its requirement, are in the repository.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REVIEW QUEUE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A set that starts full and can be finished</a:t>
            </a:r>
            <a:endParaRPr lang="en-US" sz="3100" dirty="0"/>
          </a:p>
        </p:txBody>
      </p:sp>
      <p:pic>
        <p:nvPicPr>
          <p:cNvPr id="4" name="Image 0" descr="/home/claude/shots/set.png">    </p:cNvPr>
          <p:cNvPicPr>
            <a:picLocks noChangeAspect="1"/>
          </p:cNvPicPr>
          <p:nvPr/>
        </p:nvPicPr>
        <p:blipFill>
          <a:blip r:embed="rId1"/>
          <a:stretch>
            <a:fillRect/>
          </a:stretch>
        </p:blipFill>
        <p:spPr>
          <a:xfrm>
            <a:off x="658368" y="1645920"/>
            <a:ext cx="5943600" cy="4288536"/>
          </a:xfrm>
          <a:prstGeom prst="rect">
            <a:avLst/>
          </a:prstGeom>
        </p:spPr>
      </p:pic>
      <p:sp>
        <p:nvSpPr>
          <p:cNvPr id="5" name="Text 2"/>
          <p:cNvSpPr txBox="1"/>
          <p:nvPr/>
        </p:nvSpPr>
        <p:spPr>
          <a:xfrm>
            <a:off x="6912864" y="1682496"/>
            <a:ext cx="4626864"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Ranked, and finite</a:t>
            </a:r>
            <a:endParaRPr lang="en-US" sz="1350" dirty="0"/>
          </a:p>
        </p:txBody>
      </p:sp>
      <p:sp>
        <p:nvSpPr>
          <p:cNvPr id="6" name="Text 3"/>
          <p:cNvSpPr txBox="1"/>
          <p:nvPr/>
        </p:nvSpPr>
        <p:spPr>
          <a:xfrm>
            <a:off x="6912864" y="1993392"/>
            <a:ext cx="4626864" cy="713232"/>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 feed is never done. A queue can be cleared, and that is the only state that produces a habit.</a:t>
            </a:r>
            <a:endParaRPr lang="en-US" sz="1200" dirty="0"/>
          </a:p>
        </p:txBody>
      </p:sp>
      <p:sp>
        <p:nvSpPr>
          <p:cNvPr id="7" name="Text 4"/>
          <p:cNvSpPr txBox="1"/>
          <p:nvPr/>
        </p:nvSpPr>
        <p:spPr>
          <a:xfrm>
            <a:off x="6912864" y="2779776"/>
            <a:ext cx="4626864"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Nothing is hidden</a:t>
            </a:r>
            <a:endParaRPr lang="en-US" sz="1350" dirty="0"/>
          </a:p>
        </p:txBody>
      </p:sp>
      <p:sp>
        <p:nvSpPr>
          <p:cNvPr id="8" name="Text 5"/>
          <p:cNvSpPr txBox="1"/>
          <p:nvPr/>
        </p:nvSpPr>
        <p:spPr>
          <a:xfrm>
            <a:off x="6912864" y="3090672"/>
            <a:ext cx="4626864" cy="713232"/>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The band counts sit on the same screen. 150 events were graded and handled without the manager this week.</a:t>
            </a:r>
            <a:endParaRPr lang="en-US" sz="1200" dirty="0"/>
          </a:p>
        </p:txBody>
      </p:sp>
      <p:sp>
        <p:nvSpPr>
          <p:cNvPr id="9" name="Text 6"/>
          <p:cNvSpPr txBox="1"/>
          <p:nvPr/>
        </p:nvSpPr>
        <p:spPr>
          <a:xfrm>
            <a:off x="6912864" y="3877056"/>
            <a:ext cx="4626864"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Critical breaks the rhythm</a:t>
            </a:r>
            <a:endParaRPr lang="en-US" sz="1350" dirty="0"/>
          </a:p>
        </p:txBody>
      </p:sp>
      <p:sp>
        <p:nvSpPr>
          <p:cNvPr id="10" name="Text 7"/>
          <p:cNvSpPr txBox="1"/>
          <p:nvPr/>
        </p:nvSpPr>
        <p:spPr>
          <a:xfrm>
            <a:off x="6912864" y="4187952"/>
            <a:ext cx="4626864" cy="713232"/>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It does not wait for the weekly set and it is not closed with it.</a:t>
            </a:r>
            <a:endParaRPr lang="en-US" sz="1200" dirty="0"/>
          </a:p>
        </p:txBody>
      </p:sp>
      <p:sp>
        <p:nvSpPr>
          <p:cNvPr id="11" name="Text 8"/>
          <p:cNvSpPr txBox="1"/>
          <p:nvPr/>
        </p:nvSpPr>
        <p:spPr>
          <a:xfrm>
            <a:off x="6912864" y="4974336"/>
            <a:ext cx="4626864" cy="274320"/>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Last week closed, not carried</a:t>
            </a:r>
            <a:endParaRPr lang="en-US" sz="1350" dirty="0"/>
          </a:p>
        </p:txBody>
      </p:sp>
      <p:sp>
        <p:nvSpPr>
          <p:cNvPr id="12" name="Text 9"/>
          <p:cNvSpPr txBox="1"/>
          <p:nvPr/>
        </p:nvSpPr>
        <p:spPr>
          <a:xfrm>
            <a:off x="6912864" y="5285232"/>
            <a:ext cx="4626864" cy="713232"/>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A bad week does not become a backlog nobody will ever face.</a:t>
            </a:r>
            <a:endParaRPr lang="en-US" sz="1200" dirty="0"/>
          </a:p>
        </p:txBody>
      </p:sp>
      <p:sp>
        <p:nvSpPr>
          <p:cNvPr id="13" name="Text 10"/>
          <p:cNvSpPr txBox="1"/>
          <p:nvPr/>
        </p:nvSpPr>
        <p:spPr>
          <a:xfrm>
            <a:off x="658368" y="6053328"/>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Working prototype, not a picture — the queue actually empties, and the group of five on one trip is one judgement. Link on slide 3.</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Every event carries every signal, whichever one set it off</a:t>
            </a:r>
            <a:endParaRPr lang="en-US" sz="3100" dirty="0"/>
          </a:p>
        </p:txBody>
      </p:sp>
      <p:pic>
        <p:nvPicPr>
          <p:cNvPr id="4" name="Image 0" descr="/home/claude/shots/event.png">    </p:cNvPr>
          <p:cNvPicPr>
            <a:picLocks noChangeAspect="1"/>
          </p:cNvPicPr>
          <p:nvPr/>
        </p:nvPicPr>
        <p:blipFill>
          <a:blip r:embed="rId1"/>
          <a:stretch>
            <a:fillRect/>
          </a:stretch>
        </p:blipFill>
        <p:spPr>
          <a:xfrm>
            <a:off x="658368" y="1700784"/>
            <a:ext cx="6492240" cy="3593592"/>
          </a:xfrm>
          <a:prstGeom prst="rect">
            <a:avLst/>
          </a:prstGeom>
        </p:spPr>
      </p:pic>
      <p:sp>
        <p:nvSpPr>
          <p:cNvPr id="5" name="Text 2"/>
          <p:cNvSpPr txBox="1"/>
          <p:nvPr/>
        </p:nvSpPr>
        <p:spPr>
          <a:xfrm>
            <a:off x="7461504" y="1682496"/>
            <a:ext cx="4078224" cy="822960"/>
          </a:xfrm>
          <a:prstGeom prst="rect">
            <a:avLst/>
          </a:prstGeom>
          <a:noFill/>
          <a:ln/>
        </p:spPr>
        <p:txBody>
          <a:bodyPr wrap="square" lIns="0" tIns="0" rIns="0" bIns="0" rtlCol="0" anchor="t"/>
          <a:lstStyle/>
          <a:p>
            <a:pPr indent="0" marL="0">
              <a:lnSpc>
                <a:spcPts val="2000"/>
              </a:lnSpc>
              <a:buNone/>
            </a:pPr>
            <a:r>
              <a:rPr lang="en-US" sz="1400" b="1" dirty="0">
                <a:solidFill>
                  <a:srgbClr val="2B3038"/>
                </a:solidFill>
                <a:latin typeface="Cambria" pitchFamily="34" charset="0"/>
                <a:ea typeface="Cambria" pitchFamily="34" charset="-122"/>
                <a:cs typeface="Cambria" pitchFamily="34" charset="-120"/>
              </a:rPr>
              <a:t>The trigger decides that an event exists. It does not decide what evidence the event carries.</a:t>
            </a:r>
            <a:endParaRPr lang="en-US" sz="1400" dirty="0"/>
          </a:p>
        </p:txBody>
      </p:sp>
      <p:sp>
        <p:nvSpPr>
          <p:cNvPr id="6" name="Text 3"/>
          <p:cNvSpPr txBox="1"/>
          <p:nvPr/>
        </p:nvSpPr>
        <p:spPr>
          <a:xfrm>
            <a:off x="7461504" y="2688336"/>
            <a:ext cx="4078224" cy="3017520"/>
          </a:xfrm>
          <a:prstGeom prst="rect">
            <a:avLst/>
          </a:prstGeom>
          <a:noFill/>
          <a:ln/>
        </p:spPr>
        <p:txBody>
          <a:bodyPr wrap="square" lIns="0" tIns="0" rIns="0" bIns="0" rtlCol="0" anchor="t"/>
          <a:lstStyle/>
          <a:p>
            <a:pPr indent="0" marL="0">
              <a:lnSpc>
                <a:spcPts val="1700"/>
              </a:lnSpc>
              <a:buNone/>
            </a:pPr>
            <a:r>
              <a:rPr lang="en-US" sz="1200" dirty="0">
                <a:solidFill>
                  <a:srgbClr val="5E666F"/>
                </a:solidFill>
                <a:latin typeface="Calibri" pitchFamily="34" charset="0"/>
                <a:ea typeface="Calibri" pitchFamily="34" charset="-122"/>
                <a:cs typeface="Calibri" pitchFamily="34" charset="-120"/>
              </a:rPr>
              <a:t>A hard brake and a phone in hand arrive with the same packet: speed against the limit, the force trace, where, when, wipers and lights, what the forward camera saw, what the driver-facing camera saw.</a:t>
            </a:r>
            <a:endParaRPr lang="en-US" sz="1200" dirty="0"/>
          </a:p>
          <a:p>
            <a:pPr indent="0" marL="0">
              <a:lnSpc>
                <a:spcPts val="1700"/>
              </a:lnSpc>
              <a:buNone/>
            </a:pPr>
            <a:endParaRPr lang="en-US" sz="1200" dirty="0"/>
          </a:p>
          <a:p>
            <a:pPr indent="0" marL="0">
              <a:lnSpc>
                <a:spcPts val="1700"/>
              </a:lnSpc>
              <a:buNone/>
            </a:pPr>
            <a:r>
              <a:rPr lang="en-US" sz="1200" dirty="0">
                <a:solidFill>
                  <a:srgbClr val="5E666F"/>
                </a:solidFill>
                <a:latin typeface="Calibri" pitchFamily="34" charset="0"/>
                <a:ea typeface="Calibri" pitchFamily="34" charset="-122"/>
                <a:cs typeface="Calibri" pitchFamily="34" charset="-120"/>
              </a:rPr>
              <a:t>That is what lets the same event be read as risk or as credit without building a second detector — and it is why the grading reason can be written in a sentence a driver would accept.</a:t>
            </a:r>
            <a:endParaRPr lang="en-US" sz="1200" dirty="0"/>
          </a:p>
          <a:p>
            <a:pPr indent="0" marL="0">
              <a:lnSpc>
                <a:spcPts val="1700"/>
              </a:lnSpc>
              <a:buNone/>
            </a:pPr>
            <a:endParaRPr lang="en-US" sz="1200" dirty="0"/>
          </a:p>
          <a:p>
            <a:pPr indent="0" marL="0">
              <a:lnSpc>
                <a:spcPts val="1700"/>
              </a:lnSpc>
              <a:buNone/>
            </a:pPr>
            <a:r>
              <a:rPr lang="en-US" sz="1200" dirty="0">
                <a:solidFill>
                  <a:srgbClr val="5E666F"/>
                </a:solidFill>
                <a:latin typeface="Calibri" pitchFamily="34" charset="0"/>
                <a:ea typeface="Calibri" pitchFamily="34" charset="-122"/>
                <a:cs typeface="Calibri" pitchFamily="34" charset="-120"/>
              </a:rPr>
              <a:t>Where a device generation cannot flag objects ahead, the panel says so rather than leaving a blank.</a:t>
            </a:r>
            <a:endParaRPr lang="en-US" sz="1200" dirty="0"/>
          </a:p>
        </p:txBody>
      </p:sp>
      <p:sp>
        <p:nvSpPr>
          <p:cNvPr id="7" name="Text 4"/>
          <p:cNvSpPr txBox="1"/>
          <p:nvPr/>
        </p:nvSpPr>
        <p:spPr>
          <a:xfrm>
            <a:off x="658368" y="553212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Decided on day four, against an earlier decision that had cut it — and two acceptance criteria were already quietly depending on it.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JUDGEMENT CALL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 system proposes. The manager decides. Always.</a:t>
            </a:r>
            <a:endParaRPr lang="en-US" sz="3100" dirty="0"/>
          </a:p>
        </p:txBody>
      </p:sp>
      <p:pic>
        <p:nvPicPr>
          <p:cNvPr id="4" name="Image 0" descr="/home/claude/shots/choice.png">    </p:cNvPr>
          <p:cNvPicPr>
            <a:picLocks noChangeAspect="1"/>
          </p:cNvPicPr>
          <p:nvPr/>
        </p:nvPicPr>
        <p:blipFill>
          <a:blip r:embed="rId1"/>
          <a:stretch>
            <a:fillRect/>
          </a:stretch>
        </p:blipFill>
        <p:spPr>
          <a:xfrm>
            <a:off x="658368" y="1737360"/>
            <a:ext cx="10844784" cy="2148840"/>
          </a:xfrm>
          <a:prstGeom prst="rect">
            <a:avLst/>
          </a:prstGeom>
        </p:spPr>
      </p:pic>
      <p:sp>
        <p:nvSpPr>
          <p:cNvPr id="5" name="Shape 2"/>
          <p:cNvSpPr/>
          <p:nvPr/>
        </p:nvSpPr>
        <p:spPr>
          <a:xfrm>
            <a:off x="658368" y="4114800"/>
            <a:ext cx="3419856" cy="1700784"/>
          </a:xfrm>
          <a:prstGeom prst="rect">
            <a:avLst/>
          </a:prstGeom>
          <a:solidFill>
            <a:srgbClr val="F2F3F4"/>
          </a:solidFill>
          <a:ln w="9525">
            <a:solidFill>
              <a:srgbClr val="DDE0E3"/>
            </a:solidFill>
            <a:prstDash val="solid"/>
          </a:ln>
        </p:spPr>
      </p:sp>
      <p:sp>
        <p:nvSpPr>
          <p:cNvPr id="6" name="Text 3"/>
          <p:cNvSpPr txBox="1"/>
          <p:nvPr/>
        </p:nvSpPr>
        <p:spPr>
          <a:xfrm>
            <a:off x="914400" y="4315968"/>
            <a:ext cx="2926080" cy="512064"/>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preselected</a:t>
            </a:r>
            <a:endParaRPr lang="en-US" sz="1300" dirty="0"/>
          </a:p>
        </p:txBody>
      </p:sp>
      <p:sp>
        <p:nvSpPr>
          <p:cNvPr id="7" name="Text 4"/>
          <p:cNvSpPr txBox="1"/>
          <p:nvPr/>
        </p:nvSpPr>
        <p:spPr>
          <a:xfrm>
            <a:off x="914400" y="4846320"/>
            <a:ext cx="2926080" cy="84124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proposal is named in the panel above, not marked on a button. All three cost the same click.</a:t>
            </a:r>
            <a:endParaRPr lang="en-US" sz="1150" dirty="0"/>
          </a:p>
        </p:txBody>
      </p:sp>
      <p:sp>
        <p:nvSpPr>
          <p:cNvPr id="8" name="Shape 5"/>
          <p:cNvSpPr/>
          <p:nvPr/>
        </p:nvSpPr>
        <p:spPr>
          <a:xfrm>
            <a:off x="4334256" y="4114800"/>
            <a:ext cx="3419856" cy="1700784"/>
          </a:xfrm>
          <a:prstGeom prst="rect">
            <a:avLst/>
          </a:prstGeom>
          <a:solidFill>
            <a:srgbClr val="F2F3F4"/>
          </a:solidFill>
          <a:ln w="9525">
            <a:solidFill>
              <a:srgbClr val="DDE0E3"/>
            </a:solidFill>
            <a:prstDash val="solid"/>
          </a:ln>
        </p:spPr>
      </p:sp>
      <p:sp>
        <p:nvSpPr>
          <p:cNvPr id="9" name="Text 6"/>
          <p:cNvSpPr txBox="1"/>
          <p:nvPr/>
        </p:nvSpPr>
        <p:spPr>
          <a:xfrm>
            <a:off x="4590288" y="4315968"/>
            <a:ext cx="2926080" cy="512064"/>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Cost tracks consequence</a:t>
            </a:r>
            <a:endParaRPr lang="en-US" sz="1300" dirty="0"/>
          </a:p>
        </p:txBody>
      </p:sp>
      <p:sp>
        <p:nvSpPr>
          <p:cNvPr id="10" name="Text 7"/>
          <p:cNvSpPr txBox="1"/>
          <p:nvPr/>
        </p:nvSpPr>
        <p:spPr>
          <a:xfrm>
            <a:off x="4590288" y="4846320"/>
            <a:ext cx="2926080" cy="84124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Recording something as not the driver's doing needs no clip. Crediting or coaching them does, because those reach a driver.</a:t>
            </a:r>
            <a:endParaRPr lang="en-US" sz="1150" dirty="0"/>
          </a:p>
        </p:txBody>
      </p:sp>
      <p:sp>
        <p:nvSpPr>
          <p:cNvPr id="11" name="Shape 8"/>
          <p:cNvSpPr/>
          <p:nvPr/>
        </p:nvSpPr>
        <p:spPr>
          <a:xfrm>
            <a:off x="8010144" y="4114800"/>
            <a:ext cx="3419856" cy="1700784"/>
          </a:xfrm>
          <a:prstGeom prst="rect">
            <a:avLst/>
          </a:prstGeom>
          <a:solidFill>
            <a:srgbClr val="FAEFE7"/>
          </a:solidFill>
          <a:ln w="9525">
            <a:solidFill>
              <a:srgbClr val="FAEFE7"/>
            </a:solidFill>
            <a:prstDash val="solid"/>
          </a:ln>
        </p:spPr>
      </p:sp>
      <p:sp>
        <p:nvSpPr>
          <p:cNvPr id="12" name="Text 9"/>
          <p:cNvSpPr txBox="1"/>
          <p:nvPr/>
        </p:nvSpPr>
        <p:spPr>
          <a:xfrm>
            <a:off x="8266176" y="4315968"/>
            <a:ext cx="2926080" cy="512064"/>
          </a:xfrm>
          <a:prstGeom prst="rect">
            <a:avLst/>
          </a:prstGeom>
          <a:noFill/>
          <a:ln/>
        </p:spPr>
        <p:txBody>
          <a:bodyPr wrap="square" lIns="0" tIns="0" rIns="0" bIns="0" rtlCol="0" anchor="t"/>
          <a:lstStyle/>
          <a:p>
            <a:pPr indent="0" marL="0">
              <a:buNone/>
            </a:pPr>
            <a:r>
              <a:rPr lang="en-US" sz="1300" b="1" dirty="0">
                <a:solidFill>
                  <a:srgbClr val="C8621E"/>
                </a:solidFill>
                <a:latin typeface="Cambria" pitchFamily="34" charset="0"/>
                <a:ea typeface="Cambria" pitchFamily="34" charset="-122"/>
                <a:cs typeface="Cambria" pitchFamily="34" charset="-120"/>
              </a:rPr>
              <a:t>“The system said so” is not an account</a:t>
            </a:r>
            <a:endParaRPr lang="en-US" sz="1300" dirty="0"/>
          </a:p>
        </p:txBody>
      </p:sp>
      <p:sp>
        <p:nvSpPr>
          <p:cNvPr id="13" name="Text 10"/>
          <p:cNvSpPr txBox="1"/>
          <p:nvPr/>
        </p:nvSpPr>
        <p:spPr>
          <a:xfrm>
            <a:off x="8266176" y="4846320"/>
            <a:ext cx="2926080" cy="84124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Neutral is the dangerous one: it removes a conversation, and nobody goes looking for conversations that never happened.</a:t>
            </a:r>
            <a:endParaRPr lang="en-US" sz="1150" dirty="0"/>
          </a:p>
        </p:txBody>
      </p:sp>
      <p:sp>
        <p:nvSpPr>
          <p:cNvPr id="14" name="Text 11"/>
          <p:cNvSpPr txBox="1"/>
          <p:nvPr/>
        </p:nvSpPr>
        <p:spPr>
          <a:xfrm>
            <a:off x="658368" y="6053328"/>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Recognition was confirmed by a human from the start. Extending that to every classification came out of building the screen — the requirement had said it and the design had only done it once.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COACHING AND RECOGNITION</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A record with two sides, and a number that admits its limits</a:t>
            </a:r>
            <a:endParaRPr lang="en-US" sz="3100" dirty="0"/>
          </a:p>
        </p:txBody>
      </p:sp>
      <p:pic>
        <p:nvPicPr>
          <p:cNvPr id="4" name="Image 0" descr="/home/claude/shots/driver.png">    </p:cNvPr>
          <p:cNvPicPr>
            <a:picLocks noChangeAspect="1"/>
          </p:cNvPicPr>
          <p:nvPr/>
        </p:nvPicPr>
        <p:blipFill>
          <a:blip r:embed="rId1"/>
          <a:stretch>
            <a:fillRect/>
          </a:stretch>
        </p:blipFill>
        <p:spPr>
          <a:xfrm>
            <a:off x="658368" y="1700784"/>
            <a:ext cx="6492240" cy="2980944"/>
          </a:xfrm>
          <a:prstGeom prst="rect">
            <a:avLst/>
          </a:prstGeom>
        </p:spPr>
      </p:pic>
      <p:sp>
        <p:nvSpPr>
          <p:cNvPr id="5" name="Text 2"/>
          <p:cNvSpPr txBox="1"/>
          <p:nvPr/>
        </p:nvSpPr>
        <p:spPr>
          <a:xfrm>
            <a:off x="7461504" y="1682496"/>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Two questions, not one box</a:t>
            </a:r>
            <a:endParaRPr lang="en-US" sz="1350" dirty="0"/>
          </a:p>
        </p:txBody>
      </p:sp>
      <p:sp>
        <p:nvSpPr>
          <p:cNvPr id="6" name="Text 3"/>
          <p:cNvSpPr txBox="1"/>
          <p:nvPr/>
        </p:nvSpPr>
        <p:spPr>
          <a:xfrm>
            <a:off x="7461504" y="2011680"/>
            <a:ext cx="4078224" cy="91440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What you talked about, and what you agreed. One box accepts “spoke to driver” — the prototype proved it, so the requirement changed.</a:t>
            </a:r>
            <a:endParaRPr lang="en-US" sz="1200" dirty="0"/>
          </a:p>
        </p:txBody>
      </p:sp>
      <p:sp>
        <p:nvSpPr>
          <p:cNvPr id="7" name="Text 4"/>
          <p:cNvSpPr txBox="1"/>
          <p:nvPr/>
        </p:nvSpPr>
        <p:spPr>
          <a:xfrm>
            <a:off x="7461504" y="2999232"/>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driver's own words</a:t>
            </a:r>
            <a:endParaRPr lang="en-US" sz="1350" dirty="0"/>
          </a:p>
        </p:txBody>
      </p:sp>
      <p:sp>
        <p:nvSpPr>
          <p:cNvPr id="8" name="Text 5"/>
          <p:cNvSpPr txBox="1"/>
          <p:nvPr/>
        </p:nvSpPr>
        <p:spPr>
          <a:xfrm>
            <a:off x="7461504" y="3328416"/>
            <a:ext cx="4078224" cy="91440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Optional, and recorded verbatim. A dispute is marked and kept beside the event rather than filed somewhere else.</a:t>
            </a:r>
            <a:endParaRPr lang="en-US" sz="1200" dirty="0"/>
          </a:p>
        </p:txBody>
      </p:sp>
      <p:sp>
        <p:nvSpPr>
          <p:cNvPr id="9" name="Text 6"/>
          <p:cNvSpPr txBox="1"/>
          <p:nvPr/>
        </p:nvSpPr>
        <p:spPr>
          <a:xfrm>
            <a:off x="7461504" y="4315968"/>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“Too early to say”</a:t>
            </a:r>
            <a:endParaRPr lang="en-US" sz="1350" dirty="0"/>
          </a:p>
        </p:txBody>
      </p:sp>
      <p:sp>
        <p:nvSpPr>
          <p:cNvPr id="10" name="Text 7"/>
          <p:cNvSpPr txBox="1"/>
          <p:nvPr/>
        </p:nvSpPr>
        <p:spPr>
          <a:xfrm>
            <a:off x="7461504" y="4645152"/>
            <a:ext cx="4078224" cy="91440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Shown for four weeks after a conversation. No figure at all, because one driver over four weeks cannot separate coaching from a quiet month.</a:t>
            </a:r>
            <a:endParaRPr lang="en-US" sz="1200" dirty="0"/>
          </a:p>
        </p:txBody>
      </p:sp>
      <p:sp>
        <p:nvSpPr>
          <p:cNvPr id="11" name="Text 8"/>
          <p:cNvSpPr txBox="1"/>
          <p:nvPr/>
        </p:nvSpPr>
        <p:spPr>
          <a:xfrm>
            <a:off x="658368" y="5394960"/>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Coaching is unavailable until the clip has been played. An unfair conversation costs more trust than ten missed events.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ONE REQUIREMENT, IN FULL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What “implementation-ready” means here</a:t>
            </a:r>
            <a:endParaRPr lang="en-US" sz="3100" dirty="0"/>
          </a:p>
        </p:txBody>
      </p:sp>
      <p:sp>
        <p:nvSpPr>
          <p:cNvPr id="4" name="Text 2"/>
          <p:cNvSpPr txBox="1"/>
          <p:nvPr/>
        </p:nvSpPr>
        <p:spPr>
          <a:xfrm>
            <a:off x="658368" y="1645920"/>
            <a:ext cx="10844784"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US-010 — Record a coaching conversation from the clip</a:t>
            </a:r>
            <a:endParaRPr lang="en-US" sz="1500" dirty="0"/>
          </a:p>
        </p:txBody>
      </p:sp>
      <p:sp>
        <p:nvSpPr>
          <p:cNvPr id="5" name="Text 3"/>
          <p:cNvSpPr txBox="1"/>
          <p:nvPr/>
        </p:nvSpPr>
        <p:spPr>
          <a:xfrm>
            <a:off x="658368" y="2011680"/>
            <a:ext cx="10844784" cy="402336"/>
          </a:xfrm>
          <a:prstGeom prst="rect">
            <a:avLst/>
          </a:prstGeom>
          <a:noFill/>
          <a:ln/>
        </p:spPr>
        <p:txBody>
          <a:bodyPr wrap="square" lIns="0" tIns="0" rIns="0" bIns="0" rtlCol="0" anchor="t"/>
          <a:lstStyle/>
          <a:p>
            <a:pPr indent="0" marL="0">
              <a:buNone/>
            </a:pPr>
            <a:r>
              <a:rPr lang="en-US" sz="1300" i="1" dirty="0">
                <a:solidFill>
                  <a:srgbClr val="5E666F"/>
                </a:solidFill>
                <a:latin typeface="Calibri" pitchFamily="34" charset="0"/>
                <a:ea typeface="Calibri" pitchFamily="34" charset="-122"/>
                <a:cs typeface="Calibri" pitchFamily="34" charset="-120"/>
              </a:rPr>
              <a:t>As a fleet manager I want to log the conversation in one step while I am looking at the footage, so that recording it costs less than not recording it.</a:t>
            </a:r>
            <a:endParaRPr lang="en-US" sz="1300" dirty="0"/>
          </a:p>
        </p:txBody>
      </p:sp>
      <p:sp>
        <p:nvSpPr>
          <p:cNvPr id="6" name="Shape 4"/>
          <p:cNvSpPr/>
          <p:nvPr/>
        </p:nvSpPr>
        <p:spPr>
          <a:xfrm>
            <a:off x="658368" y="2615184"/>
            <a:ext cx="10844784" cy="2615184"/>
          </a:xfrm>
          <a:prstGeom prst="rect">
            <a:avLst/>
          </a:prstGeom>
          <a:solidFill>
            <a:srgbClr val="F2F3F4"/>
          </a:solidFill>
          <a:ln w="9525">
            <a:solidFill>
              <a:srgbClr val="DDE0E3"/>
            </a:solidFill>
            <a:prstDash val="solid"/>
          </a:ln>
        </p:spPr>
      </p:sp>
      <p:sp>
        <p:nvSpPr>
          <p:cNvPr id="7" name="Text 5"/>
          <p:cNvSpPr txBox="1"/>
          <p:nvPr/>
        </p:nvSpPr>
        <p:spPr>
          <a:xfrm>
            <a:off x="969264" y="2834640"/>
            <a:ext cx="10222992" cy="219456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has not played the clip, when they attempt to log a conversation, then the action is unavailable and reads “Watch the clip before recording a conversation”.</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logs a conversation, then three fields are required: the behaviour, what you talked about, and what you agreed.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any of the three is empty, when they attempt to save, then the action is unavailable. “Spoke to driver” is explicitly not an acceptable record — it is the tick-box this requirement exists to prevent.</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saved, then it contains the clip reference, what was discussed and agreed, and the driver's response — enough for a third party to see what happened rather than that something happened.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created, then it attaches to the driver, the event and the footage, and is retrievable as one artefact the manager could show the driver.</a:t>
            </a:r>
            <a:endParaRPr lang="en-US" sz="1200" dirty="0"/>
          </a:p>
        </p:txBody>
      </p:sp>
      <p:sp>
        <p:nvSpPr>
          <p:cNvPr id="8" name="Text 6"/>
          <p:cNvSpPr txBox="1"/>
          <p:nvPr/>
        </p:nvSpPr>
        <p:spPr>
          <a:xfrm>
            <a:off x="658368" y="5413248"/>
            <a:ext cx="10844784" cy="73152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Splitting one free-text box into two is a change the prototype forced.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Sincerity is not something a field can validate — but a phrase that describes neither what was said nor what was agreed cannot fill both boxes. Fifteen stories are written to this standard; the copy quoted inside an acceptance criterion is the copy that ships.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PRIORITISATION AND PHASING</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The unit of value is the loop, so v1 is a thin whole one</a:t>
            </a:r>
            <a:endParaRPr lang="en-US" sz="3100" dirty="0"/>
          </a:p>
        </p:txBody>
      </p:sp>
      <p:sp>
        <p:nvSpPr>
          <p:cNvPr id="4" name="Shape 2"/>
          <p:cNvSpPr/>
          <p:nvPr/>
        </p:nvSpPr>
        <p:spPr>
          <a:xfrm>
            <a:off x="658368" y="1737360"/>
            <a:ext cx="3419856" cy="2286000"/>
          </a:xfrm>
          <a:prstGeom prst="rect">
            <a:avLst/>
          </a:prstGeom>
          <a:solidFill>
            <a:srgbClr val="F2F3F4"/>
          </a:solidFill>
          <a:ln w="9525">
            <a:solidFill>
              <a:srgbClr val="DDE0E3"/>
            </a:solidFill>
            <a:prstDash val="solid"/>
          </a:ln>
        </p:spPr>
      </p:sp>
      <p:sp>
        <p:nvSpPr>
          <p:cNvPr id="5" name="Text 3"/>
          <p:cNvSpPr txBox="1"/>
          <p:nvPr/>
        </p:nvSpPr>
        <p:spPr>
          <a:xfrm>
            <a:off x="914400"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ships first</a:t>
            </a:r>
            <a:endParaRPr lang="en-US" sz="1400" dirty="0"/>
          </a:p>
        </p:txBody>
      </p:sp>
      <p:sp>
        <p:nvSpPr>
          <p:cNvPr id="6" name="Text 4"/>
          <p:cNvSpPr txBox="1"/>
          <p:nvPr/>
        </p:nvSpPr>
        <p:spPr>
          <a:xfrm>
            <a:off x="914400"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14 of 15 stories. A manager with a queue and no way to act on it has a better dashboard; a manager with a coaching form and no triage has the firehose with extra steps. Neither half is worth shipping alone.</a:t>
            </a:r>
            <a:endParaRPr lang="en-US" sz="1150" dirty="0"/>
          </a:p>
        </p:txBody>
      </p:sp>
      <p:sp>
        <p:nvSpPr>
          <p:cNvPr id="7" name="Shape 5"/>
          <p:cNvSpPr/>
          <p:nvPr/>
        </p:nvSpPr>
        <p:spPr>
          <a:xfrm>
            <a:off x="4334256" y="1737360"/>
            <a:ext cx="3419856" cy="2286000"/>
          </a:xfrm>
          <a:prstGeom prst="rect">
            <a:avLst/>
          </a:prstGeom>
          <a:solidFill>
            <a:srgbClr val="F2F3F4"/>
          </a:solidFill>
          <a:ln w="9525">
            <a:solidFill>
              <a:srgbClr val="DDE0E3"/>
            </a:solidFill>
            <a:prstDash val="solid"/>
          </a:ln>
        </p:spPr>
      </p:sp>
      <p:sp>
        <p:nvSpPr>
          <p:cNvPr id="8" name="Text 6"/>
          <p:cNvSpPr txBox="1"/>
          <p:nvPr/>
        </p:nvSpPr>
        <p:spPr>
          <a:xfrm>
            <a:off x="4590288"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waits, and why</a:t>
            </a:r>
            <a:endParaRPr lang="en-US" sz="1400" dirty="0"/>
          </a:p>
        </p:txBody>
      </p:sp>
      <p:sp>
        <p:nvSpPr>
          <p:cNvPr id="9" name="Text 7"/>
          <p:cNvSpPr txBox="1"/>
          <p:nvPr/>
        </p:nvSpPr>
        <p:spPr>
          <a:xfrm>
            <a:off x="4590288"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the fleet roll-up. A trend drawn over four weeks of a low base rate can only mislead, and one misleading number makes every other number on the page suspect.</a:t>
            </a:r>
            <a:endParaRPr lang="en-US" sz="1150" dirty="0"/>
          </a:p>
        </p:txBody>
      </p:sp>
      <p:sp>
        <p:nvSpPr>
          <p:cNvPr id="10" name="Shape 8"/>
          <p:cNvSpPr/>
          <p:nvPr/>
        </p:nvSpPr>
        <p:spPr>
          <a:xfrm>
            <a:off x="8010144" y="1737360"/>
            <a:ext cx="3419856" cy="2286000"/>
          </a:xfrm>
          <a:prstGeom prst="rect">
            <a:avLst/>
          </a:prstGeom>
          <a:solidFill>
            <a:srgbClr val="F2F3F4"/>
          </a:solidFill>
          <a:ln w="9525">
            <a:solidFill>
              <a:srgbClr val="DDE0E3"/>
            </a:solidFill>
            <a:prstDash val="solid"/>
          </a:ln>
        </p:spPr>
      </p:sp>
      <p:sp>
        <p:nvSpPr>
          <p:cNvPr id="11" name="Text 9"/>
          <p:cNvSpPr txBox="1"/>
          <p:nvPr/>
        </p:nvSpPr>
        <p:spPr>
          <a:xfrm>
            <a:off x="8266176"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capacity buys</a:t>
            </a:r>
            <a:endParaRPr lang="en-US" sz="1400" dirty="0"/>
          </a:p>
        </p:txBody>
      </p:sp>
      <p:sp>
        <p:nvSpPr>
          <p:cNvPr id="12" name="Text 10"/>
          <p:cNvSpPr txBox="1"/>
          <p:nvPr/>
        </p:nvSpPr>
        <p:spPr>
          <a:xfrm>
            <a:off x="8266176"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Three tracks run concurrently, so people convert into calendar time up to about three teams. What they do not buy is firmware lead time — months, the critical path, and not ours to schedule.</a:t>
            </a:r>
            <a:endParaRPr lang="en-US" sz="1150" dirty="0"/>
          </a:p>
        </p:txBody>
      </p:sp>
      <p:sp>
        <p:nvSpPr>
          <p:cNvPr id="13" name="Shape 11"/>
          <p:cNvSpPr/>
          <p:nvPr/>
        </p:nvSpPr>
        <p:spPr>
          <a:xfrm>
            <a:off x="658368" y="4352544"/>
            <a:ext cx="10844784" cy="1481328"/>
          </a:xfrm>
          <a:prstGeom prst="rect">
            <a:avLst/>
          </a:prstGeom>
          <a:solidFill>
            <a:srgbClr val="FAEFE7"/>
          </a:solidFill>
          <a:ln w="9525">
            <a:solidFill>
              <a:srgbClr val="FAEFE7"/>
            </a:solidFill>
            <a:prstDash val="solid"/>
          </a:ln>
        </p:spPr>
      </p:sp>
      <p:sp>
        <p:nvSpPr>
          <p:cNvPr id="14" name="Text 12"/>
          <p:cNvSpPr txBox="1"/>
          <p:nvPr/>
        </p:nvSpPr>
        <p:spPr>
          <a:xfrm>
            <a:off x="969264" y="4535424"/>
            <a:ext cx="731520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useful consequence of the dependency chain</a:t>
            </a:r>
            <a:endParaRPr lang="en-US" sz="1350" dirty="0"/>
          </a:p>
        </p:txBody>
      </p:sp>
      <p:sp>
        <p:nvSpPr>
          <p:cNvPr id="15" name="Text 13"/>
          <p:cNvSpPr txBox="1"/>
          <p:nvPr/>
        </p:nvSpPr>
        <p:spPr>
          <a:xfrm>
            <a:off x="969264" y="4864608"/>
            <a:ext cx="10222992" cy="82296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portal does not wait for the edge. It can be built against a stubbed event source from day one, which makes the phases concurrent rather than serial — and it is the only track that produces something to put in front of a fleet manager early enough to change what gets built. I would start there despite it being last in the data flow.</a:t>
            </a:r>
            <a:endParaRPr lang="en-US" sz="1250" dirty="0"/>
          </a:p>
        </p:txBody>
      </p:sp>
      <p:sp>
        <p:nvSpPr>
          <p:cNvPr id="16" name="Text 14"/>
          <p:cNvSpPr txBox="1"/>
          <p:nvPr/>
        </p:nvSpPr>
        <p:spPr>
          <a:xfrm>
            <a:off x="658368" y="5998464"/>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Phase boundaries are conditions, not dates. A boundary that is a date is a guess wearing a calendar.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MEASURING SUCCESS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How fast can you know anything?</a:t>
            </a:r>
            <a:endParaRPr lang="en-US" sz="3100" dirty="0"/>
          </a:p>
        </p:txBody>
      </p:sp>
      <p:sp>
        <p:nvSpPr>
          <p:cNvPr id="4" name="Text 2"/>
          <p:cNvSpPr txBox="1"/>
          <p:nvPr/>
        </p:nvSpPr>
        <p:spPr>
          <a:xfrm>
            <a:off x="658368" y="164592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The brief names two readers. The operator owns the outcome and signs the renewal; the manager does the work. They ask different questions on different clocks.</a:t>
            </a:r>
            <a:endParaRPr lang="en-US" sz="1300" dirty="0"/>
          </a:p>
        </p:txBody>
      </p:sp>
      <p:sp>
        <p:nvSpPr>
          <p:cNvPr id="5" name="Shape 3"/>
          <p:cNvSpPr/>
          <p:nvPr/>
        </p:nvSpPr>
        <p:spPr>
          <a:xfrm>
            <a:off x="658368" y="2103120"/>
            <a:ext cx="10844784" cy="713232"/>
          </a:xfrm>
          <a:prstGeom prst="rect">
            <a:avLst/>
          </a:prstGeom>
          <a:solidFill>
            <a:srgbClr val="F2F3F4"/>
          </a:solidFill>
          <a:ln w="12700">
            <a:solidFill>
              <a:srgbClr val="F2F3F4"/>
            </a:solidFill>
            <a:prstDash val="solid"/>
          </a:ln>
        </p:spPr>
      </p:sp>
      <p:sp>
        <p:nvSpPr>
          <p:cNvPr id="6" name="Text 4"/>
          <p:cNvSpPr txBox="1"/>
          <p:nvPr/>
        </p:nvSpPr>
        <p:spPr>
          <a:xfrm>
            <a:off x="877824" y="2286000"/>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1</a:t>
            </a:r>
            <a:endParaRPr lang="en-US" sz="1250" dirty="0"/>
          </a:p>
        </p:txBody>
      </p:sp>
      <p:sp>
        <p:nvSpPr>
          <p:cNvPr id="7" name="Text 5"/>
          <p:cNvSpPr txBox="1"/>
          <p:nvPr/>
        </p:nvSpPr>
        <p:spPr>
          <a:xfrm>
            <a:off x="2340864" y="2286000"/>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Are they opening it, and do they trust what is in it</a:t>
            </a:r>
            <a:endParaRPr lang="en-US" sz="1200" dirty="0"/>
          </a:p>
        </p:txBody>
      </p:sp>
      <p:sp>
        <p:nvSpPr>
          <p:cNvPr id="8" name="Text 6"/>
          <p:cNvSpPr txBox="1"/>
          <p:nvPr/>
        </p:nvSpPr>
        <p:spPr>
          <a:xfrm>
            <a:off x="7516368" y="2286000"/>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 says the machine runs, nothing about safety</a:t>
            </a:r>
            <a:endParaRPr lang="en-US" sz="1150" dirty="0"/>
          </a:p>
        </p:txBody>
      </p:sp>
      <p:sp>
        <p:nvSpPr>
          <p:cNvPr id="9" name="Text 7"/>
          <p:cNvSpPr txBox="1"/>
          <p:nvPr/>
        </p:nvSpPr>
        <p:spPr>
          <a:xfrm>
            <a:off x="877824" y="3035808"/>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C8621E"/>
                </a:solidFill>
                <a:latin typeface="Calibri" pitchFamily="34" charset="0"/>
                <a:ea typeface="Calibri" pitchFamily="34" charset="-122"/>
                <a:cs typeface="Calibri" pitchFamily="34" charset="-120"/>
              </a:rPr>
              <a:t>Week 4</a:t>
            </a:r>
            <a:endParaRPr lang="en-US" sz="1250" dirty="0"/>
          </a:p>
        </p:txBody>
      </p:sp>
      <p:sp>
        <p:nvSpPr>
          <p:cNvPr id="10" name="Text 8"/>
          <p:cNvSpPr txBox="1"/>
          <p:nvPr/>
        </p:nvSpPr>
        <p:spPr>
          <a:xfrm>
            <a:off x="2340864" y="3035808"/>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Risky events per 1,000 miles. Coaching coverage of the drivers generating the risk</a:t>
            </a:r>
            <a:endParaRPr lang="en-US" sz="1200" dirty="0"/>
          </a:p>
        </p:txBody>
      </p:sp>
      <p:sp>
        <p:nvSpPr>
          <p:cNvPr id="11" name="Text 9"/>
          <p:cNvSpPr txBox="1"/>
          <p:nvPr/>
        </p:nvSpPr>
        <p:spPr>
          <a:xfrm>
            <a:off x="7516368" y="3035808"/>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 the first honest answer to “is it working”</a:t>
            </a:r>
            <a:endParaRPr lang="en-US" sz="1150" dirty="0"/>
          </a:p>
        </p:txBody>
      </p:sp>
      <p:sp>
        <p:nvSpPr>
          <p:cNvPr id="12" name="Shape 10"/>
          <p:cNvSpPr/>
          <p:nvPr/>
        </p:nvSpPr>
        <p:spPr>
          <a:xfrm>
            <a:off x="658368" y="3602736"/>
            <a:ext cx="10844784" cy="713232"/>
          </a:xfrm>
          <a:prstGeom prst="rect">
            <a:avLst/>
          </a:prstGeom>
          <a:solidFill>
            <a:srgbClr val="F2F3F4"/>
          </a:solidFill>
          <a:ln w="12700">
            <a:solidFill>
              <a:srgbClr val="F2F3F4"/>
            </a:solidFill>
            <a:prstDash val="solid"/>
          </a:ln>
        </p:spPr>
      </p:sp>
      <p:sp>
        <p:nvSpPr>
          <p:cNvPr id="13" name="Text 11"/>
          <p:cNvSpPr txBox="1"/>
          <p:nvPr/>
        </p:nvSpPr>
        <p:spPr>
          <a:xfrm>
            <a:off x="877824" y="3785616"/>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8–12</a:t>
            </a:r>
            <a:endParaRPr lang="en-US" sz="1250" dirty="0"/>
          </a:p>
        </p:txBody>
      </p:sp>
      <p:sp>
        <p:nvSpPr>
          <p:cNvPr id="14" name="Text 12"/>
          <p:cNvSpPr txBox="1"/>
          <p:nvPr/>
        </p:nvSpPr>
        <p:spPr>
          <a:xfrm>
            <a:off x="2340864" y="3785616"/>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Coached-driver repeat rate. Share of drivers in the high-risk band</a:t>
            </a:r>
            <a:endParaRPr lang="en-US" sz="1200" dirty="0"/>
          </a:p>
        </p:txBody>
      </p:sp>
      <p:sp>
        <p:nvSpPr>
          <p:cNvPr id="15" name="Text 13"/>
          <p:cNvSpPr txBox="1"/>
          <p:nvPr/>
        </p:nvSpPr>
        <p:spPr>
          <a:xfrm>
            <a:off x="7516368" y="3785616"/>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 attributable to coaching, and slower for it</a:t>
            </a:r>
            <a:endParaRPr lang="en-US" sz="1150" dirty="0"/>
          </a:p>
        </p:txBody>
      </p:sp>
      <p:sp>
        <p:nvSpPr>
          <p:cNvPr id="16" name="Text 14"/>
          <p:cNvSpPr txBox="1"/>
          <p:nvPr/>
        </p:nvSpPr>
        <p:spPr>
          <a:xfrm>
            <a:off x="877824" y="4535424"/>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6–12 months</a:t>
            </a:r>
            <a:endParaRPr lang="en-US" sz="1250" dirty="0"/>
          </a:p>
        </p:txBody>
      </p:sp>
      <p:sp>
        <p:nvSpPr>
          <p:cNvPr id="17" name="Text 15"/>
          <p:cNvSpPr txBox="1"/>
          <p:nvPr/>
        </p:nvSpPr>
        <p:spPr>
          <a:xfrm>
            <a:off x="2340864" y="4535424"/>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At-fault collisions, and claim cost</a:t>
            </a:r>
            <a:endParaRPr lang="en-US" sz="1200" dirty="0"/>
          </a:p>
        </p:txBody>
      </p:sp>
      <p:sp>
        <p:nvSpPr>
          <p:cNvPr id="18" name="Text 16"/>
          <p:cNvSpPr txBox="1"/>
          <p:nvPr/>
        </p:nvSpPr>
        <p:spPr>
          <a:xfrm>
            <a:off x="7516368" y="4535424"/>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 what they are actually buying</a:t>
            </a:r>
            <a:endParaRPr lang="en-US" sz="1150" dirty="0"/>
          </a:p>
        </p:txBody>
      </p:sp>
      <p:sp>
        <p:nvSpPr>
          <p:cNvPr id="19" name="Shape 17"/>
          <p:cNvSpPr/>
          <p:nvPr/>
        </p:nvSpPr>
        <p:spPr>
          <a:xfrm>
            <a:off x="658368" y="5102352"/>
            <a:ext cx="10844784" cy="713232"/>
          </a:xfrm>
          <a:prstGeom prst="rect">
            <a:avLst/>
          </a:prstGeom>
          <a:solidFill>
            <a:srgbClr val="F2F3F4"/>
          </a:solidFill>
          <a:ln w="12700">
            <a:solidFill>
              <a:srgbClr val="F2F3F4"/>
            </a:solidFill>
            <a:prstDash val="solid"/>
          </a:ln>
        </p:spPr>
      </p:sp>
      <p:sp>
        <p:nvSpPr>
          <p:cNvPr id="20" name="Text 18"/>
          <p:cNvSpPr txBox="1"/>
          <p:nvPr/>
        </p:nvSpPr>
        <p:spPr>
          <a:xfrm>
            <a:off x="877824" y="5285232"/>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Continuous</a:t>
            </a:r>
            <a:endParaRPr lang="en-US" sz="1250" dirty="0"/>
          </a:p>
        </p:txBody>
      </p:sp>
      <p:sp>
        <p:nvSpPr>
          <p:cNvPr id="21" name="Text 19"/>
          <p:cNvSpPr txBox="1"/>
          <p:nvPr/>
        </p:nvSpPr>
        <p:spPr>
          <a:xfrm>
            <a:off x="2340864" y="5285232"/>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Of at-fault collisions, how many had a warning in front of them</a:t>
            </a:r>
            <a:endParaRPr lang="en-US" sz="1200" dirty="0"/>
          </a:p>
        </p:txBody>
      </p:sp>
      <p:sp>
        <p:nvSpPr>
          <p:cNvPr id="22" name="Text 20"/>
          <p:cNvSpPr txBox="1"/>
          <p:nvPr/>
        </p:nvSpPr>
        <p:spPr>
          <a:xfrm>
            <a:off x="7516368" y="5285232"/>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 whether the queue points at the right population at all</a:t>
            </a:r>
            <a:endParaRPr lang="en-US" sz="1150" dirty="0"/>
          </a:p>
        </p:txBody>
      </p:sp>
      <p:sp>
        <p:nvSpPr>
          <p:cNvPr id="23" name="Text 21"/>
          <p:cNvSpPr txBox="1"/>
          <p:nvPr/>
        </p:nvSpPr>
        <p:spPr>
          <a:xfrm>
            <a:off x="658368" y="6053328"/>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The middle of that ladder is the part worth defending: collisions cannot be read inside a quarter at one fleet, and the repeat rate needs attribution and a control cohort we may not be able to build ethically. The events themselves need neither.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RISKS AND ASSUMPTIONS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Two gates, and three risks this design created</a:t>
            </a:r>
            <a:endParaRPr lang="en-US" sz="3100" dirty="0"/>
          </a:p>
        </p:txBody>
      </p:sp>
      <p:sp>
        <p:nvSpPr>
          <p:cNvPr id="4" name="Text 2"/>
          <p:cNvSpPr txBox="1"/>
          <p:nvPr/>
        </p:nvSpPr>
        <p:spPr>
          <a:xfrm>
            <a:off x="658368"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The gates — these end it rather than cost it money</a:t>
            </a:r>
            <a:endParaRPr lang="en-US" sz="1400" dirty="0"/>
          </a:p>
        </p:txBody>
      </p:sp>
      <p:sp>
        <p:nvSpPr>
          <p:cNvPr id="5" name="Shape 3"/>
          <p:cNvSpPr/>
          <p:nvPr/>
        </p:nvSpPr>
        <p:spPr>
          <a:xfrm>
            <a:off x="658368" y="2103120"/>
            <a:ext cx="5120640" cy="1060704"/>
          </a:xfrm>
          <a:prstGeom prst="rect">
            <a:avLst/>
          </a:prstGeom>
          <a:solidFill>
            <a:srgbClr val="F2F3F4"/>
          </a:solidFill>
          <a:ln w="9525">
            <a:solidFill>
              <a:srgbClr val="DDE0E3"/>
            </a:solidFill>
            <a:prstDash val="solid"/>
          </a:ln>
        </p:spPr>
      </p:sp>
      <p:sp>
        <p:nvSpPr>
          <p:cNvPr id="6" name="Text 4"/>
          <p:cNvSpPr txBox="1"/>
          <p:nvPr/>
        </p:nvSpPr>
        <p:spPr>
          <a:xfrm>
            <a:off x="896112" y="2249424"/>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A-02  Event volume</a:t>
            </a:r>
            <a:endParaRPr lang="en-US" sz="1250" dirty="0"/>
          </a:p>
        </p:txBody>
      </p:sp>
      <p:sp>
        <p:nvSpPr>
          <p:cNvPr id="7" name="Text 5"/>
          <p:cNvSpPr txBox="1"/>
          <p:nvPr/>
        </p:nvSpPr>
        <p:spPr>
          <a:xfrm>
            <a:off x="896112" y="2523744"/>
            <a:ext cx="4663440" cy="56692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product. If volume is an order of magnitude lower, attention is not the scarce resource and this is a detection-breadth product. Thirty days of telemetry settles it.</a:t>
            </a:r>
            <a:endParaRPr lang="en-US" sz="1100" dirty="0"/>
          </a:p>
        </p:txBody>
      </p:sp>
      <p:sp>
        <p:nvSpPr>
          <p:cNvPr id="8" name="Shape 6"/>
          <p:cNvSpPr/>
          <p:nvPr/>
        </p:nvSpPr>
        <p:spPr>
          <a:xfrm>
            <a:off x="658368" y="3364992"/>
            <a:ext cx="5120640" cy="1060704"/>
          </a:xfrm>
          <a:prstGeom prst="rect">
            <a:avLst/>
          </a:prstGeom>
          <a:solidFill>
            <a:srgbClr val="F2F3F4"/>
          </a:solidFill>
          <a:ln w="9525">
            <a:solidFill>
              <a:srgbClr val="DDE0E3"/>
            </a:solidFill>
            <a:prstDash val="solid"/>
          </a:ln>
        </p:spPr>
      </p:sp>
      <p:sp>
        <p:nvSpPr>
          <p:cNvPr id="9" name="Text 7"/>
          <p:cNvSpPr txBox="1"/>
          <p:nvPr/>
        </p:nvSpPr>
        <p:spPr>
          <a:xfrm>
            <a:off x="896112" y="3511296"/>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A-13  No triage today</a:t>
            </a:r>
            <a:endParaRPr lang="en-US" sz="1250" dirty="0"/>
          </a:p>
        </p:txBody>
      </p:sp>
      <p:sp>
        <p:nvSpPr>
          <p:cNvPr id="10" name="Text 8"/>
          <p:cNvSpPr txBox="1"/>
          <p:nvPr/>
        </p:nvSpPr>
        <p:spPr>
          <a:xfrm>
            <a:off x="896112" y="3785616"/>
            <a:ext cx="4663440" cy="56692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story, not the requirements. If they already rank and never marketed it, a queue is still a queue — but the framing collapses in front of the person who built the thing. One question answers it.</a:t>
            </a:r>
            <a:endParaRPr lang="en-US" sz="1100" dirty="0"/>
          </a:p>
        </p:txBody>
      </p:sp>
      <p:sp>
        <p:nvSpPr>
          <p:cNvPr id="11" name="Text 9"/>
          <p:cNvSpPr txBox="1"/>
          <p:nvPr/>
        </p:nvSpPr>
        <p:spPr>
          <a:xfrm>
            <a:off x="658368" y="5943600"/>
            <a:ext cx="5120640" cy="566928"/>
          </a:xfrm>
          <a:prstGeom prst="rect">
            <a:avLst/>
          </a:prstGeom>
          <a:noFill/>
          <a:ln/>
        </p:spPr>
        <p:txBody>
          <a:bodyPr wrap="square" lIns="0" tIns="0" rIns="0" bIns="0" rtlCol="0" anchor="t"/>
          <a:lstStyle/>
          <a:p>
            <a:pPr indent="0" marL="0">
              <a:lnSpc>
                <a:spcPts val="1500"/>
              </a:lnSpc>
              <a:buNone/>
            </a:pPr>
            <a:r>
              <a:rPr lang="en-US" sz="1150" i="1" dirty="0">
                <a:solidFill>
                  <a:srgbClr val="5E666F"/>
                </a:solidFill>
                <a:latin typeface="Calibri" pitchFamily="34" charset="0"/>
                <a:ea typeface="Calibri" pitchFamily="34" charset="-122"/>
                <a:cs typeface="Calibri" pitchFamily="34" charset="-120"/>
              </a:rPr>
              <a:t>I would rather be wrong about the second. Being wrong about it costs a conversation; being wrong about the first costs the premise.</a:t>
            </a:r>
            <a:endParaRPr lang="en-US" sz="1150" dirty="0"/>
          </a:p>
        </p:txBody>
      </p:sp>
      <p:sp>
        <p:nvSpPr>
          <p:cNvPr id="12" name="Text 10"/>
          <p:cNvSpPr txBox="1"/>
          <p:nvPr/>
        </p:nvSpPr>
        <p:spPr>
          <a:xfrm>
            <a:off x="6400800"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Risks this design created</a:t>
            </a:r>
            <a:endParaRPr lang="en-US" sz="1400" dirty="0"/>
          </a:p>
        </p:txBody>
      </p:sp>
      <p:sp>
        <p:nvSpPr>
          <p:cNvPr id="13" name="Shape 11"/>
          <p:cNvSpPr/>
          <p:nvPr/>
        </p:nvSpPr>
        <p:spPr>
          <a:xfrm>
            <a:off x="6400800" y="2103120"/>
            <a:ext cx="5102352" cy="1060704"/>
          </a:xfrm>
          <a:prstGeom prst="rect">
            <a:avLst/>
          </a:prstGeom>
          <a:solidFill>
            <a:srgbClr val="F2F3F4"/>
          </a:solidFill>
          <a:ln w="9525">
            <a:solidFill>
              <a:srgbClr val="DDE0E3"/>
            </a:solidFill>
            <a:prstDash val="solid"/>
          </a:ln>
        </p:spPr>
      </p:sp>
      <p:sp>
        <p:nvSpPr>
          <p:cNvPr id="14" name="Text 12"/>
          <p:cNvSpPr txBox="1"/>
          <p:nvPr/>
        </p:nvSpPr>
        <p:spPr>
          <a:xfrm>
            <a:off x="6638544" y="2249424"/>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Mis-grading</a:t>
            </a:r>
            <a:endParaRPr lang="en-US" sz="1250" dirty="0"/>
          </a:p>
        </p:txBody>
      </p:sp>
      <p:sp>
        <p:nvSpPr>
          <p:cNvPr id="15" name="Text 13"/>
          <p:cNvSpPr txBox="1"/>
          <p:nvPr/>
        </p:nvSpPr>
        <p:spPr>
          <a:xfrm>
            <a:off x="6638544" y="2523744"/>
            <a:ext cx="4645152" cy="56692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Grading instead of suppressing moved the critical failure rather than removing it: an event that deserved a conversation, sent as a notification.</a:t>
            </a:r>
            <a:endParaRPr lang="en-US" sz="1100" dirty="0"/>
          </a:p>
        </p:txBody>
      </p:sp>
      <p:sp>
        <p:nvSpPr>
          <p:cNvPr id="16" name="Shape 14"/>
          <p:cNvSpPr/>
          <p:nvPr/>
        </p:nvSpPr>
        <p:spPr>
          <a:xfrm>
            <a:off x="6400800" y="3364992"/>
            <a:ext cx="5102352" cy="1060704"/>
          </a:xfrm>
          <a:prstGeom prst="rect">
            <a:avLst/>
          </a:prstGeom>
          <a:solidFill>
            <a:srgbClr val="F2F3F4"/>
          </a:solidFill>
          <a:ln w="9525">
            <a:solidFill>
              <a:srgbClr val="DDE0E3"/>
            </a:solidFill>
            <a:prstDash val="solid"/>
          </a:ln>
        </p:spPr>
      </p:sp>
      <p:sp>
        <p:nvSpPr>
          <p:cNvPr id="17" name="Text 15"/>
          <p:cNvSpPr txBox="1"/>
          <p:nvPr/>
        </p:nvSpPr>
        <p:spPr>
          <a:xfrm>
            <a:off x="6638544" y="3511296"/>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Unearned praise</a:t>
            </a:r>
            <a:endParaRPr lang="en-US" sz="1250" dirty="0"/>
          </a:p>
        </p:txBody>
      </p:sp>
      <p:sp>
        <p:nvSpPr>
          <p:cNvPr id="18" name="Text 16"/>
          <p:cNvSpPr txBox="1"/>
          <p:nvPr/>
        </p:nvSpPr>
        <p:spPr>
          <a:xfrm>
            <a:off x="6638544" y="3785616"/>
            <a:ext cx="4645152" cy="56692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Recognising the wrong thing is worse than silence. The drivers who did it properly notice, and it takes the coaching side down with it.</a:t>
            </a:r>
            <a:endParaRPr lang="en-US" sz="1100" dirty="0"/>
          </a:p>
        </p:txBody>
      </p:sp>
      <p:sp>
        <p:nvSpPr>
          <p:cNvPr id="19" name="Shape 17"/>
          <p:cNvSpPr/>
          <p:nvPr/>
        </p:nvSpPr>
        <p:spPr>
          <a:xfrm>
            <a:off x="6400800" y="4626864"/>
            <a:ext cx="5102352" cy="1060704"/>
          </a:xfrm>
          <a:prstGeom prst="rect">
            <a:avLst/>
          </a:prstGeom>
          <a:solidFill>
            <a:srgbClr val="F2F3F4"/>
          </a:solidFill>
          <a:ln w="9525">
            <a:solidFill>
              <a:srgbClr val="DDE0E3"/>
            </a:solidFill>
            <a:prstDash val="solid"/>
          </a:ln>
        </p:spPr>
      </p:sp>
      <p:sp>
        <p:nvSpPr>
          <p:cNvPr id="20" name="Text 18"/>
          <p:cNvSpPr txBox="1"/>
          <p:nvPr/>
        </p:nvSpPr>
        <p:spPr>
          <a:xfrm>
            <a:off x="6638544" y="4773168"/>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Reporting non-use</a:t>
            </a:r>
            <a:endParaRPr lang="en-US" sz="1250" dirty="0"/>
          </a:p>
        </p:txBody>
      </p:sp>
      <p:sp>
        <p:nvSpPr>
          <p:cNvPr id="21" name="Text 19"/>
          <p:cNvSpPr txBox="1"/>
          <p:nvPr/>
        </p:nvSpPr>
        <p:spPr>
          <a:xfrm>
            <a:off x="6638544" y="5047488"/>
            <a:ext cx="4645152" cy="56692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Closing the weekly set is right. Counting the closures and displaying the number is a receipt, not a solution.</a:t>
            </a:r>
            <a:endParaRPr lang="en-US" sz="1100" dirty="0"/>
          </a:p>
        </p:txBody>
      </p:sp>
      <p:sp>
        <p:nvSpPr>
          <p:cNvPr id="22" name="Text 20"/>
          <p:cNvSpPr txBox="1"/>
          <p:nvPr/>
        </p:nvSpPr>
        <p:spPr>
          <a:xfrm>
            <a:off x="6400800" y="5943600"/>
            <a:ext cx="5102352" cy="566928"/>
          </a:xfrm>
          <a:prstGeom prst="rect">
            <a:avLst/>
          </a:prstGeom>
          <a:noFill/>
          <a:ln/>
        </p:spPr>
        <p:txBody>
          <a:bodyPr wrap="square" lIns="0" tIns="0" rIns="0" bIns="0" rtlCol="0" anchor="t"/>
          <a:lstStyle/>
          <a:p>
            <a:pPr indent="0" marL="0">
              <a:lnSpc>
                <a:spcPts val="1500"/>
              </a:lnSpc>
              <a:buNone/>
            </a:pPr>
            <a:r>
              <a:rPr lang="en-US" sz="1150" i="1" dirty="0">
                <a:solidFill>
                  <a:srgbClr val="5E666F"/>
                </a:solidFill>
                <a:latin typeface="Calibri" pitchFamily="34" charset="0"/>
                <a:ea typeface="Calibri" pitchFamily="34" charset="-122"/>
                <a:cs typeface="Calibri" pitchFamily="34" charset="-120"/>
              </a:rPr>
              <a:t>A design that adds no new risks has not made any decisions. Two of these share one mitigation, which is why it needed an owner.</a:t>
            </a:r>
            <a:endParaRPr lang="en-US" sz="1150" dirty="0"/>
          </a:p>
        </p:txBody>
      </p:sp>
      <p:sp>
        <p:nvSpPr>
          <p:cNvPr id="23" name="Text 21"/>
          <p:cNvSpPr txBox="1"/>
          <p:nvPr/>
        </p:nvSpPr>
        <p:spPr>
          <a:xfrm>
            <a:off x="658368" y="6620256"/>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Nothing here measures the events that never happened. Of at-fault collisions, how many had a warning in front of them — that is the one check that can say the queue is pointed at the wrong population entirely.</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WEEK ONE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600"/>
              </a:lnSpc>
              <a:buNone/>
            </a:pPr>
            <a:r>
              <a:rPr lang="en-US" sz="3100" b="1" dirty="0">
                <a:solidFill>
                  <a:srgbClr val="2B3038"/>
                </a:solidFill>
                <a:latin typeface="Cambria" pitchFamily="34" charset="0"/>
                <a:ea typeface="Cambria" pitchFamily="34" charset="-122"/>
                <a:cs typeface="Cambria" pitchFamily="34" charset="-120"/>
              </a:rPr>
              <a:t>Six questions I would not commit engineering without</a:t>
            </a:r>
            <a:endParaRPr lang="en-US" sz="3100" dirty="0"/>
          </a:p>
        </p:txBody>
      </p:sp>
      <p:sp>
        <p:nvSpPr>
          <p:cNvPr id="4" name="Shape 2"/>
          <p:cNvSpPr/>
          <p:nvPr/>
        </p:nvSpPr>
        <p:spPr>
          <a:xfrm>
            <a:off x="658368" y="1719072"/>
            <a:ext cx="310896" cy="310896"/>
          </a:xfrm>
          <a:prstGeom prst="ellipse">
            <a:avLst/>
          </a:prstGeom>
          <a:solidFill>
            <a:srgbClr val="2B3038"/>
          </a:solidFill>
          <a:ln/>
        </p:spPr>
      </p:sp>
      <p:sp>
        <p:nvSpPr>
          <p:cNvPr id="5" name="Text 3"/>
          <p:cNvSpPr txBox="1"/>
          <p:nvPr/>
        </p:nvSpPr>
        <p:spPr>
          <a:xfrm>
            <a:off x="658368"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15568"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Does the portal already triage?</a:t>
            </a:r>
            <a:endParaRPr lang="en-US" sz="1300" dirty="0"/>
          </a:p>
        </p:txBody>
      </p:sp>
      <p:sp>
        <p:nvSpPr>
          <p:cNvPr id="7" name="Text 5"/>
          <p:cNvSpPr txBox="1"/>
          <p:nvPr/>
        </p:nvSpPr>
        <p:spPr>
          <a:xfrm>
            <a:off x="5084064"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COMMERCIAL</a:t>
            </a:r>
            <a:endParaRPr lang="en-US" sz="850" dirty="0"/>
          </a:p>
        </p:txBody>
      </p:sp>
      <p:sp>
        <p:nvSpPr>
          <p:cNvPr id="8" name="Text 6"/>
          <p:cNvSpPr txBox="1"/>
          <p:nvPr/>
        </p:nvSpPr>
        <p:spPr>
          <a:xfrm>
            <a:off x="1115568"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framing of this whole submission. Asked out loud, first, before defending anything.</a:t>
            </a:r>
            <a:endParaRPr lang="en-US" sz="1150" dirty="0"/>
          </a:p>
        </p:txBody>
      </p:sp>
      <p:sp>
        <p:nvSpPr>
          <p:cNvPr id="9" name="Shape 7"/>
          <p:cNvSpPr/>
          <p:nvPr/>
        </p:nvSpPr>
        <p:spPr>
          <a:xfrm>
            <a:off x="6199632" y="1719072"/>
            <a:ext cx="310896" cy="310896"/>
          </a:xfrm>
          <a:prstGeom prst="ellipse">
            <a:avLst/>
          </a:prstGeom>
          <a:solidFill>
            <a:srgbClr val="2B3038"/>
          </a:solidFill>
          <a:ln/>
        </p:spPr>
      </p:sp>
      <p:sp>
        <p:nvSpPr>
          <p:cNvPr id="10" name="Text 8"/>
          <p:cNvSpPr txBox="1"/>
          <p:nvPr/>
        </p:nvSpPr>
        <p:spPr>
          <a:xfrm>
            <a:off x="6199632"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656832"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event volume does firmware actually produce?</a:t>
            </a:r>
            <a:endParaRPr lang="en-US" sz="1300" dirty="0"/>
          </a:p>
        </p:txBody>
      </p:sp>
      <p:sp>
        <p:nvSpPr>
          <p:cNvPr id="12" name="Text 10"/>
          <p:cNvSpPr txBox="1"/>
          <p:nvPr/>
        </p:nvSpPr>
        <p:spPr>
          <a:xfrm>
            <a:off x="10625328"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3" name="Text 11"/>
          <p:cNvSpPr txBox="1"/>
          <p:nvPr/>
        </p:nvSpPr>
        <p:spPr>
          <a:xfrm>
            <a:off x="6656832"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this is a triage product at all. If it is low, we stop and I rewrite the brief.</a:t>
            </a:r>
            <a:endParaRPr lang="en-US" sz="1150" dirty="0"/>
          </a:p>
        </p:txBody>
      </p:sp>
      <p:sp>
        <p:nvSpPr>
          <p:cNvPr id="14" name="Shape 12"/>
          <p:cNvSpPr/>
          <p:nvPr/>
        </p:nvSpPr>
        <p:spPr>
          <a:xfrm>
            <a:off x="658368" y="3163824"/>
            <a:ext cx="310896" cy="310896"/>
          </a:xfrm>
          <a:prstGeom prst="ellipse">
            <a:avLst/>
          </a:prstGeom>
          <a:solidFill>
            <a:srgbClr val="2B3038"/>
          </a:solidFill>
          <a:ln/>
        </p:spPr>
      </p:sp>
      <p:sp>
        <p:nvSpPr>
          <p:cNvPr id="15" name="Text 13"/>
          <p:cNvSpPr txBox="1"/>
          <p:nvPr/>
        </p:nvSpPr>
        <p:spPr>
          <a:xfrm>
            <a:off x="658368"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15568"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Which device generations can run the inference?</a:t>
            </a:r>
            <a:endParaRPr lang="en-US" sz="1300" dirty="0"/>
          </a:p>
        </p:txBody>
      </p:sp>
      <p:sp>
        <p:nvSpPr>
          <p:cNvPr id="17" name="Text 15"/>
          <p:cNvSpPr txBox="1"/>
          <p:nvPr/>
        </p:nvSpPr>
        <p:spPr>
          <a:xfrm>
            <a:off x="5084064"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8" name="Text 16"/>
          <p:cNvSpPr txBox="1"/>
          <p:nvPr/>
        </p:nvSpPr>
        <p:spPr>
          <a:xfrm>
            <a:off x="1115568"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v1 is a software release or a hardware programme — and whether recognition ships in v1.</a:t>
            </a:r>
            <a:endParaRPr lang="en-US" sz="1150" dirty="0"/>
          </a:p>
        </p:txBody>
      </p:sp>
      <p:sp>
        <p:nvSpPr>
          <p:cNvPr id="19" name="Shape 17"/>
          <p:cNvSpPr/>
          <p:nvPr/>
        </p:nvSpPr>
        <p:spPr>
          <a:xfrm>
            <a:off x="6199632" y="3163824"/>
            <a:ext cx="310896" cy="310896"/>
          </a:xfrm>
          <a:prstGeom prst="ellipse">
            <a:avLst/>
          </a:prstGeom>
          <a:solidFill>
            <a:srgbClr val="2B3038"/>
          </a:solidFill>
          <a:ln/>
        </p:spPr>
      </p:sp>
      <p:sp>
        <p:nvSpPr>
          <p:cNvPr id="20" name="Text 18"/>
          <p:cNvSpPr txBox="1"/>
          <p:nvPr/>
        </p:nvSpPr>
        <p:spPr>
          <a:xfrm>
            <a:off x="6199632"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656832"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is driver identity established, and for what share?</a:t>
            </a:r>
            <a:endParaRPr lang="en-US" sz="1300" dirty="0"/>
          </a:p>
        </p:txBody>
      </p:sp>
      <p:sp>
        <p:nvSpPr>
          <p:cNvPr id="22" name="Text 20"/>
          <p:cNvSpPr txBox="1"/>
          <p:nvPr/>
        </p:nvSpPr>
        <p:spPr>
          <a:xfrm>
            <a:off x="10625328"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23" name="Text 21"/>
          <p:cNvSpPr txBox="1"/>
          <p:nvPr/>
        </p:nvSpPr>
        <p:spPr>
          <a:xfrm>
            <a:off x="6656832"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Assumed solved for this exercise. If it is not, v1 splits: review ships, coaching waits.</a:t>
            </a:r>
            <a:endParaRPr lang="en-US" sz="1150" dirty="0"/>
          </a:p>
        </p:txBody>
      </p:sp>
      <p:sp>
        <p:nvSpPr>
          <p:cNvPr id="24" name="Shape 22"/>
          <p:cNvSpPr/>
          <p:nvPr/>
        </p:nvSpPr>
        <p:spPr>
          <a:xfrm>
            <a:off x="658368" y="4608576"/>
            <a:ext cx="310896" cy="310896"/>
          </a:xfrm>
          <a:prstGeom prst="ellipse">
            <a:avLst/>
          </a:prstGeom>
          <a:solidFill>
            <a:srgbClr val="2B3038"/>
          </a:solidFill>
          <a:ln/>
        </p:spPr>
      </p:sp>
      <p:sp>
        <p:nvSpPr>
          <p:cNvPr id="25" name="Text 23"/>
          <p:cNvSpPr txBox="1"/>
          <p:nvPr/>
        </p:nvSpPr>
        <p:spPr>
          <a:xfrm>
            <a:off x="658368"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115568"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is the lawful basis per market?</a:t>
            </a:r>
            <a:endParaRPr lang="en-US" sz="1300" dirty="0"/>
          </a:p>
        </p:txBody>
      </p:sp>
      <p:sp>
        <p:nvSpPr>
          <p:cNvPr id="27" name="Text 25"/>
          <p:cNvSpPr txBox="1"/>
          <p:nvPr/>
        </p:nvSpPr>
        <p:spPr>
          <a:xfrm>
            <a:off x="5084064"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LEGAL</a:t>
            </a:r>
            <a:endParaRPr lang="en-US" sz="850" dirty="0"/>
          </a:p>
        </p:txBody>
      </p:sp>
      <p:sp>
        <p:nvSpPr>
          <p:cNvPr id="28" name="Text 26"/>
          <p:cNvSpPr txBox="1"/>
          <p:nvPr/>
        </p:nvSpPr>
        <p:spPr>
          <a:xfrm>
            <a:off x="1115568"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 markets can have footage-based coaching at all. One that cannot needs a different product.</a:t>
            </a:r>
            <a:endParaRPr lang="en-US" sz="1150" dirty="0"/>
          </a:p>
        </p:txBody>
      </p:sp>
      <p:sp>
        <p:nvSpPr>
          <p:cNvPr id="29" name="Shape 27"/>
          <p:cNvSpPr/>
          <p:nvPr/>
        </p:nvSpPr>
        <p:spPr>
          <a:xfrm>
            <a:off x="6199632" y="4608576"/>
            <a:ext cx="310896" cy="310896"/>
          </a:xfrm>
          <a:prstGeom prst="ellipse">
            <a:avLst/>
          </a:prstGeom>
          <a:solidFill>
            <a:srgbClr val="2B3038"/>
          </a:solidFill>
          <a:ln/>
        </p:spPr>
      </p:sp>
      <p:sp>
        <p:nvSpPr>
          <p:cNvPr id="30" name="Text 28"/>
          <p:cNvSpPr txBox="1"/>
          <p:nvPr/>
        </p:nvSpPr>
        <p:spPr>
          <a:xfrm>
            <a:off x="6199632"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656832"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does a manager's week actually look like?</a:t>
            </a:r>
            <a:endParaRPr lang="en-US" sz="1300" dirty="0"/>
          </a:p>
        </p:txBody>
      </p:sp>
      <p:sp>
        <p:nvSpPr>
          <p:cNvPr id="32" name="Text 30"/>
          <p:cNvSpPr txBox="1"/>
          <p:nvPr/>
        </p:nvSpPr>
        <p:spPr>
          <a:xfrm>
            <a:off x="10625328"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CUSTOMER</a:t>
            </a:r>
            <a:endParaRPr lang="en-US" sz="850" dirty="0"/>
          </a:p>
        </p:txBody>
      </p:sp>
      <p:sp>
        <p:nvSpPr>
          <p:cNvPr id="33" name="Text 31"/>
          <p:cNvSpPr txBox="1"/>
          <p:nvPr/>
        </p:nvSpPr>
        <p:spPr>
          <a:xfrm>
            <a:off x="6656832"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What we are entitled to claim we replace, and the rhythm the set is built around.</a:t>
            </a:r>
            <a:endParaRPr lang="en-US" sz="1150" dirty="0"/>
          </a:p>
        </p:txBody>
      </p:sp>
      <p:sp>
        <p:nvSpPr>
          <p:cNvPr id="34" name="Text 32"/>
          <p:cNvSpPr txBox="1"/>
          <p:nvPr/>
        </p:nvSpPr>
        <p:spPr>
          <a:xfrm>
            <a:off x="658368" y="6089904"/>
            <a:ext cx="10844784" cy="365760"/>
          </a:xfrm>
          <a:prstGeom prst="rect">
            <a:avLst/>
          </a:prstGeom>
          <a:noFill/>
          <a:ln/>
        </p:spPr>
        <p:txBody>
          <a:bodyPr wrap="square" lIns="0" tIns="0" rIns="0" bIns="0" rtlCol="0" anchor="t"/>
          <a:lstStyle/>
          <a:p>
            <a:pPr indent="0" marL="0">
              <a:buNone/>
            </a:pPr>
            <a:r>
              <a:rPr lang="en-US" sz="1100" i="1" dirty="0">
                <a:solidFill>
                  <a:srgbClr val="98A0A8"/>
                </a:solidFill>
                <a:latin typeface="Calibri" pitchFamily="34" charset="0"/>
                <a:ea typeface="Calibri" pitchFamily="34" charset="-122"/>
                <a:cs typeface="Calibri" pitchFamily="34" charset="-120"/>
              </a:rPr>
              <a:t>A blocking question whose answer only moves a date was not blocking. These four change the plan; the other two change what we are allowed to claim.</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603504"/>
            <a:ext cx="10844784" cy="45720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Where each part of the brief is answered</a:t>
            </a:r>
            <a:endParaRPr lang="en-US" sz="2800" dirty="0"/>
          </a:p>
        </p:txBody>
      </p:sp>
      <p:sp>
        <p:nvSpPr>
          <p:cNvPr id="3" name="Text 1"/>
          <p:cNvSpPr txBox="1"/>
          <p:nvPr/>
        </p:nvSpPr>
        <p:spPr>
          <a:xfrm>
            <a:off x="658368" y="1426464"/>
            <a:ext cx="475488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  Product brief / business case</a:t>
            </a:r>
            <a:endParaRPr lang="en-US" sz="1350" dirty="0"/>
          </a:p>
        </p:txBody>
      </p:sp>
      <p:sp>
        <p:nvSpPr>
          <p:cNvPr id="4" name="Text 2"/>
          <p:cNvSpPr txBox="1"/>
          <p:nvPr/>
        </p:nvSpPr>
        <p:spPr>
          <a:xfrm>
            <a:off x="5596128" y="1444752"/>
            <a:ext cx="594360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2, 8  ·  brain/business-case.md, jtbd.md</a:t>
            </a:r>
            <a:endParaRPr lang="en-US" sz="1200" dirty="0"/>
          </a:p>
        </p:txBody>
      </p:sp>
      <p:sp>
        <p:nvSpPr>
          <p:cNvPr id="5" name="Text 3"/>
          <p:cNvSpPr txBox="1"/>
          <p:nvPr/>
        </p:nvSpPr>
        <p:spPr>
          <a:xfrm>
            <a:off x="658368" y="2029968"/>
            <a:ext cx="475488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2  Solution outline across the stack</a:t>
            </a:r>
            <a:endParaRPr lang="en-US" sz="1350" dirty="0"/>
          </a:p>
        </p:txBody>
      </p:sp>
      <p:sp>
        <p:nvSpPr>
          <p:cNvPr id="6" name="Text 4"/>
          <p:cNvSpPr txBox="1"/>
          <p:nvPr/>
        </p:nvSpPr>
        <p:spPr>
          <a:xfrm>
            <a:off x="5596128" y="2048256"/>
            <a:ext cx="594360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 10  ·  brain/stack-outline.md</a:t>
            </a:r>
            <a:endParaRPr lang="en-US" sz="1200" dirty="0"/>
          </a:p>
        </p:txBody>
      </p:sp>
      <p:sp>
        <p:nvSpPr>
          <p:cNvPr id="7" name="Text 5"/>
          <p:cNvSpPr txBox="1"/>
          <p:nvPr/>
        </p:nvSpPr>
        <p:spPr>
          <a:xfrm>
            <a:off x="658368" y="2633472"/>
            <a:ext cx="4754880" cy="274320"/>
          </a:xfrm>
          <a:prstGeom prst="rect">
            <a:avLst/>
          </a:prstGeom>
          <a:noFill/>
          <a:ln/>
        </p:spPr>
        <p:txBody>
          <a:bodyPr wrap="square" lIns="0" tIns="0" rIns="0" bIns="0" rtlCol="0" anchor="t"/>
          <a:lstStyle/>
          <a:p>
            <a:pPr indent="0" marL="0">
              <a:buNone/>
            </a:pPr>
            <a:r>
              <a:rPr lang="en-US" sz="1350" b="1" dirty="0">
                <a:solidFill>
                  <a:srgbClr val="C8621E"/>
                </a:solidFill>
                <a:latin typeface="Calibri" pitchFamily="34" charset="0"/>
                <a:ea typeface="Calibri" pitchFamily="34" charset="-122"/>
                <a:cs typeface="Calibri" pitchFamily="34" charset="-120"/>
              </a:rPr>
              <a:t>3  Detailed portal requirements</a:t>
            </a:r>
            <a:endParaRPr lang="en-US" sz="1350" dirty="0"/>
          </a:p>
        </p:txBody>
      </p:sp>
      <p:sp>
        <p:nvSpPr>
          <p:cNvPr id="8" name="Text 6"/>
          <p:cNvSpPr txBox="1"/>
          <p:nvPr/>
        </p:nvSpPr>
        <p:spPr>
          <a:xfrm>
            <a:off x="5596128" y="2651760"/>
            <a:ext cx="594360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11–16  ·  15 stories, 4 epics, working prototype</a:t>
            </a:r>
            <a:endParaRPr lang="en-US" sz="1200" dirty="0"/>
          </a:p>
        </p:txBody>
      </p:sp>
      <p:sp>
        <p:nvSpPr>
          <p:cNvPr id="9" name="Text 7"/>
          <p:cNvSpPr txBox="1"/>
          <p:nvPr/>
        </p:nvSpPr>
        <p:spPr>
          <a:xfrm>
            <a:off x="658368" y="3236976"/>
            <a:ext cx="475488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4  Prioritisation and phasing</a:t>
            </a:r>
            <a:endParaRPr lang="en-US" sz="1350" dirty="0"/>
          </a:p>
        </p:txBody>
      </p:sp>
      <p:sp>
        <p:nvSpPr>
          <p:cNvPr id="10" name="Text 8"/>
          <p:cNvSpPr txBox="1"/>
          <p:nvPr/>
        </p:nvSpPr>
        <p:spPr>
          <a:xfrm>
            <a:off x="5596128" y="3255264"/>
            <a:ext cx="594360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11, 17  ·  brain/phasing.md, storymap</a:t>
            </a:r>
            <a:endParaRPr lang="en-US" sz="1200" dirty="0"/>
          </a:p>
        </p:txBody>
      </p:sp>
      <p:sp>
        <p:nvSpPr>
          <p:cNvPr id="11" name="Text 9"/>
          <p:cNvSpPr txBox="1"/>
          <p:nvPr/>
        </p:nvSpPr>
        <p:spPr>
          <a:xfrm>
            <a:off x="658368" y="3840480"/>
            <a:ext cx="475488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5  Risks, assumptions, open questions</a:t>
            </a:r>
            <a:endParaRPr lang="en-US" sz="1350" dirty="0"/>
          </a:p>
        </p:txBody>
      </p:sp>
      <p:sp>
        <p:nvSpPr>
          <p:cNvPr id="12" name="Text 10"/>
          <p:cNvSpPr txBox="1"/>
          <p:nvPr/>
        </p:nvSpPr>
        <p:spPr>
          <a:xfrm>
            <a:off x="5596128" y="3858768"/>
            <a:ext cx="594360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19, 20  ·  25 assumptions, 13 risks, 10 questions</a:t>
            </a:r>
            <a:endParaRPr lang="en-US" sz="1200" dirty="0"/>
          </a:p>
        </p:txBody>
      </p:sp>
      <p:sp>
        <p:nvSpPr>
          <p:cNvPr id="13" name="Text 11"/>
          <p:cNvSpPr txBox="1"/>
          <p:nvPr/>
        </p:nvSpPr>
        <p:spPr>
          <a:xfrm>
            <a:off x="658368" y="4718304"/>
            <a:ext cx="475488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Working with AI</a:t>
            </a:r>
            <a:endParaRPr lang="en-US" sz="1350" dirty="0"/>
          </a:p>
        </p:txBody>
      </p:sp>
      <p:sp>
        <p:nvSpPr>
          <p:cNvPr id="14" name="Text 12"/>
          <p:cNvSpPr txBox="1"/>
          <p:nvPr/>
        </p:nvSpPr>
        <p:spPr>
          <a:xfrm>
            <a:off x="5596128" y="4736592"/>
            <a:ext cx="594360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4–7  ·  brain/judgement-log.md, reviews/</a:t>
            </a:r>
            <a:endParaRPr lang="en-US" sz="1200" dirty="0"/>
          </a:p>
        </p:txBody>
      </p:sp>
      <p:sp>
        <p:nvSpPr>
          <p:cNvPr id="15" name="Shape 13"/>
          <p:cNvSpPr/>
          <p:nvPr/>
        </p:nvSpPr>
        <p:spPr>
          <a:xfrm>
            <a:off x="658368" y="5138928"/>
            <a:ext cx="822960" cy="32004"/>
          </a:xfrm>
          <a:prstGeom prst="rect">
            <a:avLst/>
          </a:prstGeom>
          <a:solidFill>
            <a:srgbClr val="C8621E"/>
          </a:solidFill>
          <a:ln w="12700">
            <a:solidFill>
              <a:srgbClr val="333333"/>
            </a:solidFill>
            <a:prstDash val="solid"/>
          </a:ln>
        </p:spPr>
      </p:sp>
      <p:sp>
        <p:nvSpPr>
          <p:cNvPr id="16" name="Text 14"/>
          <p:cNvSpPr txBox="1"/>
          <p:nvPr/>
        </p:nvSpPr>
        <p:spPr>
          <a:xfrm>
            <a:off x="658368" y="5413248"/>
            <a:ext cx="7680960" cy="566928"/>
          </a:xfrm>
          <a:prstGeom prst="rect">
            <a:avLst/>
          </a:prstGeom>
          <a:noFill/>
          <a:ln/>
        </p:spPr>
        <p:txBody>
          <a:bodyPr wrap="square" lIns="0" tIns="0" rIns="0" bIns="0" rtlCol="0" anchor="t"/>
          <a:lstStyle/>
          <a:p>
            <a:pPr indent="0" marL="0">
              <a:lnSpc>
                <a:spcPts val="1900"/>
              </a:lnSpc>
              <a:buNone/>
            </a:pPr>
            <a:r>
              <a:rPr lang="en-US" sz="1350" i="1" dirty="0">
                <a:solidFill>
                  <a:srgbClr val="FFFFFF"/>
                </a:solidFill>
                <a:latin typeface="Calibri" pitchFamily="34" charset="0"/>
                <a:ea typeface="Calibri" pitchFamily="34" charset="-122"/>
                <a:cs typeface="Calibri" pitchFamily="34" charset="-120"/>
              </a:rPr>
              <a:t>If the volume assumption is wrong, so is the submission. Thirty days of telemetry settles it, and I would want that before committing engineering.</a:t>
            </a:r>
            <a:endParaRPr lang="en-US" sz="1350" dirty="0"/>
          </a:p>
        </p:txBody>
      </p:sp>
      <p:sp>
        <p:nvSpPr>
          <p:cNvPr id="17" name="Text 15"/>
          <p:cNvSpPr txBox="1"/>
          <p:nvPr/>
        </p:nvSpPr>
        <p:spPr>
          <a:xfrm>
            <a:off x="8138160" y="5358384"/>
            <a:ext cx="3401568" cy="822960"/>
          </a:xfrm>
          <a:prstGeom prst="rect">
            <a:avLst/>
          </a:prstGeom>
          <a:noFill/>
          <a:ln/>
        </p:spPr>
        <p:txBody>
          <a:bodyPr wrap="square" lIns="0" tIns="0" rIns="0" bIns="0" rtlCol="0" anchor="t"/>
          <a:lstStyle/>
          <a:p>
            <a:pPr algn="r" indent="0" marL="0">
              <a:lnSpc>
                <a:spcPts val="1400"/>
              </a:lnSpc>
              <a:buNone/>
            </a:pPr>
            <a:r>
              <a:rPr lang="en-US" sz="1050" dirty="0">
                <a:solidFill>
                  <a:srgbClr val="AAB2BA"/>
                </a:solidFill>
                <a:latin typeface="Calibri" pitchFamily="34" charset="0"/>
                <a:ea typeface="Calibri" pitchFamily="34" charset="-122"/>
                <a:cs typeface="Calibri" pitchFamily="34" charset="-120"/>
              </a:rPr>
              <a:t>Danny Daley  ·  September 2026</a:t>
            </a:r>
            <a:endParaRPr lang="en-US" sz="1050" dirty="0"/>
          </a:p>
          <a:p>
            <a:pPr algn="r" indent="0" marL="0">
              <a:lnSpc>
                <a:spcPts val="1400"/>
              </a:lnSpc>
              <a:buNone/>
            </a:pPr>
            <a:r>
              <a:rPr lang="en-US" sz="1050" dirty="0">
                <a:solidFill>
                  <a:srgbClr val="AAB2BA"/>
                </a:solidFill>
                <a:latin typeface="Calibri" pitchFamily="34" charset="0"/>
                <a:ea typeface="Calibri" pitchFamily="34" charset="-122"/>
                <a:cs typeface="Calibri" pitchFamily="34" charset="-120"/>
              </a:rPr>
              <a:t>github.com/dannydaley76/</a:t>
            </a:r>
            <a:endParaRPr lang="en-US" sz="1050" dirty="0"/>
          </a:p>
          <a:p>
            <a:pPr algn="r" indent="0" marL="0">
              <a:lnSpc>
                <a:spcPts val="1400"/>
              </a:lnSpc>
              <a:buNone/>
            </a:pPr>
            <a:r>
              <a:rPr lang="en-US" sz="1050" dirty="0">
                <a:solidFill>
                  <a:srgbClr val="AAB2BA"/>
                </a:solidFill>
                <a:latin typeface="Calibri" pitchFamily="34" charset="0"/>
                <a:ea typeface="Calibri" pitchFamily="34" charset="-122"/>
                <a:cs typeface="Calibri" pitchFamily="34" charset="-120"/>
              </a:rPr>
              <a:t>cameramatics-product-brain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CameraMatics — event triage and coaching loop</dc:title>
  <dc:subject>PptxGenJS Presentation</dc:subject>
  <dc:creator>Danny Daley</dc:creator>
  <cp:lastModifiedBy>Danny Daley</cp:lastModifiedBy>
  <cp:revision>1</cp:revision>
  <dcterms:created xsi:type="dcterms:W3CDTF">2026-09-15T11:12:21Z</dcterms:created>
  <dcterms:modified xsi:type="dcterms:W3CDTF">2026-09-15T11:12:21Z</dcterms:modified>
</cp:coreProperties>
</file>